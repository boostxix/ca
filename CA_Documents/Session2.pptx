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91" r:id="rId3"/>
    <p:sldId id="301" r:id="rId4"/>
    <p:sldId id="258" r:id="rId5"/>
    <p:sldId id="302" r:id="rId6"/>
    <p:sldId id="261" r:id="rId7"/>
    <p:sldId id="263" r:id="rId8"/>
    <p:sldId id="262" r:id="rId9"/>
    <p:sldId id="303" r:id="rId10"/>
    <p:sldId id="264" r:id="rId11"/>
    <p:sldId id="265" r:id="rId12"/>
    <p:sldId id="266" r:id="rId13"/>
    <p:sldId id="277" r:id="rId14"/>
    <p:sldId id="275" r:id="rId15"/>
    <p:sldId id="276" r:id="rId16"/>
    <p:sldId id="304" r:id="rId17"/>
    <p:sldId id="282" r:id="rId18"/>
    <p:sldId id="284" r:id="rId19"/>
    <p:sldId id="283" r:id="rId20"/>
    <p:sldId id="280" r:id="rId21"/>
    <p:sldId id="279" r:id="rId22"/>
    <p:sldId id="278" r:id="rId23"/>
    <p:sldId id="298" r:id="rId24"/>
    <p:sldId id="305" r:id="rId25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140">
          <p15:clr>
            <a:srgbClr val="A4A3A4"/>
          </p15:clr>
        </p15:guide>
        <p15:guide id="2" orient="horz" pos="2928">
          <p15:clr>
            <a:srgbClr val="A4A3A4"/>
          </p15:clr>
        </p15:guide>
        <p15:guide id="3" pos="2880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8" roundtripDataSignature="AMtx7mjc0IiUAerUTcf8M4ITKc4OOLvFC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3C6E7"/>
    <a:srgbClr val="C3DEB0"/>
    <a:srgbClr val="F9D6BF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E3F49A9-DA9D-46B6-B5B8-35485D48FCE5}" v="1" dt="2026-03-02T12:28:26.031"/>
  </p1510:revLst>
</p1510:revInfo>
</file>

<file path=ppt/tableStyles.xml><?xml version="1.0" encoding="utf-8"?>
<a:tblStyleLst xmlns:a="http://schemas.openxmlformats.org/drawingml/2006/main" def="{040938F7-9763-481F-BBCA-995C50FC980A}">
  <a:tblStyle styleId="{040938F7-9763-481F-BBCA-995C50FC980A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>
        <p:guide orient="horz" pos="3140"/>
        <p:guide orient="horz" pos="2928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8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4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43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Xiaoling Yi" userId="23f28664-6c59-406e-87ca-bf1cc6d4f6c4" providerId="ADAL" clId="{A88309FF-F38B-4138-8EB8-37BF23FB4DA7}"/>
    <pc:docChg chg="custSel modSld">
      <pc:chgData name="Xiaoling Yi" userId="23f28664-6c59-406e-87ca-bf1cc6d4f6c4" providerId="ADAL" clId="{A88309FF-F38B-4138-8EB8-37BF23FB4DA7}" dt="2026-03-03T20:45:47.801" v="41" actId="20577"/>
      <pc:docMkLst>
        <pc:docMk/>
      </pc:docMkLst>
      <pc:sldChg chg="modSp mod">
        <pc:chgData name="Xiaoling Yi" userId="23f28664-6c59-406e-87ca-bf1cc6d4f6c4" providerId="ADAL" clId="{A88309FF-F38B-4138-8EB8-37BF23FB4DA7}" dt="2026-03-02T12:28:46.146" v="7" actId="122"/>
        <pc:sldMkLst>
          <pc:docMk/>
          <pc:sldMk cId="0" sldId="256"/>
        </pc:sldMkLst>
        <pc:spChg chg="mod">
          <ac:chgData name="Xiaoling Yi" userId="23f28664-6c59-406e-87ca-bf1cc6d4f6c4" providerId="ADAL" clId="{A88309FF-F38B-4138-8EB8-37BF23FB4DA7}" dt="2026-03-02T12:28:46.146" v="7" actId="122"/>
          <ac:spMkLst>
            <pc:docMk/>
            <pc:sldMk cId="0" sldId="256"/>
            <ac:spMk id="301" creationId="{00000000-0000-0000-0000-000000000000}"/>
          </ac:spMkLst>
        </pc:spChg>
      </pc:sldChg>
      <pc:sldChg chg="delSp modSp mod delAnim">
        <pc:chgData name="Xiaoling Yi" userId="23f28664-6c59-406e-87ca-bf1cc6d4f6c4" providerId="ADAL" clId="{A88309FF-F38B-4138-8EB8-37BF23FB4DA7}" dt="2026-03-03T20:43:54.787" v="25" actId="478"/>
        <pc:sldMkLst>
          <pc:docMk/>
          <pc:sldMk cId="3669326066" sldId="291"/>
        </pc:sldMkLst>
        <pc:spChg chg="mod">
          <ac:chgData name="Xiaoling Yi" userId="23f28664-6c59-406e-87ca-bf1cc6d4f6c4" providerId="ADAL" clId="{A88309FF-F38B-4138-8EB8-37BF23FB4DA7}" dt="2026-03-03T20:43:20.327" v="11" actId="20577"/>
          <ac:spMkLst>
            <pc:docMk/>
            <pc:sldMk cId="3669326066" sldId="291"/>
            <ac:spMk id="8" creationId="{190E5BBC-7FDA-EDBB-EC81-878321107AE1}"/>
          </ac:spMkLst>
        </pc:spChg>
        <pc:spChg chg="mod">
          <ac:chgData name="Xiaoling Yi" userId="23f28664-6c59-406e-87ca-bf1cc6d4f6c4" providerId="ADAL" clId="{A88309FF-F38B-4138-8EB8-37BF23FB4DA7}" dt="2026-03-03T20:43:26.252" v="15" actId="20577"/>
          <ac:spMkLst>
            <pc:docMk/>
            <pc:sldMk cId="3669326066" sldId="291"/>
            <ac:spMk id="9" creationId="{C33334D6-F17D-6A18-7D90-0B129E891E8D}"/>
          </ac:spMkLst>
        </pc:spChg>
        <pc:spChg chg="mod">
          <ac:chgData name="Xiaoling Yi" userId="23f28664-6c59-406e-87ca-bf1cc6d4f6c4" providerId="ADAL" clId="{A88309FF-F38B-4138-8EB8-37BF23FB4DA7}" dt="2026-03-03T20:43:52.471" v="24" actId="14100"/>
          <ac:spMkLst>
            <pc:docMk/>
            <pc:sldMk cId="3669326066" sldId="291"/>
            <ac:spMk id="12" creationId="{D1D47FF4-7A00-9CBA-454B-B752EAA9C1E2}"/>
          </ac:spMkLst>
        </pc:spChg>
        <pc:spChg chg="del">
          <ac:chgData name="Xiaoling Yi" userId="23f28664-6c59-406e-87ca-bf1cc6d4f6c4" providerId="ADAL" clId="{A88309FF-F38B-4138-8EB8-37BF23FB4DA7}" dt="2026-03-03T20:43:54.787" v="25" actId="478"/>
          <ac:spMkLst>
            <pc:docMk/>
            <pc:sldMk cId="3669326066" sldId="291"/>
            <ac:spMk id="14" creationId="{8335B34A-C3EE-7BCF-7848-684DA17CA4DC}"/>
          </ac:spMkLst>
        </pc:spChg>
        <pc:spChg chg="mod">
          <ac:chgData name="Xiaoling Yi" userId="23f28664-6c59-406e-87ca-bf1cc6d4f6c4" providerId="ADAL" clId="{A88309FF-F38B-4138-8EB8-37BF23FB4DA7}" dt="2026-03-03T20:43:34.875" v="23" actId="20577"/>
          <ac:spMkLst>
            <pc:docMk/>
            <pc:sldMk cId="3669326066" sldId="291"/>
            <ac:spMk id="16" creationId="{84F19B6C-F6FC-53FE-34ED-881D563EF864}"/>
          </ac:spMkLst>
        </pc:spChg>
        <pc:spChg chg="mod">
          <ac:chgData name="Xiaoling Yi" userId="23f28664-6c59-406e-87ca-bf1cc6d4f6c4" providerId="ADAL" clId="{A88309FF-F38B-4138-8EB8-37BF23FB4DA7}" dt="2026-03-03T20:43:30.589" v="17" actId="20577"/>
          <ac:spMkLst>
            <pc:docMk/>
            <pc:sldMk cId="3669326066" sldId="291"/>
            <ac:spMk id="18" creationId="{DF4837BE-5F6D-8352-6A12-EF5D6108416C}"/>
          </ac:spMkLst>
        </pc:spChg>
      </pc:sldChg>
      <pc:sldChg chg="modSp mod">
        <pc:chgData name="Xiaoling Yi" userId="23f28664-6c59-406e-87ca-bf1cc6d4f6c4" providerId="ADAL" clId="{A88309FF-F38B-4138-8EB8-37BF23FB4DA7}" dt="2026-03-03T20:44:37.824" v="29" actId="20577"/>
        <pc:sldMkLst>
          <pc:docMk/>
          <pc:sldMk cId="3391918667" sldId="301"/>
        </pc:sldMkLst>
        <pc:spChg chg="mod">
          <ac:chgData name="Xiaoling Yi" userId="23f28664-6c59-406e-87ca-bf1cc6d4f6c4" providerId="ADAL" clId="{A88309FF-F38B-4138-8EB8-37BF23FB4DA7}" dt="2026-03-03T20:44:37.824" v="29" actId="20577"/>
          <ac:spMkLst>
            <pc:docMk/>
            <pc:sldMk cId="3391918667" sldId="301"/>
            <ac:spMk id="17" creationId="{41DDDCCA-1E3F-6D67-29DD-3BB7A9DBC9E4}"/>
          </ac:spMkLst>
        </pc:spChg>
      </pc:sldChg>
      <pc:sldChg chg="modSp mod">
        <pc:chgData name="Xiaoling Yi" userId="23f28664-6c59-406e-87ca-bf1cc6d4f6c4" providerId="ADAL" clId="{A88309FF-F38B-4138-8EB8-37BF23FB4DA7}" dt="2026-03-03T20:44:58.433" v="33" actId="20577"/>
        <pc:sldMkLst>
          <pc:docMk/>
          <pc:sldMk cId="679846694" sldId="302"/>
        </pc:sldMkLst>
        <pc:spChg chg="mod">
          <ac:chgData name="Xiaoling Yi" userId="23f28664-6c59-406e-87ca-bf1cc6d4f6c4" providerId="ADAL" clId="{A88309FF-F38B-4138-8EB8-37BF23FB4DA7}" dt="2026-03-03T20:44:58.433" v="33" actId="20577"/>
          <ac:spMkLst>
            <pc:docMk/>
            <pc:sldMk cId="679846694" sldId="302"/>
            <ac:spMk id="22" creationId="{2FF847B5-95B7-A955-4E87-D016069F8027}"/>
          </ac:spMkLst>
        </pc:spChg>
      </pc:sldChg>
      <pc:sldChg chg="modSp mod">
        <pc:chgData name="Xiaoling Yi" userId="23f28664-6c59-406e-87ca-bf1cc6d4f6c4" providerId="ADAL" clId="{A88309FF-F38B-4138-8EB8-37BF23FB4DA7}" dt="2026-03-03T20:45:14.099" v="37" actId="20577"/>
        <pc:sldMkLst>
          <pc:docMk/>
          <pc:sldMk cId="1180684184" sldId="303"/>
        </pc:sldMkLst>
        <pc:spChg chg="mod">
          <ac:chgData name="Xiaoling Yi" userId="23f28664-6c59-406e-87ca-bf1cc6d4f6c4" providerId="ADAL" clId="{A88309FF-F38B-4138-8EB8-37BF23FB4DA7}" dt="2026-03-03T20:45:14.099" v="37" actId="20577"/>
          <ac:spMkLst>
            <pc:docMk/>
            <pc:sldMk cId="1180684184" sldId="303"/>
            <ac:spMk id="22" creationId="{2FF847B5-95B7-A955-4E87-D016069F8027}"/>
          </ac:spMkLst>
        </pc:spChg>
      </pc:sldChg>
      <pc:sldChg chg="modSp mod">
        <pc:chgData name="Xiaoling Yi" userId="23f28664-6c59-406e-87ca-bf1cc6d4f6c4" providerId="ADAL" clId="{A88309FF-F38B-4138-8EB8-37BF23FB4DA7}" dt="2026-03-03T20:45:47.801" v="41" actId="20577"/>
        <pc:sldMkLst>
          <pc:docMk/>
          <pc:sldMk cId="1241367408" sldId="304"/>
        </pc:sldMkLst>
        <pc:spChg chg="mod">
          <ac:chgData name="Xiaoling Yi" userId="23f28664-6c59-406e-87ca-bf1cc6d4f6c4" providerId="ADAL" clId="{A88309FF-F38B-4138-8EB8-37BF23FB4DA7}" dt="2026-03-03T20:45:47.801" v="41" actId="20577"/>
          <ac:spMkLst>
            <pc:docMk/>
            <pc:sldMk cId="1241367408" sldId="304"/>
            <ac:spMk id="22" creationId="{2FF847B5-95B7-A955-4E87-D016069F802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320194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751750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1" name="Google Shape;36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977618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4" name="Google Shape;48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0" name="Google Shape;51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1" name="Google Shape;50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712285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3" name="Google Shape;523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4" name="Google Shape;524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7" name="Google Shape;53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3" name="Google Shape;55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3" name="Google Shape;55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8963547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3" name="Google Shape;55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140102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3" name="Google Shape;55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2965214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9577471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4" name="Google Shape;64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3" name="Google Shape;62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2" name="Google Shape;63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rs1_ID_EX == rd_EX_MEM ?</a:t>
            </a:r>
            <a:endParaRPr/>
          </a:p>
        </p:txBody>
      </p:sp>
      <p:sp>
        <p:nvSpPr>
          <p:cNvPr id="671" name="Google Shape;671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3" name="Google Shape;68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3" name="Google Shape;693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4" name="Google Shape;694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062064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1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8" name="Google Shape;18;p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2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2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3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23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2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4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4"/>
          <p:cNvSpPr txBox="1"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7" name="Google Shape;37;p2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5"/>
          <p:cNvSpPr txBox="1"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3" name="Google Shape;43;p25"/>
          <p:cNvSpPr txBox="1">
            <a:spLocks noGrp="1"/>
          </p:cNvSpPr>
          <p:nvPr>
            <p:ph type="body" idx="2"/>
          </p:nvPr>
        </p:nvSpPr>
        <p:spPr>
          <a:xfrm>
            <a:off x="629842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25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25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2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6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8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8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1" name="Google Shape;61;p28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2" name="Google Shape;62;p2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9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9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9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9" name="Google Shape;69;p2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3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3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1"/>
          <p:cNvSpPr txBox="1">
            <a:spLocks noGrp="1"/>
          </p:cNvSpPr>
          <p:nvPr>
            <p:ph type="title"/>
          </p:nvPr>
        </p:nvSpPr>
        <p:spPr>
          <a:xfrm rot="5400000">
            <a:off x="5350073" y="1467446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31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79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3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3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3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Computer Architectures Session 2</a:t>
            </a:r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0" name="Google Shape;300;p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RISC-V Processor Pipelining</a:t>
            </a:r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1" name="Google Shape;301;p1"/>
          <p:cNvSpPr txBox="1"/>
          <p:nvPr/>
        </p:nvSpPr>
        <p:spPr>
          <a:xfrm>
            <a:off x="2664476" y="4012406"/>
            <a:ext cx="3597043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TAs :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algn="ctr"/>
            <a:r>
              <a:rPr lang="en-GB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Xiaoling Yi (xiaoling.yi@kuleuven.be)</a:t>
            </a:r>
            <a:endParaRPr lang="en-GB" sz="1200" dirty="0"/>
          </a:p>
          <a:p>
            <a:pPr marL="457200" lvl="1" algn="ctr"/>
            <a:r>
              <a:rPr lang="en-GB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Chao Fang (chao.fang@kuleuve.be)</a:t>
            </a:r>
          </a:p>
          <a:p>
            <a:pPr marL="457200" lvl="1" algn="ctr"/>
            <a:r>
              <a:rPr 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Adrian Kneip (</a:t>
            </a:r>
            <a:r>
              <a:rPr lang="en-US" sz="12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adrian.kneip</a:t>
            </a:r>
            <a:r>
              <a:rPr lang="en-GB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@kuleuve.be</a:t>
            </a:r>
            <a:r>
              <a:rPr 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D1D47FF4-7A00-9CBA-454B-B752EAA9C1E2}"/>
              </a:ext>
            </a:extLst>
          </p:cNvPr>
          <p:cNvSpPr/>
          <p:nvPr/>
        </p:nvSpPr>
        <p:spPr>
          <a:xfrm>
            <a:off x="5936620" y="288036"/>
            <a:ext cx="2753538" cy="615862"/>
          </a:xfrm>
          <a:prstGeom prst="rect">
            <a:avLst/>
          </a:prstGeom>
          <a:solidFill>
            <a:schemeClr val="accent6">
              <a:lumMod val="20000"/>
              <a:lumOff val="80000"/>
              <a:alpha val="29000"/>
            </a:schemeClr>
          </a:solidFill>
          <a:ln w="1905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cxnSp>
        <p:nvCxnSpPr>
          <p:cNvPr id="6" name="Google Shape;155;p4">
            <a:extLst>
              <a:ext uri="{FF2B5EF4-FFF2-40B4-BE49-F238E27FC236}">
                <a16:creationId xmlns:a16="http://schemas.microsoft.com/office/drawing/2014/main" id="{5DBCD802-3183-4242-743A-8316A2EBEA9E}"/>
              </a:ext>
            </a:extLst>
          </p:cNvPr>
          <p:cNvCxnSpPr>
            <a:cxnSpLocks/>
          </p:cNvCxnSpPr>
          <p:nvPr/>
        </p:nvCxnSpPr>
        <p:spPr>
          <a:xfrm>
            <a:off x="2596556" y="3333226"/>
            <a:ext cx="0" cy="659825"/>
          </a:xfrm>
          <a:prstGeom prst="straightConnector1">
            <a:avLst/>
          </a:prstGeom>
          <a:noFill/>
          <a:ln w="571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7" name="Google Shape;168;p4">
            <a:extLst>
              <a:ext uri="{FF2B5EF4-FFF2-40B4-BE49-F238E27FC236}">
                <a16:creationId xmlns:a16="http://schemas.microsoft.com/office/drawing/2014/main" id="{AA82FADC-32C6-0FBF-6424-818D44755AF6}"/>
              </a:ext>
            </a:extLst>
          </p:cNvPr>
          <p:cNvCxnSpPr>
            <a:cxnSpLocks/>
          </p:cNvCxnSpPr>
          <p:nvPr/>
        </p:nvCxnSpPr>
        <p:spPr>
          <a:xfrm>
            <a:off x="2415488" y="3660371"/>
            <a:ext cx="0" cy="324000"/>
          </a:xfrm>
          <a:prstGeom prst="straightConnector1">
            <a:avLst/>
          </a:prstGeom>
          <a:noFill/>
          <a:ln w="57150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17" name="Google Shape;117;p4"/>
          <p:cNvCxnSpPr>
            <a:cxnSpLocks/>
          </p:cNvCxnSpPr>
          <p:nvPr/>
        </p:nvCxnSpPr>
        <p:spPr>
          <a:xfrm>
            <a:off x="3899817" y="3344462"/>
            <a:ext cx="0" cy="637158"/>
          </a:xfrm>
          <a:prstGeom prst="straightConnector1">
            <a:avLst/>
          </a:prstGeom>
          <a:noFill/>
          <a:ln w="571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18" name="Google Shape;118;p4"/>
          <p:cNvCxnSpPr>
            <a:cxnSpLocks/>
          </p:cNvCxnSpPr>
          <p:nvPr/>
        </p:nvCxnSpPr>
        <p:spPr>
          <a:xfrm>
            <a:off x="5366000" y="3343255"/>
            <a:ext cx="0" cy="649796"/>
          </a:xfrm>
          <a:prstGeom prst="straightConnector1">
            <a:avLst/>
          </a:prstGeom>
          <a:noFill/>
          <a:ln w="571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19" name="Google Shape;119;p4"/>
          <p:cNvCxnSpPr>
            <a:cxnSpLocks/>
          </p:cNvCxnSpPr>
          <p:nvPr/>
        </p:nvCxnSpPr>
        <p:spPr>
          <a:xfrm>
            <a:off x="6757639" y="3355892"/>
            <a:ext cx="0" cy="637158"/>
          </a:xfrm>
          <a:prstGeom prst="straightConnector1">
            <a:avLst/>
          </a:prstGeom>
          <a:noFill/>
          <a:ln w="571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20" name="Google Shape;120;p4"/>
          <p:cNvSpPr txBox="1">
            <a:spLocks noGrp="1"/>
          </p:cNvSpPr>
          <p:nvPr>
            <p:ph type="title"/>
          </p:nvPr>
        </p:nvSpPr>
        <p:spPr>
          <a:xfrm>
            <a:off x="121920" y="5286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rmAutofit/>
          </a:bodyPr>
          <a:lstStyle/>
          <a:p>
            <a:pPr>
              <a:buSzPts val="4400"/>
            </a:pPr>
            <a:r>
              <a:rPr lang="en-GB"/>
              <a:t>Timeline</a:t>
            </a:r>
            <a:endParaRPr/>
          </a:p>
        </p:txBody>
      </p:sp>
      <p:cxnSp>
        <p:nvCxnSpPr>
          <p:cNvPr id="146" name="Google Shape;146;p4"/>
          <p:cNvCxnSpPr>
            <a:cxnSpLocks/>
          </p:cNvCxnSpPr>
          <p:nvPr/>
        </p:nvCxnSpPr>
        <p:spPr>
          <a:xfrm>
            <a:off x="3103664" y="861170"/>
            <a:ext cx="0" cy="3807000"/>
          </a:xfrm>
          <a:prstGeom prst="straightConnector1">
            <a:avLst/>
          </a:prstGeom>
          <a:noFill/>
          <a:ln w="57150" cap="flat" cmpd="sng">
            <a:solidFill>
              <a:srgbClr val="FB9937"/>
            </a:solidFill>
            <a:prstDash val="dash"/>
            <a:miter lim="800000"/>
            <a:headEnd type="none" w="sm" len="sm"/>
            <a:tailEnd type="none" w="sm" len="sm"/>
          </a:ln>
        </p:spPr>
      </p:cxnSp>
      <p:cxnSp>
        <p:nvCxnSpPr>
          <p:cNvPr id="147" name="Google Shape;147;p4"/>
          <p:cNvCxnSpPr>
            <a:cxnSpLocks/>
          </p:cNvCxnSpPr>
          <p:nvPr/>
        </p:nvCxnSpPr>
        <p:spPr>
          <a:xfrm>
            <a:off x="5857394" y="869989"/>
            <a:ext cx="0" cy="3807000"/>
          </a:xfrm>
          <a:prstGeom prst="straightConnector1">
            <a:avLst/>
          </a:prstGeom>
          <a:noFill/>
          <a:ln w="57150" cap="flat" cmpd="sng">
            <a:solidFill>
              <a:srgbClr val="FB9937"/>
            </a:solidFill>
            <a:prstDash val="dash"/>
            <a:miter lim="800000"/>
            <a:headEnd type="none" w="sm" len="sm"/>
            <a:tailEnd type="none" w="sm" len="sm"/>
          </a:ln>
        </p:spPr>
      </p:cxnSp>
      <p:sp>
        <p:nvSpPr>
          <p:cNvPr id="148" name="Google Shape;148;p4"/>
          <p:cNvSpPr txBox="1"/>
          <p:nvPr/>
        </p:nvSpPr>
        <p:spPr>
          <a:xfrm>
            <a:off x="853432" y="869989"/>
            <a:ext cx="1785838" cy="346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algn="ctr"/>
            <a:r>
              <a:rPr lang="en-GB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Session 1</a:t>
            </a:r>
            <a:endParaRPr sz="1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4"/>
          <p:cNvSpPr txBox="1"/>
          <p:nvPr/>
        </p:nvSpPr>
        <p:spPr>
          <a:xfrm>
            <a:off x="3589092" y="873912"/>
            <a:ext cx="1785838" cy="346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algn="ctr"/>
            <a:r>
              <a:rPr lang="en-GB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Session 2</a:t>
            </a:r>
            <a:endParaRPr sz="1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4"/>
          <p:cNvSpPr txBox="1"/>
          <p:nvPr/>
        </p:nvSpPr>
        <p:spPr>
          <a:xfrm>
            <a:off x="5672928" y="881230"/>
            <a:ext cx="1785838" cy="346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algn="ctr"/>
            <a:r>
              <a:rPr lang="en-GB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Session 3</a:t>
            </a:r>
            <a:endParaRPr sz="1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1" name="Google Shape;151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5443" y="4131900"/>
            <a:ext cx="590220" cy="5902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84164" y="4131900"/>
            <a:ext cx="590220" cy="5902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20894" y="4139520"/>
            <a:ext cx="590220" cy="5902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96835" y="4131899"/>
            <a:ext cx="590220" cy="59022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5" name="Google Shape;155;p4"/>
          <p:cNvCxnSpPr>
            <a:cxnSpLocks/>
          </p:cNvCxnSpPr>
          <p:nvPr/>
        </p:nvCxnSpPr>
        <p:spPr>
          <a:xfrm>
            <a:off x="1129987" y="3333332"/>
            <a:ext cx="0" cy="659825"/>
          </a:xfrm>
          <a:prstGeom prst="straightConnector1">
            <a:avLst/>
          </a:prstGeom>
          <a:noFill/>
          <a:ln w="571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156" name="Google Shape;156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12190" y="4138502"/>
            <a:ext cx="590220" cy="59022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4"/>
          <p:cNvSpPr/>
          <p:nvPr/>
        </p:nvSpPr>
        <p:spPr>
          <a:xfrm>
            <a:off x="705838" y="2938126"/>
            <a:ext cx="6494467" cy="395207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r>
              <a:rPr lang="en-GB"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Simulation</a:t>
            </a: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9" name="Google Shape;159;p4"/>
          <p:cNvCxnSpPr/>
          <p:nvPr/>
        </p:nvCxnSpPr>
        <p:spPr>
          <a:xfrm>
            <a:off x="1079448" y="2564130"/>
            <a:ext cx="0" cy="373996"/>
          </a:xfrm>
          <a:prstGeom prst="straightConnector1">
            <a:avLst/>
          </a:prstGeom>
          <a:noFill/>
          <a:ln w="5715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60" name="Google Shape;160;p4"/>
          <p:cNvCxnSpPr/>
          <p:nvPr/>
        </p:nvCxnSpPr>
        <p:spPr>
          <a:xfrm>
            <a:off x="2422124" y="2564130"/>
            <a:ext cx="0" cy="373996"/>
          </a:xfrm>
          <a:prstGeom prst="straightConnector1">
            <a:avLst/>
          </a:prstGeom>
          <a:noFill/>
          <a:ln w="5715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61" name="Google Shape;161;p4"/>
          <p:cNvCxnSpPr/>
          <p:nvPr/>
        </p:nvCxnSpPr>
        <p:spPr>
          <a:xfrm>
            <a:off x="4111114" y="2557167"/>
            <a:ext cx="0" cy="373996"/>
          </a:xfrm>
          <a:prstGeom prst="straightConnector1">
            <a:avLst/>
          </a:prstGeom>
          <a:noFill/>
          <a:ln w="5715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63" name="Google Shape;163;p4"/>
          <p:cNvCxnSpPr/>
          <p:nvPr/>
        </p:nvCxnSpPr>
        <p:spPr>
          <a:xfrm>
            <a:off x="6635534" y="2564128"/>
            <a:ext cx="0" cy="373996"/>
          </a:xfrm>
          <a:prstGeom prst="straightConnector1">
            <a:avLst/>
          </a:prstGeom>
          <a:noFill/>
          <a:ln w="5715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67" name="Google Shape;167;p4"/>
          <p:cNvCxnSpPr>
            <a:cxnSpLocks/>
          </p:cNvCxnSpPr>
          <p:nvPr/>
        </p:nvCxnSpPr>
        <p:spPr>
          <a:xfrm>
            <a:off x="3708026" y="3657877"/>
            <a:ext cx="0" cy="324000"/>
          </a:xfrm>
          <a:prstGeom prst="straightConnector1">
            <a:avLst/>
          </a:prstGeom>
          <a:noFill/>
          <a:ln w="57150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68" name="Google Shape;168;p4"/>
          <p:cNvCxnSpPr>
            <a:cxnSpLocks/>
          </p:cNvCxnSpPr>
          <p:nvPr/>
        </p:nvCxnSpPr>
        <p:spPr>
          <a:xfrm>
            <a:off x="5174208" y="3656669"/>
            <a:ext cx="0" cy="324000"/>
          </a:xfrm>
          <a:prstGeom prst="straightConnector1">
            <a:avLst/>
          </a:prstGeom>
          <a:noFill/>
          <a:ln w="57150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69" name="Google Shape;169;p4"/>
          <p:cNvCxnSpPr>
            <a:cxnSpLocks/>
          </p:cNvCxnSpPr>
          <p:nvPr/>
        </p:nvCxnSpPr>
        <p:spPr>
          <a:xfrm>
            <a:off x="6565847" y="3669307"/>
            <a:ext cx="0" cy="324000"/>
          </a:xfrm>
          <a:prstGeom prst="straightConnector1">
            <a:avLst/>
          </a:prstGeom>
          <a:noFill/>
          <a:ln w="57150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26" name="Google Shape;126;p4"/>
          <p:cNvSpPr/>
          <p:nvPr/>
        </p:nvSpPr>
        <p:spPr>
          <a:xfrm>
            <a:off x="565922" y="1613973"/>
            <a:ext cx="985837" cy="951949"/>
          </a:xfrm>
          <a:prstGeom prst="roundRect">
            <a:avLst>
              <a:gd name="adj" fmla="val 10000"/>
            </a:avLst>
          </a:prstGeom>
          <a:solidFill>
            <a:srgbClr val="4372C3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sp>
        <p:nvSpPr>
          <p:cNvPr id="127" name="Google Shape;127;p4"/>
          <p:cNvSpPr txBox="1"/>
          <p:nvPr/>
        </p:nvSpPr>
        <p:spPr>
          <a:xfrm>
            <a:off x="593804" y="1641855"/>
            <a:ext cx="930073" cy="896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863" tIns="42863" rIns="42863" bIns="42863" anchor="ctr" anchorCtr="0">
            <a:noAutofit/>
          </a:bodyPr>
          <a:lstStyle/>
          <a:p>
            <a:pPr algn="ctr">
              <a:lnSpc>
                <a:spcPct val="90000"/>
              </a:lnSpc>
              <a:buClr>
                <a:schemeClr val="lt1"/>
              </a:buClr>
              <a:buSzPts val="1500"/>
            </a:pPr>
            <a:r>
              <a:rPr lang="en-GB" sz="1125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Functional single cycle processor</a:t>
            </a:r>
            <a:endParaRPr sz="1125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1650343" y="1967704"/>
            <a:ext cx="208997" cy="244487"/>
          </a:xfrm>
          <a:prstGeom prst="rightArrow">
            <a:avLst>
              <a:gd name="adj1" fmla="val 60000"/>
              <a:gd name="adj2" fmla="val 50000"/>
            </a:avLst>
          </a:prstGeom>
          <a:solidFill>
            <a:srgbClr val="ABBADE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sp>
        <p:nvSpPr>
          <p:cNvPr id="129" name="Google Shape;129;p4"/>
          <p:cNvSpPr txBox="1"/>
          <p:nvPr/>
        </p:nvSpPr>
        <p:spPr>
          <a:xfrm>
            <a:off x="1650343" y="2016601"/>
            <a:ext cx="146298" cy="146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lnSpc>
                <a:spcPct val="90000"/>
              </a:lnSpc>
              <a:buClr>
                <a:schemeClr val="dk1"/>
              </a:buClr>
              <a:buSzPts val="1200"/>
            </a:pP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1946094" y="1613973"/>
            <a:ext cx="985837" cy="951949"/>
          </a:xfrm>
          <a:prstGeom prst="roundRect">
            <a:avLst>
              <a:gd name="adj" fmla="val 10000"/>
            </a:avLst>
          </a:prstGeom>
          <a:solidFill>
            <a:srgbClr val="4372C3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sp>
        <p:nvSpPr>
          <p:cNvPr id="131" name="Google Shape;131;p4"/>
          <p:cNvSpPr txBox="1"/>
          <p:nvPr/>
        </p:nvSpPr>
        <p:spPr>
          <a:xfrm>
            <a:off x="1973976" y="1641855"/>
            <a:ext cx="930073" cy="896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863" tIns="42863" rIns="42863" bIns="42863" anchor="ctr" anchorCtr="0">
            <a:noAutofit/>
          </a:bodyPr>
          <a:lstStyle/>
          <a:p>
            <a:pPr algn="ctr">
              <a:lnSpc>
                <a:spcPct val="90000"/>
              </a:lnSpc>
              <a:buClr>
                <a:schemeClr val="lt1"/>
              </a:buClr>
              <a:buSzPts val="1500"/>
            </a:pPr>
            <a:r>
              <a:rPr lang="en-GB" sz="1125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Single cycle processor with multiplication</a:t>
            </a:r>
            <a:endParaRPr sz="1125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3030516" y="1967704"/>
            <a:ext cx="208997" cy="244487"/>
          </a:xfrm>
          <a:prstGeom prst="rightArrow">
            <a:avLst>
              <a:gd name="adj1" fmla="val 60000"/>
              <a:gd name="adj2" fmla="val 50000"/>
            </a:avLst>
          </a:prstGeom>
          <a:solidFill>
            <a:srgbClr val="ABBADE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sp>
        <p:nvSpPr>
          <p:cNvPr id="133" name="Google Shape;133;p4"/>
          <p:cNvSpPr txBox="1"/>
          <p:nvPr/>
        </p:nvSpPr>
        <p:spPr>
          <a:xfrm>
            <a:off x="3030515" y="2016601"/>
            <a:ext cx="146298" cy="146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lnSpc>
                <a:spcPct val="90000"/>
              </a:lnSpc>
              <a:buClr>
                <a:schemeClr val="dk1"/>
              </a:buClr>
              <a:buSzPts val="1200"/>
            </a:pP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3326266" y="1613973"/>
            <a:ext cx="1514816" cy="427235"/>
          </a:xfrm>
          <a:prstGeom prst="roundRect">
            <a:avLst>
              <a:gd name="adj" fmla="val 10000"/>
            </a:avLst>
          </a:prstGeom>
          <a:solidFill>
            <a:srgbClr val="4372C3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sp>
        <p:nvSpPr>
          <p:cNvPr id="135" name="Google Shape;135;p4"/>
          <p:cNvSpPr txBox="1"/>
          <p:nvPr/>
        </p:nvSpPr>
        <p:spPr>
          <a:xfrm>
            <a:off x="3354148" y="1641855"/>
            <a:ext cx="1429130" cy="3993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863" tIns="42863" rIns="42863" bIns="42863" anchor="ctr" anchorCtr="0">
            <a:noAutofit/>
          </a:bodyPr>
          <a:lstStyle/>
          <a:p>
            <a:pPr algn="ctr">
              <a:lnSpc>
                <a:spcPct val="90000"/>
              </a:lnSpc>
              <a:buClr>
                <a:schemeClr val="lt1"/>
              </a:buClr>
              <a:buSzPts val="1500"/>
            </a:pPr>
            <a:r>
              <a:rPr lang="en-GB" sz="1125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Pipelined processor</a:t>
            </a:r>
            <a:endParaRPr sz="1125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4979664" y="1958955"/>
            <a:ext cx="208997" cy="244487"/>
          </a:xfrm>
          <a:prstGeom prst="rightArrow">
            <a:avLst>
              <a:gd name="adj1" fmla="val 60000"/>
              <a:gd name="adj2" fmla="val 50000"/>
            </a:avLst>
          </a:prstGeom>
          <a:solidFill>
            <a:srgbClr val="ABBADE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sp>
        <p:nvSpPr>
          <p:cNvPr id="137" name="Google Shape;137;p4"/>
          <p:cNvSpPr txBox="1"/>
          <p:nvPr/>
        </p:nvSpPr>
        <p:spPr>
          <a:xfrm>
            <a:off x="4979663" y="2007852"/>
            <a:ext cx="146298" cy="146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lnSpc>
                <a:spcPct val="90000"/>
              </a:lnSpc>
              <a:buClr>
                <a:schemeClr val="dk1"/>
              </a:buClr>
              <a:buSzPts val="1200"/>
            </a:pP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4"/>
          <p:cNvSpPr/>
          <p:nvPr/>
        </p:nvSpPr>
        <p:spPr>
          <a:xfrm>
            <a:off x="3324978" y="2102166"/>
            <a:ext cx="1514816" cy="402629"/>
          </a:xfrm>
          <a:prstGeom prst="roundRect">
            <a:avLst>
              <a:gd name="adj" fmla="val 10000"/>
            </a:avLst>
          </a:prstGeom>
          <a:solidFill>
            <a:srgbClr val="4372C3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sp>
        <p:nvSpPr>
          <p:cNvPr id="139" name="Google Shape;139;p4"/>
          <p:cNvSpPr txBox="1"/>
          <p:nvPr/>
        </p:nvSpPr>
        <p:spPr>
          <a:xfrm>
            <a:off x="3352860" y="2130048"/>
            <a:ext cx="1429130" cy="3531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863" tIns="42863" rIns="42863" bIns="42863" anchor="ctr" anchorCtr="0">
            <a:noAutofit/>
          </a:bodyPr>
          <a:lstStyle/>
          <a:p>
            <a:pPr algn="ctr">
              <a:lnSpc>
                <a:spcPct val="90000"/>
              </a:lnSpc>
              <a:buClr>
                <a:schemeClr val="lt1"/>
              </a:buClr>
              <a:buSzPts val="1500"/>
            </a:pPr>
            <a:r>
              <a:rPr lang="en-GB" sz="1125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Data hazard resolution</a:t>
            </a:r>
            <a:endParaRPr sz="1125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4"/>
          <p:cNvSpPr txBox="1"/>
          <p:nvPr/>
        </p:nvSpPr>
        <p:spPr>
          <a:xfrm>
            <a:off x="5790860" y="2016601"/>
            <a:ext cx="146298" cy="146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lnSpc>
                <a:spcPct val="90000"/>
              </a:lnSpc>
              <a:buClr>
                <a:schemeClr val="dk1"/>
              </a:buClr>
              <a:buSzPts val="1200"/>
            </a:pP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4"/>
          <p:cNvSpPr/>
          <p:nvPr/>
        </p:nvSpPr>
        <p:spPr>
          <a:xfrm>
            <a:off x="5263727" y="2087676"/>
            <a:ext cx="1906296" cy="417119"/>
          </a:xfrm>
          <a:prstGeom prst="roundRect">
            <a:avLst>
              <a:gd name="adj" fmla="val 10000"/>
            </a:avLst>
          </a:prstGeom>
          <a:solidFill>
            <a:srgbClr val="4372C3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sp>
        <p:nvSpPr>
          <p:cNvPr id="143" name="Google Shape;143;p4"/>
          <p:cNvSpPr txBox="1"/>
          <p:nvPr/>
        </p:nvSpPr>
        <p:spPr>
          <a:xfrm>
            <a:off x="5374929" y="2130797"/>
            <a:ext cx="1727423" cy="346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863" tIns="42863" rIns="42863" bIns="42863" anchor="ctr" anchorCtr="0">
            <a:noAutofit/>
          </a:bodyPr>
          <a:lstStyle/>
          <a:p>
            <a:pPr algn="ctr">
              <a:lnSpc>
                <a:spcPct val="90000"/>
              </a:lnSpc>
              <a:buClr>
                <a:schemeClr val="lt1"/>
              </a:buClr>
              <a:buSzPts val="1500"/>
            </a:pPr>
            <a:r>
              <a:rPr lang="en-GB" sz="1125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Advanced acceleration </a:t>
            </a:r>
            <a:endParaRPr sz="1125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42;p4">
            <a:extLst>
              <a:ext uri="{FF2B5EF4-FFF2-40B4-BE49-F238E27FC236}">
                <a16:creationId xmlns:a16="http://schemas.microsoft.com/office/drawing/2014/main" id="{608BE2B4-DE30-DCC3-8A87-DABC5F6FFF78}"/>
              </a:ext>
            </a:extLst>
          </p:cNvPr>
          <p:cNvSpPr/>
          <p:nvPr/>
        </p:nvSpPr>
        <p:spPr>
          <a:xfrm>
            <a:off x="7566615" y="1613972"/>
            <a:ext cx="1125269" cy="951949"/>
          </a:xfrm>
          <a:prstGeom prst="roundRect">
            <a:avLst>
              <a:gd name="adj" fmla="val 10000"/>
            </a:avLst>
          </a:prstGeom>
          <a:solidFill>
            <a:srgbClr val="4372C3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algn="ctr"/>
            <a:r>
              <a:rPr lang="en-US" sz="1050">
                <a:solidFill>
                  <a:schemeClr val="bg1"/>
                </a:solidFill>
              </a:rPr>
              <a:t>Project Feedback</a:t>
            </a:r>
          </a:p>
        </p:txBody>
      </p:sp>
      <p:cxnSp>
        <p:nvCxnSpPr>
          <p:cNvPr id="4" name="Google Shape;168;p4">
            <a:extLst>
              <a:ext uri="{FF2B5EF4-FFF2-40B4-BE49-F238E27FC236}">
                <a16:creationId xmlns:a16="http://schemas.microsoft.com/office/drawing/2014/main" id="{3BBB548C-1DFE-8DC0-A945-EA5B69E217E1}"/>
              </a:ext>
            </a:extLst>
          </p:cNvPr>
          <p:cNvCxnSpPr>
            <a:cxnSpLocks/>
          </p:cNvCxnSpPr>
          <p:nvPr/>
        </p:nvCxnSpPr>
        <p:spPr>
          <a:xfrm>
            <a:off x="948918" y="3660478"/>
            <a:ext cx="0" cy="324000"/>
          </a:xfrm>
          <a:prstGeom prst="straightConnector1">
            <a:avLst/>
          </a:prstGeom>
          <a:noFill/>
          <a:ln w="57150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190E5BBC-7FDA-EDBB-EC81-878321107AE1}"/>
              </a:ext>
            </a:extLst>
          </p:cNvPr>
          <p:cNvSpPr txBox="1"/>
          <p:nvPr/>
        </p:nvSpPr>
        <p:spPr>
          <a:xfrm>
            <a:off x="1122906" y="1133979"/>
            <a:ext cx="126953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[Mar-04/05]</a:t>
            </a:r>
            <a:endParaRPr lang="en-US" sz="1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3334D6-F17D-6A18-7D90-0B129E891E8D}"/>
              </a:ext>
            </a:extLst>
          </p:cNvPr>
          <p:cNvSpPr txBox="1"/>
          <p:nvPr/>
        </p:nvSpPr>
        <p:spPr>
          <a:xfrm>
            <a:off x="3869581" y="1137901"/>
            <a:ext cx="126953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[Apr-01/02]</a:t>
            </a:r>
            <a:endParaRPr lang="en-US" sz="1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58D9D9-BA20-73E4-D448-1EE853DEFF32}"/>
              </a:ext>
            </a:extLst>
          </p:cNvPr>
          <p:cNvSpPr txBox="1"/>
          <p:nvPr/>
        </p:nvSpPr>
        <p:spPr>
          <a:xfrm>
            <a:off x="5936620" y="1131148"/>
            <a:ext cx="126953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b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[Apr-23/24]</a:t>
            </a:r>
            <a:endParaRPr lang="en-US" sz="1200" b="1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3BB629E-CDBA-79EF-18C7-881462DEB0B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smtClean="0"/>
              <a:pPr/>
              <a:t>2</a:t>
            </a:fld>
            <a:endParaRPr lang="en-GB"/>
          </a:p>
        </p:txBody>
      </p:sp>
      <p:cxnSp>
        <p:nvCxnSpPr>
          <p:cNvPr id="3" name="Google Shape;147;p4">
            <a:extLst>
              <a:ext uri="{FF2B5EF4-FFF2-40B4-BE49-F238E27FC236}">
                <a16:creationId xmlns:a16="http://schemas.microsoft.com/office/drawing/2014/main" id="{611C3CE0-B466-F6DD-949B-D7D53F38ABF7}"/>
              </a:ext>
            </a:extLst>
          </p:cNvPr>
          <p:cNvCxnSpPr>
            <a:cxnSpLocks/>
          </p:cNvCxnSpPr>
          <p:nvPr/>
        </p:nvCxnSpPr>
        <p:spPr>
          <a:xfrm>
            <a:off x="7284512" y="869989"/>
            <a:ext cx="0" cy="3807000"/>
          </a:xfrm>
          <a:prstGeom prst="straightConnector1">
            <a:avLst/>
          </a:prstGeom>
          <a:noFill/>
          <a:ln w="57150" cap="flat" cmpd="sng">
            <a:solidFill>
              <a:srgbClr val="FB9937"/>
            </a:solidFill>
            <a:prstDash val="dash"/>
            <a:miter lim="800000"/>
            <a:headEnd type="none" w="sm" len="sm"/>
            <a:tailEnd type="none" w="sm" len="sm"/>
          </a:ln>
        </p:spPr>
      </p:cxnSp>
      <p:sp>
        <p:nvSpPr>
          <p:cNvPr id="15" name="Google Shape;150;p4">
            <a:extLst>
              <a:ext uri="{FF2B5EF4-FFF2-40B4-BE49-F238E27FC236}">
                <a16:creationId xmlns:a16="http://schemas.microsoft.com/office/drawing/2014/main" id="{0F18987E-3B34-C9AA-37B6-7230795C3351}"/>
              </a:ext>
            </a:extLst>
          </p:cNvPr>
          <p:cNvSpPr txBox="1"/>
          <p:nvPr/>
        </p:nvSpPr>
        <p:spPr>
          <a:xfrm>
            <a:off x="7202980" y="883768"/>
            <a:ext cx="1785838" cy="346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algn="ctr"/>
            <a:r>
              <a:rPr lang="en-GB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Session 4</a:t>
            </a:r>
            <a:endParaRPr sz="1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4F19B6C-F6FC-53FE-34ED-881D563EF864}"/>
              </a:ext>
            </a:extLst>
          </p:cNvPr>
          <p:cNvSpPr txBox="1"/>
          <p:nvPr/>
        </p:nvSpPr>
        <p:spPr>
          <a:xfrm>
            <a:off x="7466672" y="1133687"/>
            <a:ext cx="126953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[May-11/12]</a:t>
            </a:r>
            <a:endParaRPr lang="en-US" sz="1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7" name="Google Shape;142;p4">
            <a:extLst>
              <a:ext uri="{FF2B5EF4-FFF2-40B4-BE49-F238E27FC236}">
                <a16:creationId xmlns:a16="http://schemas.microsoft.com/office/drawing/2014/main" id="{23526D17-F773-EC42-989F-C0FAC350EA16}"/>
              </a:ext>
            </a:extLst>
          </p:cNvPr>
          <p:cNvSpPr/>
          <p:nvPr/>
        </p:nvSpPr>
        <p:spPr>
          <a:xfrm>
            <a:off x="7569703" y="2722523"/>
            <a:ext cx="1125269" cy="866422"/>
          </a:xfrm>
          <a:prstGeom prst="roundRect">
            <a:avLst>
              <a:gd name="adj" fmla="val 10000"/>
            </a:avLst>
          </a:prstGeom>
          <a:solidFill>
            <a:srgbClr val="4372C3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algn="ctr"/>
            <a:r>
              <a:rPr lang="en-US" sz="1050">
                <a:solidFill>
                  <a:schemeClr val="bg1"/>
                </a:solidFill>
              </a:rPr>
              <a:t>Written Exam Exercises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F4837BE-5F6D-8352-6A12-EF5D6108416C}"/>
              </a:ext>
            </a:extLst>
          </p:cNvPr>
          <p:cNvSpPr txBox="1"/>
          <p:nvPr/>
        </p:nvSpPr>
        <p:spPr>
          <a:xfrm>
            <a:off x="6425479" y="386885"/>
            <a:ext cx="172651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Submission Deadline </a:t>
            </a:r>
            <a:r>
              <a:rPr lang="en-US" altLang="zh-CN" sz="12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[May-1]</a:t>
            </a:r>
            <a:endParaRPr lang="en-US" sz="1200" b="1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8" name="Google Shape;158;p4"/>
          <p:cNvSpPr/>
          <p:nvPr/>
        </p:nvSpPr>
        <p:spPr>
          <a:xfrm>
            <a:off x="711329" y="3274100"/>
            <a:ext cx="6488978" cy="391397"/>
          </a:xfrm>
          <a:prstGeom prst="roundRect">
            <a:avLst>
              <a:gd name="adj" fmla="val 16667"/>
            </a:avLst>
          </a:prstGeom>
          <a:solidFill>
            <a:schemeClr val="accent6">
              <a:lumMod val="40000"/>
              <a:lumOff val="60000"/>
            </a:schemeClr>
          </a:solidFill>
          <a:ln w="12700" cap="flat" cmpd="sng">
            <a:solidFill>
              <a:srgbClr val="517E3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r>
              <a:rPr lang="en-GB" sz="135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Backend flow (synthesis-only)</a:t>
            </a:r>
            <a:endParaRPr lang="en-US" sz="135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" name="Google Shape;138;p4">
            <a:extLst>
              <a:ext uri="{FF2B5EF4-FFF2-40B4-BE49-F238E27FC236}">
                <a16:creationId xmlns:a16="http://schemas.microsoft.com/office/drawing/2014/main" id="{4A0021A0-D1F0-81F5-A190-8A706C21199F}"/>
              </a:ext>
            </a:extLst>
          </p:cNvPr>
          <p:cNvSpPr/>
          <p:nvPr/>
        </p:nvSpPr>
        <p:spPr>
          <a:xfrm>
            <a:off x="5263728" y="1610386"/>
            <a:ext cx="1906295" cy="431810"/>
          </a:xfrm>
          <a:prstGeom prst="roundRect">
            <a:avLst>
              <a:gd name="adj" fmla="val 10000"/>
            </a:avLst>
          </a:prstGeom>
          <a:solidFill>
            <a:srgbClr val="4372C3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sp>
        <p:nvSpPr>
          <p:cNvPr id="5" name="Google Shape;139;p4">
            <a:extLst>
              <a:ext uri="{FF2B5EF4-FFF2-40B4-BE49-F238E27FC236}">
                <a16:creationId xmlns:a16="http://schemas.microsoft.com/office/drawing/2014/main" id="{77E17023-35E1-EBFA-CE13-FA2D1E3ECA90}"/>
              </a:ext>
            </a:extLst>
          </p:cNvPr>
          <p:cNvSpPr txBox="1"/>
          <p:nvPr/>
        </p:nvSpPr>
        <p:spPr>
          <a:xfrm>
            <a:off x="5301875" y="1641854"/>
            <a:ext cx="1808382" cy="378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863" tIns="42863" rIns="42863" bIns="42863" anchor="ctr" anchorCtr="0">
            <a:noAutofit/>
          </a:bodyPr>
          <a:lstStyle/>
          <a:p>
            <a:pPr algn="ctr">
              <a:lnSpc>
                <a:spcPct val="90000"/>
              </a:lnSpc>
              <a:buClr>
                <a:schemeClr val="lt1"/>
              </a:buClr>
              <a:buSzPts val="1500"/>
            </a:pPr>
            <a:r>
              <a:rPr lang="en-US" altLang="zh-CN" sz="1125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Control</a:t>
            </a:r>
            <a:r>
              <a:rPr lang="en-GB" sz="1125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hazard resolution</a:t>
            </a:r>
            <a:endParaRPr sz="1125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69326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118;p4">
            <a:extLst>
              <a:ext uri="{FF2B5EF4-FFF2-40B4-BE49-F238E27FC236}">
                <a16:creationId xmlns:a16="http://schemas.microsoft.com/office/drawing/2014/main" id="{CFEB0D78-0BFB-6238-6A10-DC6284DF6D10}"/>
              </a:ext>
            </a:extLst>
          </p:cNvPr>
          <p:cNvCxnSpPr>
            <a:cxnSpLocks/>
          </p:cNvCxnSpPr>
          <p:nvPr/>
        </p:nvCxnSpPr>
        <p:spPr>
          <a:xfrm>
            <a:off x="5336971" y="3355892"/>
            <a:ext cx="0" cy="649796"/>
          </a:xfrm>
          <a:prstGeom prst="straightConnector1">
            <a:avLst/>
          </a:prstGeom>
          <a:noFill/>
          <a:ln w="571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3" name="Google Shape;168;p4">
            <a:extLst>
              <a:ext uri="{FF2B5EF4-FFF2-40B4-BE49-F238E27FC236}">
                <a16:creationId xmlns:a16="http://schemas.microsoft.com/office/drawing/2014/main" id="{0E400935-705B-FF7E-AA7C-54D5FCCBA465}"/>
              </a:ext>
            </a:extLst>
          </p:cNvPr>
          <p:cNvCxnSpPr>
            <a:cxnSpLocks/>
          </p:cNvCxnSpPr>
          <p:nvPr/>
        </p:nvCxnSpPr>
        <p:spPr>
          <a:xfrm>
            <a:off x="5145179" y="3669306"/>
            <a:ext cx="0" cy="324000"/>
          </a:xfrm>
          <a:prstGeom prst="straightConnector1">
            <a:avLst/>
          </a:prstGeom>
          <a:noFill/>
          <a:ln w="57150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9" name="Google Shape;155;p4">
            <a:extLst>
              <a:ext uri="{FF2B5EF4-FFF2-40B4-BE49-F238E27FC236}">
                <a16:creationId xmlns:a16="http://schemas.microsoft.com/office/drawing/2014/main" id="{88BBAF96-C2BC-51DB-D813-6D036B11652B}"/>
              </a:ext>
            </a:extLst>
          </p:cNvPr>
          <p:cNvCxnSpPr>
            <a:cxnSpLocks/>
          </p:cNvCxnSpPr>
          <p:nvPr/>
        </p:nvCxnSpPr>
        <p:spPr>
          <a:xfrm>
            <a:off x="4020407" y="3333226"/>
            <a:ext cx="0" cy="659825"/>
          </a:xfrm>
          <a:prstGeom prst="straightConnector1">
            <a:avLst/>
          </a:prstGeom>
          <a:noFill/>
          <a:ln w="571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0" name="Google Shape;168;p4">
            <a:extLst>
              <a:ext uri="{FF2B5EF4-FFF2-40B4-BE49-F238E27FC236}">
                <a16:creationId xmlns:a16="http://schemas.microsoft.com/office/drawing/2014/main" id="{02494D52-AA22-2073-50F0-8EE692E15461}"/>
              </a:ext>
            </a:extLst>
          </p:cNvPr>
          <p:cNvCxnSpPr>
            <a:cxnSpLocks/>
          </p:cNvCxnSpPr>
          <p:nvPr/>
        </p:nvCxnSpPr>
        <p:spPr>
          <a:xfrm>
            <a:off x="3839339" y="3660371"/>
            <a:ext cx="0" cy="324000"/>
          </a:xfrm>
          <a:prstGeom prst="straightConnector1">
            <a:avLst/>
          </a:prstGeom>
          <a:noFill/>
          <a:ln w="57150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1" name="Google Shape;118;p4">
            <a:extLst>
              <a:ext uri="{FF2B5EF4-FFF2-40B4-BE49-F238E27FC236}">
                <a16:creationId xmlns:a16="http://schemas.microsoft.com/office/drawing/2014/main" id="{D0F4864D-BB27-DADB-60AA-3A338CBACB9E}"/>
              </a:ext>
            </a:extLst>
          </p:cNvPr>
          <p:cNvCxnSpPr>
            <a:cxnSpLocks/>
          </p:cNvCxnSpPr>
          <p:nvPr/>
        </p:nvCxnSpPr>
        <p:spPr>
          <a:xfrm>
            <a:off x="6789851" y="3343255"/>
            <a:ext cx="0" cy="649796"/>
          </a:xfrm>
          <a:prstGeom prst="straightConnector1">
            <a:avLst/>
          </a:prstGeom>
          <a:noFill/>
          <a:ln w="571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2" name="Google Shape;119;p4">
            <a:extLst>
              <a:ext uri="{FF2B5EF4-FFF2-40B4-BE49-F238E27FC236}">
                <a16:creationId xmlns:a16="http://schemas.microsoft.com/office/drawing/2014/main" id="{97457FF3-BABD-BD1F-8827-C3D0CA0A7986}"/>
              </a:ext>
            </a:extLst>
          </p:cNvPr>
          <p:cNvCxnSpPr>
            <a:cxnSpLocks/>
          </p:cNvCxnSpPr>
          <p:nvPr/>
        </p:nvCxnSpPr>
        <p:spPr>
          <a:xfrm>
            <a:off x="8181490" y="3355892"/>
            <a:ext cx="11886" cy="637158"/>
          </a:xfrm>
          <a:prstGeom prst="straightConnector1">
            <a:avLst/>
          </a:prstGeom>
          <a:noFill/>
          <a:ln w="571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3" name="Google Shape;155;p4">
            <a:extLst>
              <a:ext uri="{FF2B5EF4-FFF2-40B4-BE49-F238E27FC236}">
                <a16:creationId xmlns:a16="http://schemas.microsoft.com/office/drawing/2014/main" id="{64C46789-7C96-BFFE-3EE2-65F7C3C417E7}"/>
              </a:ext>
            </a:extLst>
          </p:cNvPr>
          <p:cNvCxnSpPr>
            <a:cxnSpLocks/>
          </p:cNvCxnSpPr>
          <p:nvPr/>
        </p:nvCxnSpPr>
        <p:spPr>
          <a:xfrm>
            <a:off x="2553838" y="3333332"/>
            <a:ext cx="0" cy="659825"/>
          </a:xfrm>
          <a:prstGeom prst="straightConnector1">
            <a:avLst/>
          </a:prstGeom>
          <a:noFill/>
          <a:ln w="571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4" name="Google Shape;168;p4">
            <a:extLst>
              <a:ext uri="{FF2B5EF4-FFF2-40B4-BE49-F238E27FC236}">
                <a16:creationId xmlns:a16="http://schemas.microsoft.com/office/drawing/2014/main" id="{31AA6BF2-0690-F947-D977-953DCB23CD43}"/>
              </a:ext>
            </a:extLst>
          </p:cNvPr>
          <p:cNvCxnSpPr>
            <a:cxnSpLocks/>
          </p:cNvCxnSpPr>
          <p:nvPr/>
        </p:nvCxnSpPr>
        <p:spPr>
          <a:xfrm>
            <a:off x="6598059" y="3656669"/>
            <a:ext cx="0" cy="324000"/>
          </a:xfrm>
          <a:prstGeom prst="straightConnector1">
            <a:avLst/>
          </a:prstGeom>
          <a:noFill/>
          <a:ln w="57150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5" name="Google Shape;169;p4">
            <a:extLst>
              <a:ext uri="{FF2B5EF4-FFF2-40B4-BE49-F238E27FC236}">
                <a16:creationId xmlns:a16="http://schemas.microsoft.com/office/drawing/2014/main" id="{A6EED7C7-3BCC-7170-0051-CC7458DADC6F}"/>
              </a:ext>
            </a:extLst>
          </p:cNvPr>
          <p:cNvCxnSpPr>
            <a:cxnSpLocks/>
          </p:cNvCxnSpPr>
          <p:nvPr/>
        </p:nvCxnSpPr>
        <p:spPr>
          <a:xfrm>
            <a:off x="7989698" y="3669307"/>
            <a:ext cx="0" cy="324000"/>
          </a:xfrm>
          <a:prstGeom prst="straightConnector1">
            <a:avLst/>
          </a:prstGeom>
          <a:noFill/>
          <a:ln w="57150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6" name="Google Shape;168;p4">
            <a:extLst>
              <a:ext uri="{FF2B5EF4-FFF2-40B4-BE49-F238E27FC236}">
                <a16:creationId xmlns:a16="http://schemas.microsoft.com/office/drawing/2014/main" id="{82DC78EA-BC53-6870-490D-020E5B4CB541}"/>
              </a:ext>
            </a:extLst>
          </p:cNvPr>
          <p:cNvCxnSpPr>
            <a:cxnSpLocks/>
          </p:cNvCxnSpPr>
          <p:nvPr/>
        </p:nvCxnSpPr>
        <p:spPr>
          <a:xfrm>
            <a:off x="2372769" y="3660478"/>
            <a:ext cx="0" cy="324000"/>
          </a:xfrm>
          <a:prstGeom prst="straightConnector1">
            <a:avLst/>
          </a:prstGeom>
          <a:noFill/>
          <a:ln w="57150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45" name="Google Shape;145;p4"/>
          <p:cNvCxnSpPr>
            <a:cxnSpLocks/>
          </p:cNvCxnSpPr>
          <p:nvPr/>
        </p:nvCxnSpPr>
        <p:spPr>
          <a:xfrm>
            <a:off x="1803953" y="1040240"/>
            <a:ext cx="0" cy="3807000"/>
          </a:xfrm>
          <a:prstGeom prst="straightConnector1">
            <a:avLst/>
          </a:prstGeom>
          <a:noFill/>
          <a:ln w="57150" cap="flat" cmpd="sng">
            <a:solidFill>
              <a:srgbClr val="FB9937"/>
            </a:solidFill>
            <a:prstDash val="dash"/>
            <a:miter lim="800000"/>
            <a:headEnd type="none" w="sm" len="sm"/>
            <a:tailEnd type="none" w="sm" len="sm"/>
          </a:ln>
        </p:spPr>
      </p:cxnSp>
      <p:cxnSp>
        <p:nvCxnSpPr>
          <p:cNvPr id="146" name="Google Shape;146;p4"/>
          <p:cNvCxnSpPr>
            <a:cxnSpLocks/>
          </p:cNvCxnSpPr>
          <p:nvPr/>
        </p:nvCxnSpPr>
        <p:spPr>
          <a:xfrm>
            <a:off x="4546565" y="1040240"/>
            <a:ext cx="0" cy="3807000"/>
          </a:xfrm>
          <a:prstGeom prst="straightConnector1">
            <a:avLst/>
          </a:prstGeom>
          <a:noFill/>
          <a:ln w="57150" cap="flat" cmpd="sng">
            <a:solidFill>
              <a:srgbClr val="FB9937"/>
            </a:solidFill>
            <a:prstDash val="dash"/>
            <a:miter lim="800000"/>
            <a:headEnd type="none" w="sm" len="sm"/>
            <a:tailEnd type="none" w="sm" len="sm"/>
          </a:ln>
        </p:spPr>
      </p:cxnSp>
      <p:cxnSp>
        <p:nvCxnSpPr>
          <p:cNvPr id="147" name="Google Shape;147;p4"/>
          <p:cNvCxnSpPr>
            <a:cxnSpLocks/>
          </p:cNvCxnSpPr>
          <p:nvPr/>
        </p:nvCxnSpPr>
        <p:spPr>
          <a:xfrm>
            <a:off x="7338259" y="1024642"/>
            <a:ext cx="0" cy="3807000"/>
          </a:xfrm>
          <a:prstGeom prst="straightConnector1">
            <a:avLst/>
          </a:prstGeom>
          <a:noFill/>
          <a:ln w="57150" cap="flat" cmpd="sng">
            <a:solidFill>
              <a:srgbClr val="FB9937"/>
            </a:solidFill>
            <a:prstDash val="dash"/>
            <a:miter lim="800000"/>
            <a:headEnd type="none" w="sm" len="sm"/>
            <a:tailEnd type="none" w="sm" len="sm"/>
          </a:ln>
        </p:spPr>
      </p:cxnSp>
      <p:pic>
        <p:nvPicPr>
          <p:cNvPr id="151" name="Google Shape;151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99474" y="4163303"/>
            <a:ext cx="590220" cy="5902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98196" y="4163303"/>
            <a:ext cx="590220" cy="59022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9" name="Google Shape;159;p4"/>
          <p:cNvCxnSpPr/>
          <p:nvPr/>
        </p:nvCxnSpPr>
        <p:spPr>
          <a:xfrm>
            <a:off x="2522349" y="2554149"/>
            <a:ext cx="0" cy="373996"/>
          </a:xfrm>
          <a:prstGeom prst="straightConnector1">
            <a:avLst/>
          </a:prstGeom>
          <a:noFill/>
          <a:ln w="5715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60" name="Google Shape;160;p4"/>
          <p:cNvCxnSpPr/>
          <p:nvPr/>
        </p:nvCxnSpPr>
        <p:spPr>
          <a:xfrm>
            <a:off x="3865025" y="2554148"/>
            <a:ext cx="0" cy="373996"/>
          </a:xfrm>
          <a:prstGeom prst="straightConnector1">
            <a:avLst/>
          </a:prstGeom>
          <a:noFill/>
          <a:ln w="5715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61" name="Google Shape;161;p4"/>
          <p:cNvCxnSpPr/>
          <p:nvPr/>
        </p:nvCxnSpPr>
        <p:spPr>
          <a:xfrm>
            <a:off x="5266518" y="2554147"/>
            <a:ext cx="0" cy="373996"/>
          </a:xfrm>
          <a:prstGeom prst="straightConnector1">
            <a:avLst/>
          </a:prstGeom>
          <a:noFill/>
          <a:ln w="57150" cap="flat" cmpd="sng">
            <a:solidFill>
              <a:srgbClr val="B3C6E7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62" name="Google Shape;162;p4"/>
          <p:cNvCxnSpPr/>
          <p:nvPr/>
        </p:nvCxnSpPr>
        <p:spPr>
          <a:xfrm>
            <a:off x="6652511" y="2554147"/>
            <a:ext cx="0" cy="373996"/>
          </a:xfrm>
          <a:prstGeom prst="straightConnector1">
            <a:avLst/>
          </a:prstGeom>
          <a:noFill/>
          <a:ln w="57150" cap="flat" cmpd="sng">
            <a:solidFill>
              <a:srgbClr val="B3C6E7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63" name="Google Shape;163;p4"/>
          <p:cNvCxnSpPr/>
          <p:nvPr/>
        </p:nvCxnSpPr>
        <p:spPr>
          <a:xfrm>
            <a:off x="8078435" y="2554146"/>
            <a:ext cx="0" cy="373996"/>
          </a:xfrm>
          <a:prstGeom prst="straightConnector1">
            <a:avLst/>
          </a:prstGeom>
          <a:noFill/>
          <a:ln w="57150" cap="flat" cmpd="sng">
            <a:solidFill>
              <a:srgbClr val="B3C6E7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pSp>
        <p:nvGrpSpPr>
          <p:cNvPr id="121" name="Google Shape;121;p4"/>
          <p:cNvGrpSpPr/>
          <p:nvPr/>
        </p:nvGrpSpPr>
        <p:grpSpPr>
          <a:xfrm>
            <a:off x="628650" y="1603991"/>
            <a:ext cx="7886699" cy="951949"/>
            <a:chOff x="0" y="1053293"/>
            <a:chExt cx="10515598" cy="1269265"/>
          </a:xfrm>
        </p:grpSpPr>
        <p:sp>
          <p:nvSpPr>
            <p:cNvPr id="122" name="Google Shape;122;p4"/>
            <p:cNvSpPr/>
            <p:nvPr/>
          </p:nvSpPr>
          <p:spPr>
            <a:xfrm>
              <a:off x="0" y="1053293"/>
              <a:ext cx="1314449" cy="1269265"/>
            </a:xfrm>
            <a:prstGeom prst="roundRect">
              <a:avLst>
                <a:gd name="adj" fmla="val 10000"/>
              </a:avLst>
            </a:prstGeom>
            <a:solidFill>
              <a:srgbClr val="4372C3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23" name="Google Shape;123;p4"/>
            <p:cNvSpPr txBox="1"/>
            <p:nvPr/>
          </p:nvSpPr>
          <p:spPr>
            <a:xfrm>
              <a:off x="37176" y="1090469"/>
              <a:ext cx="1240097" cy="11949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2863" tIns="42863" rIns="42863" bIns="42863" anchor="ctr" anchorCtr="0">
              <a:noAutofit/>
            </a:bodyPr>
            <a:lstStyle/>
            <a:p>
              <a:pPr algn="ctr">
                <a:lnSpc>
                  <a:spcPct val="90000"/>
                </a:lnSpc>
                <a:buClr>
                  <a:schemeClr val="lt1"/>
                </a:buClr>
                <a:buSzPts val="1500"/>
              </a:pPr>
              <a:r>
                <a:rPr lang="en-GB" sz="1125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Single cycle processor skeleton</a:t>
              </a:r>
              <a:endParaRPr sz="1125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" name="Google Shape;124;p4"/>
            <p:cNvSpPr/>
            <p:nvPr/>
          </p:nvSpPr>
          <p:spPr>
            <a:xfrm>
              <a:off x="1445895" y="1524934"/>
              <a:ext cx="278663" cy="325983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ABBADE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25" name="Google Shape;125;p4"/>
            <p:cNvSpPr txBox="1"/>
            <p:nvPr/>
          </p:nvSpPr>
          <p:spPr>
            <a:xfrm>
              <a:off x="1445895" y="1590131"/>
              <a:ext cx="195064" cy="1955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  <a:buClr>
                  <a:schemeClr val="dk1"/>
                </a:buClr>
                <a:buSzPts val="1200"/>
              </a:pPr>
              <a:endParaRPr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" name="Google Shape;126;p4"/>
            <p:cNvSpPr/>
            <p:nvPr/>
          </p:nvSpPr>
          <p:spPr>
            <a:xfrm>
              <a:off x="1840230" y="1053293"/>
              <a:ext cx="1314449" cy="1269265"/>
            </a:xfrm>
            <a:prstGeom prst="roundRect">
              <a:avLst>
                <a:gd name="adj" fmla="val 10000"/>
              </a:avLst>
            </a:prstGeom>
            <a:solidFill>
              <a:srgbClr val="4372C3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27" name="Google Shape;127;p4"/>
            <p:cNvSpPr txBox="1"/>
            <p:nvPr/>
          </p:nvSpPr>
          <p:spPr>
            <a:xfrm>
              <a:off x="1877406" y="1090469"/>
              <a:ext cx="1240097" cy="11949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2863" tIns="42863" rIns="42863" bIns="42863" anchor="ctr" anchorCtr="0">
              <a:noAutofit/>
            </a:bodyPr>
            <a:lstStyle/>
            <a:p>
              <a:pPr algn="ctr">
                <a:lnSpc>
                  <a:spcPct val="90000"/>
                </a:lnSpc>
                <a:buClr>
                  <a:schemeClr val="lt1"/>
                </a:buClr>
                <a:buSzPts val="1500"/>
              </a:pPr>
              <a:r>
                <a:rPr lang="en-GB" sz="1125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Functional single cycle processor</a:t>
              </a:r>
              <a:endParaRPr sz="1125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" name="Google Shape;128;p4"/>
            <p:cNvSpPr/>
            <p:nvPr/>
          </p:nvSpPr>
          <p:spPr>
            <a:xfrm>
              <a:off x="3286125" y="1524934"/>
              <a:ext cx="278663" cy="325983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ABBADE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29" name="Google Shape;129;p4"/>
            <p:cNvSpPr txBox="1"/>
            <p:nvPr/>
          </p:nvSpPr>
          <p:spPr>
            <a:xfrm>
              <a:off x="3286125" y="1590131"/>
              <a:ext cx="195064" cy="1955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  <a:buClr>
                  <a:schemeClr val="dk1"/>
                </a:buClr>
                <a:buSzPts val="1200"/>
              </a:pPr>
              <a:endParaRPr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" name="Google Shape;130;p4"/>
            <p:cNvSpPr/>
            <p:nvPr/>
          </p:nvSpPr>
          <p:spPr>
            <a:xfrm>
              <a:off x="3680460" y="1053293"/>
              <a:ext cx="1314449" cy="1269265"/>
            </a:xfrm>
            <a:prstGeom prst="roundRect">
              <a:avLst>
                <a:gd name="adj" fmla="val 10000"/>
              </a:avLst>
            </a:prstGeom>
            <a:solidFill>
              <a:srgbClr val="4372C3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31" name="Google Shape;131;p4"/>
            <p:cNvSpPr txBox="1"/>
            <p:nvPr/>
          </p:nvSpPr>
          <p:spPr>
            <a:xfrm>
              <a:off x="3717636" y="1090469"/>
              <a:ext cx="1240097" cy="11949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2863" tIns="42863" rIns="42863" bIns="42863" anchor="ctr" anchorCtr="0">
              <a:noAutofit/>
            </a:bodyPr>
            <a:lstStyle/>
            <a:p>
              <a:pPr algn="ctr">
                <a:lnSpc>
                  <a:spcPct val="90000"/>
                </a:lnSpc>
                <a:buClr>
                  <a:schemeClr val="lt1"/>
                </a:buClr>
                <a:buSzPts val="1500"/>
              </a:pPr>
              <a:r>
                <a:rPr lang="en-GB" sz="1125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Single cycle processor with multiplication</a:t>
              </a:r>
              <a:endParaRPr sz="1125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" name="Google Shape;132;p4"/>
            <p:cNvSpPr/>
            <p:nvPr/>
          </p:nvSpPr>
          <p:spPr>
            <a:xfrm>
              <a:off x="5126355" y="1524934"/>
              <a:ext cx="278663" cy="325983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ABBADE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33" name="Google Shape;133;p4"/>
            <p:cNvSpPr txBox="1"/>
            <p:nvPr/>
          </p:nvSpPr>
          <p:spPr>
            <a:xfrm>
              <a:off x="5126355" y="1590131"/>
              <a:ext cx="195064" cy="1955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  <a:buClr>
                  <a:schemeClr val="dk1"/>
                </a:buClr>
                <a:buSzPts val="1200"/>
              </a:pPr>
              <a:endParaRPr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" name="Google Shape;134;p4"/>
            <p:cNvSpPr/>
            <p:nvPr/>
          </p:nvSpPr>
          <p:spPr>
            <a:xfrm>
              <a:off x="5520690" y="1053293"/>
              <a:ext cx="1314449" cy="1269265"/>
            </a:xfrm>
            <a:prstGeom prst="roundRect">
              <a:avLst>
                <a:gd name="adj" fmla="val 10000"/>
              </a:avLst>
            </a:prstGeom>
            <a:solidFill>
              <a:srgbClr val="B3C6E7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35" name="Google Shape;135;p4"/>
            <p:cNvSpPr txBox="1"/>
            <p:nvPr/>
          </p:nvSpPr>
          <p:spPr>
            <a:xfrm>
              <a:off x="5557866" y="1090469"/>
              <a:ext cx="1240097" cy="11949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2863" tIns="42863" rIns="42863" bIns="42863" anchor="ctr" anchorCtr="0">
              <a:noAutofit/>
            </a:bodyPr>
            <a:lstStyle/>
            <a:p>
              <a:pPr algn="ctr">
                <a:lnSpc>
                  <a:spcPct val="90000"/>
                </a:lnSpc>
                <a:buClr>
                  <a:schemeClr val="lt1"/>
                </a:buClr>
                <a:buSzPts val="1500"/>
              </a:pPr>
              <a:r>
                <a:rPr lang="en-GB" sz="1125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Pipelined processor</a:t>
              </a:r>
              <a:endParaRPr sz="1125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" name="Google Shape;136;p4"/>
            <p:cNvSpPr/>
            <p:nvPr/>
          </p:nvSpPr>
          <p:spPr>
            <a:xfrm>
              <a:off x="6966585" y="1524934"/>
              <a:ext cx="278663" cy="325983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ABBADE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37" name="Google Shape;137;p4"/>
            <p:cNvSpPr txBox="1"/>
            <p:nvPr/>
          </p:nvSpPr>
          <p:spPr>
            <a:xfrm>
              <a:off x="6966585" y="1590131"/>
              <a:ext cx="195064" cy="1955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  <a:buClr>
                  <a:schemeClr val="dk1"/>
                </a:buClr>
                <a:buSzPts val="1200"/>
              </a:pPr>
              <a:endParaRPr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" name="Google Shape;138;p4"/>
            <p:cNvSpPr/>
            <p:nvPr/>
          </p:nvSpPr>
          <p:spPr>
            <a:xfrm>
              <a:off x="7360920" y="1053293"/>
              <a:ext cx="1314449" cy="1269265"/>
            </a:xfrm>
            <a:prstGeom prst="roundRect">
              <a:avLst>
                <a:gd name="adj" fmla="val 10000"/>
              </a:avLst>
            </a:prstGeom>
            <a:solidFill>
              <a:srgbClr val="B3C6E7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39" name="Google Shape;139;p4"/>
            <p:cNvSpPr txBox="1"/>
            <p:nvPr/>
          </p:nvSpPr>
          <p:spPr>
            <a:xfrm>
              <a:off x="7398096" y="1090469"/>
              <a:ext cx="1240097" cy="11949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2863" tIns="42863" rIns="42863" bIns="42863" anchor="ctr" anchorCtr="0">
              <a:noAutofit/>
            </a:bodyPr>
            <a:lstStyle/>
            <a:p>
              <a:pPr algn="ctr">
                <a:lnSpc>
                  <a:spcPct val="90000"/>
                </a:lnSpc>
                <a:buClr>
                  <a:schemeClr val="lt1"/>
                </a:buClr>
                <a:buSzPts val="1500"/>
              </a:pPr>
              <a:r>
                <a:rPr lang="en-GB" sz="1125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Pipelined processor with data hazard resolution</a:t>
              </a:r>
              <a:endParaRPr sz="1125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" name="Google Shape;140;p4"/>
            <p:cNvSpPr/>
            <p:nvPr/>
          </p:nvSpPr>
          <p:spPr>
            <a:xfrm>
              <a:off x="8806814" y="1524934"/>
              <a:ext cx="278663" cy="325983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ABBADE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41" name="Google Shape;141;p4"/>
            <p:cNvSpPr txBox="1"/>
            <p:nvPr/>
          </p:nvSpPr>
          <p:spPr>
            <a:xfrm>
              <a:off x="8806814" y="1590131"/>
              <a:ext cx="195064" cy="1955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  <a:buClr>
                  <a:schemeClr val="dk1"/>
                </a:buClr>
                <a:buSzPts val="1200"/>
              </a:pPr>
              <a:endParaRPr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" name="Google Shape;142;p4"/>
            <p:cNvSpPr/>
            <p:nvPr/>
          </p:nvSpPr>
          <p:spPr>
            <a:xfrm>
              <a:off x="9201149" y="1053293"/>
              <a:ext cx="1314449" cy="1269265"/>
            </a:xfrm>
            <a:prstGeom prst="roundRect">
              <a:avLst>
                <a:gd name="adj" fmla="val 10000"/>
              </a:avLst>
            </a:prstGeom>
            <a:solidFill>
              <a:srgbClr val="B3C6E7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43" name="Google Shape;143;p4"/>
            <p:cNvSpPr txBox="1"/>
            <p:nvPr/>
          </p:nvSpPr>
          <p:spPr>
            <a:xfrm>
              <a:off x="9238325" y="1090469"/>
              <a:ext cx="1240097" cy="11949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2863" tIns="42863" rIns="42863" bIns="42863" anchor="ctr" anchorCtr="0">
              <a:noAutofit/>
            </a:bodyPr>
            <a:lstStyle/>
            <a:p>
              <a:pPr algn="ctr">
                <a:lnSpc>
                  <a:spcPct val="90000"/>
                </a:lnSpc>
                <a:buClr>
                  <a:schemeClr val="lt1"/>
                </a:buClr>
                <a:buSzPts val="1500"/>
              </a:pPr>
              <a:r>
                <a:rPr lang="en-GB" sz="1125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Advanced acceleration </a:t>
              </a:r>
              <a:endParaRPr sz="1125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5" name="Google Shape;305;p13">
            <a:extLst>
              <a:ext uri="{FF2B5EF4-FFF2-40B4-BE49-F238E27FC236}">
                <a16:creationId xmlns:a16="http://schemas.microsoft.com/office/drawing/2014/main" id="{197E8DEF-9710-D971-1995-10DA669C5CE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34925" y="4163303"/>
            <a:ext cx="590220" cy="59022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306;p13">
            <a:extLst>
              <a:ext uri="{FF2B5EF4-FFF2-40B4-BE49-F238E27FC236}">
                <a16:creationId xmlns:a16="http://schemas.microsoft.com/office/drawing/2014/main" id="{4BF32D45-9167-5D5F-1260-3B8DA0CD516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10867" y="4163302"/>
            <a:ext cx="590220" cy="59022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308;p13">
            <a:extLst>
              <a:ext uri="{FF2B5EF4-FFF2-40B4-BE49-F238E27FC236}">
                <a16:creationId xmlns:a16="http://schemas.microsoft.com/office/drawing/2014/main" id="{3FCA85AD-39A2-B9D7-0ADF-B77FA25BEB4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26221" y="4169905"/>
            <a:ext cx="590220" cy="59022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57;p4">
            <a:extLst>
              <a:ext uri="{FF2B5EF4-FFF2-40B4-BE49-F238E27FC236}">
                <a16:creationId xmlns:a16="http://schemas.microsoft.com/office/drawing/2014/main" id="{92D95964-2695-06ED-21BE-7F5B3EF4F22D}"/>
              </a:ext>
            </a:extLst>
          </p:cNvPr>
          <p:cNvSpPr/>
          <p:nvPr/>
        </p:nvSpPr>
        <p:spPr>
          <a:xfrm>
            <a:off x="2129689" y="2938126"/>
            <a:ext cx="6494467" cy="395207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r>
              <a:rPr lang="en-GB"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Simulation</a:t>
            </a: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158;p4">
            <a:extLst>
              <a:ext uri="{FF2B5EF4-FFF2-40B4-BE49-F238E27FC236}">
                <a16:creationId xmlns:a16="http://schemas.microsoft.com/office/drawing/2014/main" id="{4DBD5539-C596-FFCD-C097-314A1AB05036}"/>
              </a:ext>
            </a:extLst>
          </p:cNvPr>
          <p:cNvSpPr/>
          <p:nvPr/>
        </p:nvSpPr>
        <p:spPr>
          <a:xfrm>
            <a:off x="2135180" y="3274100"/>
            <a:ext cx="6488978" cy="391397"/>
          </a:xfrm>
          <a:prstGeom prst="roundRect">
            <a:avLst>
              <a:gd name="adj" fmla="val 16667"/>
            </a:avLst>
          </a:prstGeom>
          <a:solidFill>
            <a:schemeClr val="accent6">
              <a:lumMod val="40000"/>
              <a:lumOff val="60000"/>
            </a:schemeClr>
          </a:solidFill>
          <a:ln w="12700" cap="flat" cmpd="sng">
            <a:solidFill>
              <a:srgbClr val="517E3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r>
              <a:rPr lang="en-GB" sz="135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Backend flow (synthesis-only)</a:t>
            </a:r>
            <a:endParaRPr lang="en-US" sz="135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" name="Google Shape;158;p4">
            <a:extLst>
              <a:ext uri="{FF2B5EF4-FFF2-40B4-BE49-F238E27FC236}">
                <a16:creationId xmlns:a16="http://schemas.microsoft.com/office/drawing/2014/main" id="{C3EE7B30-53EA-7CE5-949F-278E82E15B63}"/>
              </a:ext>
            </a:extLst>
          </p:cNvPr>
          <p:cNvSpPr/>
          <p:nvPr/>
        </p:nvSpPr>
        <p:spPr>
          <a:xfrm>
            <a:off x="2124851" y="3425949"/>
            <a:ext cx="2218125" cy="391397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 w="12700" cap="flat" cmpd="sng">
            <a:solidFill>
              <a:srgbClr val="517E3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r>
              <a:rPr lang="en-GB"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Backend flow (basic)</a:t>
            </a: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20;p4">
            <a:extLst>
              <a:ext uri="{FF2B5EF4-FFF2-40B4-BE49-F238E27FC236}">
                <a16:creationId xmlns:a16="http://schemas.microsoft.com/office/drawing/2014/main" id="{85A3CFCF-E8C0-C042-308D-E4D0D6936E9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" y="5286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rmAutofit/>
          </a:bodyPr>
          <a:lstStyle/>
          <a:p>
            <a:pPr>
              <a:buSzPts val="4400"/>
            </a:pPr>
            <a:r>
              <a:rPr lang="en-GB"/>
              <a:t>Last session recap</a:t>
            </a:r>
            <a:endParaRPr/>
          </a:p>
        </p:txBody>
      </p:sp>
      <p:sp>
        <p:nvSpPr>
          <p:cNvPr id="19" name="Google Shape;148;p4">
            <a:extLst>
              <a:ext uri="{FF2B5EF4-FFF2-40B4-BE49-F238E27FC236}">
                <a16:creationId xmlns:a16="http://schemas.microsoft.com/office/drawing/2014/main" id="{3080C2C2-2259-8268-98ED-A7384F9CEAF8}"/>
              </a:ext>
            </a:extLst>
          </p:cNvPr>
          <p:cNvSpPr txBox="1"/>
          <p:nvPr/>
        </p:nvSpPr>
        <p:spPr>
          <a:xfrm>
            <a:off x="2277283" y="869989"/>
            <a:ext cx="1785838" cy="346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algn="ctr"/>
            <a:r>
              <a:rPr lang="en-GB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Session 1</a:t>
            </a:r>
            <a:endParaRPr sz="1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149;p4">
            <a:extLst>
              <a:ext uri="{FF2B5EF4-FFF2-40B4-BE49-F238E27FC236}">
                <a16:creationId xmlns:a16="http://schemas.microsoft.com/office/drawing/2014/main" id="{9E570D9A-E84D-F24B-E27B-BD613148DF83}"/>
              </a:ext>
            </a:extLst>
          </p:cNvPr>
          <p:cNvSpPr txBox="1"/>
          <p:nvPr/>
        </p:nvSpPr>
        <p:spPr>
          <a:xfrm>
            <a:off x="5065168" y="889783"/>
            <a:ext cx="1785838" cy="346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algn="ctr"/>
            <a:r>
              <a:rPr lang="en-GB" sz="1800" b="1">
                <a:solidFill>
                  <a:schemeClr val="bg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Session 2</a:t>
            </a:r>
            <a:endParaRPr sz="1800" b="1">
              <a:solidFill>
                <a:schemeClr val="bg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150;p4">
            <a:extLst>
              <a:ext uri="{FF2B5EF4-FFF2-40B4-BE49-F238E27FC236}">
                <a16:creationId xmlns:a16="http://schemas.microsoft.com/office/drawing/2014/main" id="{732F8727-CB54-3C6D-23A1-34CD8B91EF71}"/>
              </a:ext>
            </a:extLst>
          </p:cNvPr>
          <p:cNvSpPr txBox="1"/>
          <p:nvPr/>
        </p:nvSpPr>
        <p:spPr>
          <a:xfrm>
            <a:off x="7115701" y="889783"/>
            <a:ext cx="1785838" cy="346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algn="ctr"/>
            <a:r>
              <a:rPr lang="en-GB" sz="1800" b="1">
                <a:solidFill>
                  <a:schemeClr val="bg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Session 3</a:t>
            </a:r>
            <a:endParaRPr sz="1800" b="1">
              <a:solidFill>
                <a:schemeClr val="bg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1F76498-4EE9-2874-1A0B-23066A0B500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smtClean="0"/>
              <a:pPr/>
              <a:t>3</a:t>
            </a:fld>
            <a:endParaRPr lang="en-GB"/>
          </a:p>
        </p:txBody>
      </p:sp>
      <p:sp>
        <p:nvSpPr>
          <p:cNvPr id="17" name="TextBox 7">
            <a:extLst>
              <a:ext uri="{FF2B5EF4-FFF2-40B4-BE49-F238E27FC236}">
                <a16:creationId xmlns:a16="http://schemas.microsoft.com/office/drawing/2014/main" id="{41DDDCCA-1E3F-6D67-29DD-3BB7A9DBC9E4}"/>
              </a:ext>
            </a:extLst>
          </p:cNvPr>
          <p:cNvSpPr txBox="1"/>
          <p:nvPr/>
        </p:nvSpPr>
        <p:spPr>
          <a:xfrm>
            <a:off x="2546757" y="1133979"/>
            <a:ext cx="126953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[Mar-04/05]</a:t>
            </a:r>
          </a:p>
        </p:txBody>
      </p:sp>
    </p:spTree>
    <p:extLst>
      <p:ext uri="{BB962C8B-B14F-4D97-AF65-F5344CB8AC3E}">
        <p14:creationId xmlns:p14="http://schemas.microsoft.com/office/powerpoint/2010/main" val="33919186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3"/>
          <p:cNvSpPr txBox="1">
            <a:spLocks noGrp="1"/>
          </p:cNvSpPr>
          <p:nvPr>
            <p:ph type="body" idx="1"/>
          </p:nvPr>
        </p:nvSpPr>
        <p:spPr>
          <a:xfrm>
            <a:off x="607741" y="1257707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</a:pPr>
            <a:r>
              <a:rPr lang="en-US" b="0" strike="noStrike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Single-cycle Processor</a:t>
            </a:r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>
              <a:solidFill>
                <a:srgbClr val="000000"/>
              </a:solidFill>
              <a:latin typeface="Calibri" panose="020F0502020204030204" pitchFamily="34" charset="0"/>
              <a:ea typeface="Arial"/>
              <a:cs typeface="Calibri" panose="020F0502020204030204" pitchFamily="34" charset="0"/>
              <a:sym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 b="0" strike="noStrike">
              <a:solidFill>
                <a:srgbClr val="000000"/>
              </a:solidFill>
              <a:latin typeface="Calibri" panose="020F0502020204030204" pitchFamily="34" charset="0"/>
              <a:ea typeface="Arial"/>
              <a:cs typeface="Calibri" panose="020F0502020204030204" pitchFamily="34" charset="0"/>
              <a:sym typeface="Arial"/>
            </a:endParaRPr>
          </a:p>
          <a:p>
            <a:pPr marL="171450" lvl="0" indent="-1714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✔"/>
            </a:pP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 </a:t>
            </a:r>
            <a:r>
              <a:rPr lang="en-US" err="1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Simple_program</a:t>
            </a:r>
            <a:endParaRPr>
              <a:solidFill>
                <a:srgbClr val="000000"/>
              </a:solidFill>
              <a:latin typeface="Calibri" panose="020F0502020204030204" pitchFamily="34" charset="0"/>
              <a:ea typeface="Arial"/>
              <a:cs typeface="Calibri" panose="020F0502020204030204" pitchFamily="34" charset="0"/>
              <a:sym typeface="Arial"/>
            </a:endParaRPr>
          </a:p>
          <a:p>
            <a:pPr marL="171450" lvl="0" indent="-1714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✔"/>
            </a:pP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 Mult1</a:t>
            </a:r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1450" lvl="0" indent="-1714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✔"/>
            </a:pPr>
            <a:r>
              <a:rPr lang="en-US" b="0" strike="noStrike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 Mult2</a:t>
            </a:r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65" name="Google Shape;365;p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4</a:t>
            </a:fld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66" name="Google Shape;366;p3"/>
          <p:cNvPicPr preferRelativeResize="0">
            <a:picLocks noGrp="1"/>
          </p:cNvPicPr>
          <p:nvPr>
            <p:ph type="body" idx="2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4045097" y="693538"/>
            <a:ext cx="4825705" cy="3756423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3"/>
          <p:cNvSpPr txBox="1"/>
          <p:nvPr/>
        </p:nvSpPr>
        <p:spPr>
          <a:xfrm>
            <a:off x="704475" y="4093652"/>
            <a:ext cx="3061500" cy="38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20" b="1" i="1">
                <a:solidFill>
                  <a:srgbClr val="E06666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Prerequisite for this session!</a:t>
            </a:r>
            <a:endParaRPr sz="1920" b="1" i="1">
              <a:solidFill>
                <a:srgbClr val="E06666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2" name="Google Shape;120;p4">
            <a:extLst>
              <a:ext uri="{FF2B5EF4-FFF2-40B4-BE49-F238E27FC236}">
                <a16:creationId xmlns:a16="http://schemas.microsoft.com/office/drawing/2014/main" id="{9A9B0842-7305-5215-BFCF-92B5DC85940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" y="5286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rmAutofit/>
          </a:bodyPr>
          <a:lstStyle/>
          <a:p>
            <a:pPr>
              <a:buSzPts val="4400"/>
            </a:pPr>
            <a:r>
              <a:rPr lang="en-GB"/>
              <a:t>Last session recap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Google Shape;118;p4">
            <a:extLst>
              <a:ext uri="{FF2B5EF4-FFF2-40B4-BE49-F238E27FC236}">
                <a16:creationId xmlns:a16="http://schemas.microsoft.com/office/drawing/2014/main" id="{2B727E9D-C2C9-FCDB-0AEC-2010FFD45BBE}"/>
              </a:ext>
            </a:extLst>
          </p:cNvPr>
          <p:cNvCxnSpPr>
            <a:cxnSpLocks/>
          </p:cNvCxnSpPr>
          <p:nvPr/>
        </p:nvCxnSpPr>
        <p:spPr>
          <a:xfrm>
            <a:off x="5330198" y="3355892"/>
            <a:ext cx="0" cy="649796"/>
          </a:xfrm>
          <a:prstGeom prst="straightConnector1">
            <a:avLst/>
          </a:prstGeom>
          <a:noFill/>
          <a:ln w="571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4" name="Google Shape;168;p4">
            <a:extLst>
              <a:ext uri="{FF2B5EF4-FFF2-40B4-BE49-F238E27FC236}">
                <a16:creationId xmlns:a16="http://schemas.microsoft.com/office/drawing/2014/main" id="{DF4D94DA-38A4-2FAB-A699-4D81AF4B20E9}"/>
              </a:ext>
            </a:extLst>
          </p:cNvPr>
          <p:cNvCxnSpPr>
            <a:cxnSpLocks/>
          </p:cNvCxnSpPr>
          <p:nvPr/>
        </p:nvCxnSpPr>
        <p:spPr>
          <a:xfrm>
            <a:off x="5138406" y="3669306"/>
            <a:ext cx="0" cy="324000"/>
          </a:xfrm>
          <a:prstGeom prst="straightConnector1">
            <a:avLst/>
          </a:prstGeom>
          <a:noFill/>
          <a:ln w="57150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9" name="Google Shape;155;p4">
            <a:extLst>
              <a:ext uri="{FF2B5EF4-FFF2-40B4-BE49-F238E27FC236}">
                <a16:creationId xmlns:a16="http://schemas.microsoft.com/office/drawing/2014/main" id="{88BBAF96-C2BC-51DB-D813-6D036B11652B}"/>
              </a:ext>
            </a:extLst>
          </p:cNvPr>
          <p:cNvCxnSpPr>
            <a:cxnSpLocks/>
          </p:cNvCxnSpPr>
          <p:nvPr/>
        </p:nvCxnSpPr>
        <p:spPr>
          <a:xfrm>
            <a:off x="4020407" y="3333226"/>
            <a:ext cx="0" cy="659825"/>
          </a:xfrm>
          <a:prstGeom prst="straightConnector1">
            <a:avLst/>
          </a:prstGeom>
          <a:noFill/>
          <a:ln w="571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0" name="Google Shape;168;p4">
            <a:extLst>
              <a:ext uri="{FF2B5EF4-FFF2-40B4-BE49-F238E27FC236}">
                <a16:creationId xmlns:a16="http://schemas.microsoft.com/office/drawing/2014/main" id="{02494D52-AA22-2073-50F0-8EE692E15461}"/>
              </a:ext>
            </a:extLst>
          </p:cNvPr>
          <p:cNvCxnSpPr>
            <a:cxnSpLocks/>
          </p:cNvCxnSpPr>
          <p:nvPr/>
        </p:nvCxnSpPr>
        <p:spPr>
          <a:xfrm>
            <a:off x="3839339" y="3660371"/>
            <a:ext cx="0" cy="324000"/>
          </a:xfrm>
          <a:prstGeom prst="straightConnector1">
            <a:avLst/>
          </a:prstGeom>
          <a:noFill/>
          <a:ln w="57150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1" name="Google Shape;118;p4">
            <a:extLst>
              <a:ext uri="{FF2B5EF4-FFF2-40B4-BE49-F238E27FC236}">
                <a16:creationId xmlns:a16="http://schemas.microsoft.com/office/drawing/2014/main" id="{D0F4864D-BB27-DADB-60AA-3A338CBACB9E}"/>
              </a:ext>
            </a:extLst>
          </p:cNvPr>
          <p:cNvCxnSpPr>
            <a:cxnSpLocks/>
          </p:cNvCxnSpPr>
          <p:nvPr/>
        </p:nvCxnSpPr>
        <p:spPr>
          <a:xfrm>
            <a:off x="6789851" y="3343255"/>
            <a:ext cx="0" cy="649796"/>
          </a:xfrm>
          <a:prstGeom prst="straightConnector1">
            <a:avLst/>
          </a:prstGeom>
          <a:noFill/>
          <a:ln w="571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2" name="Google Shape;119;p4">
            <a:extLst>
              <a:ext uri="{FF2B5EF4-FFF2-40B4-BE49-F238E27FC236}">
                <a16:creationId xmlns:a16="http://schemas.microsoft.com/office/drawing/2014/main" id="{97457FF3-BABD-BD1F-8827-C3D0CA0A7986}"/>
              </a:ext>
            </a:extLst>
          </p:cNvPr>
          <p:cNvCxnSpPr>
            <a:cxnSpLocks/>
          </p:cNvCxnSpPr>
          <p:nvPr/>
        </p:nvCxnSpPr>
        <p:spPr>
          <a:xfrm>
            <a:off x="8181490" y="3355892"/>
            <a:ext cx="11886" cy="637158"/>
          </a:xfrm>
          <a:prstGeom prst="straightConnector1">
            <a:avLst/>
          </a:prstGeom>
          <a:noFill/>
          <a:ln w="571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3" name="Google Shape;155;p4">
            <a:extLst>
              <a:ext uri="{FF2B5EF4-FFF2-40B4-BE49-F238E27FC236}">
                <a16:creationId xmlns:a16="http://schemas.microsoft.com/office/drawing/2014/main" id="{64C46789-7C96-BFFE-3EE2-65F7C3C417E7}"/>
              </a:ext>
            </a:extLst>
          </p:cNvPr>
          <p:cNvCxnSpPr>
            <a:cxnSpLocks/>
          </p:cNvCxnSpPr>
          <p:nvPr/>
        </p:nvCxnSpPr>
        <p:spPr>
          <a:xfrm>
            <a:off x="2553838" y="3333332"/>
            <a:ext cx="0" cy="659825"/>
          </a:xfrm>
          <a:prstGeom prst="straightConnector1">
            <a:avLst/>
          </a:prstGeom>
          <a:noFill/>
          <a:ln w="571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4" name="Google Shape;168;p4">
            <a:extLst>
              <a:ext uri="{FF2B5EF4-FFF2-40B4-BE49-F238E27FC236}">
                <a16:creationId xmlns:a16="http://schemas.microsoft.com/office/drawing/2014/main" id="{31AA6BF2-0690-F947-D977-953DCB23CD43}"/>
              </a:ext>
            </a:extLst>
          </p:cNvPr>
          <p:cNvCxnSpPr>
            <a:cxnSpLocks/>
          </p:cNvCxnSpPr>
          <p:nvPr/>
        </p:nvCxnSpPr>
        <p:spPr>
          <a:xfrm>
            <a:off x="6598059" y="3656669"/>
            <a:ext cx="0" cy="324000"/>
          </a:xfrm>
          <a:prstGeom prst="straightConnector1">
            <a:avLst/>
          </a:prstGeom>
          <a:noFill/>
          <a:ln w="57150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5" name="Google Shape;169;p4">
            <a:extLst>
              <a:ext uri="{FF2B5EF4-FFF2-40B4-BE49-F238E27FC236}">
                <a16:creationId xmlns:a16="http://schemas.microsoft.com/office/drawing/2014/main" id="{A6EED7C7-3BCC-7170-0051-CC7458DADC6F}"/>
              </a:ext>
            </a:extLst>
          </p:cNvPr>
          <p:cNvCxnSpPr>
            <a:cxnSpLocks/>
          </p:cNvCxnSpPr>
          <p:nvPr/>
        </p:nvCxnSpPr>
        <p:spPr>
          <a:xfrm>
            <a:off x="7989698" y="3669307"/>
            <a:ext cx="0" cy="324000"/>
          </a:xfrm>
          <a:prstGeom prst="straightConnector1">
            <a:avLst/>
          </a:prstGeom>
          <a:noFill/>
          <a:ln w="57150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6" name="Google Shape;168;p4">
            <a:extLst>
              <a:ext uri="{FF2B5EF4-FFF2-40B4-BE49-F238E27FC236}">
                <a16:creationId xmlns:a16="http://schemas.microsoft.com/office/drawing/2014/main" id="{82DC78EA-BC53-6870-490D-020E5B4CB541}"/>
              </a:ext>
            </a:extLst>
          </p:cNvPr>
          <p:cNvCxnSpPr>
            <a:cxnSpLocks/>
          </p:cNvCxnSpPr>
          <p:nvPr/>
        </p:nvCxnSpPr>
        <p:spPr>
          <a:xfrm>
            <a:off x="2372769" y="3660478"/>
            <a:ext cx="0" cy="324000"/>
          </a:xfrm>
          <a:prstGeom prst="straightConnector1">
            <a:avLst/>
          </a:prstGeom>
          <a:noFill/>
          <a:ln w="57150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45" name="Google Shape;145;p4"/>
          <p:cNvCxnSpPr>
            <a:cxnSpLocks/>
          </p:cNvCxnSpPr>
          <p:nvPr/>
        </p:nvCxnSpPr>
        <p:spPr>
          <a:xfrm>
            <a:off x="1803953" y="1040240"/>
            <a:ext cx="0" cy="3807000"/>
          </a:xfrm>
          <a:prstGeom prst="straightConnector1">
            <a:avLst/>
          </a:prstGeom>
          <a:noFill/>
          <a:ln w="57150" cap="flat" cmpd="sng">
            <a:solidFill>
              <a:srgbClr val="FB9937"/>
            </a:solidFill>
            <a:prstDash val="dash"/>
            <a:miter lim="800000"/>
            <a:headEnd type="none" w="sm" len="sm"/>
            <a:tailEnd type="none" w="sm" len="sm"/>
          </a:ln>
        </p:spPr>
      </p:cxnSp>
      <p:cxnSp>
        <p:nvCxnSpPr>
          <p:cNvPr id="146" name="Google Shape;146;p4"/>
          <p:cNvCxnSpPr>
            <a:cxnSpLocks/>
          </p:cNvCxnSpPr>
          <p:nvPr/>
        </p:nvCxnSpPr>
        <p:spPr>
          <a:xfrm>
            <a:off x="4546565" y="1040240"/>
            <a:ext cx="0" cy="3807000"/>
          </a:xfrm>
          <a:prstGeom prst="straightConnector1">
            <a:avLst/>
          </a:prstGeom>
          <a:noFill/>
          <a:ln w="57150" cap="flat" cmpd="sng">
            <a:solidFill>
              <a:srgbClr val="FB9937"/>
            </a:solidFill>
            <a:prstDash val="dash"/>
            <a:miter lim="800000"/>
            <a:headEnd type="none" w="sm" len="sm"/>
            <a:tailEnd type="none" w="sm" len="sm"/>
          </a:ln>
        </p:spPr>
      </p:cxnSp>
      <p:cxnSp>
        <p:nvCxnSpPr>
          <p:cNvPr id="147" name="Google Shape;147;p4"/>
          <p:cNvCxnSpPr>
            <a:cxnSpLocks/>
          </p:cNvCxnSpPr>
          <p:nvPr/>
        </p:nvCxnSpPr>
        <p:spPr>
          <a:xfrm>
            <a:off x="7338259" y="1024642"/>
            <a:ext cx="0" cy="3807000"/>
          </a:xfrm>
          <a:prstGeom prst="straightConnector1">
            <a:avLst/>
          </a:prstGeom>
          <a:noFill/>
          <a:ln w="57150" cap="flat" cmpd="sng">
            <a:solidFill>
              <a:srgbClr val="FB9937"/>
            </a:solidFill>
            <a:prstDash val="dash"/>
            <a:miter lim="800000"/>
            <a:headEnd type="none" w="sm" len="sm"/>
            <a:tailEnd type="none" w="sm" len="sm"/>
          </a:ln>
        </p:spPr>
      </p:cxnSp>
      <p:pic>
        <p:nvPicPr>
          <p:cNvPr id="151" name="Google Shape;151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85137" y="4124038"/>
            <a:ext cx="590220" cy="5902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83859" y="4124038"/>
            <a:ext cx="590220" cy="59022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9" name="Google Shape;159;p4"/>
          <p:cNvCxnSpPr/>
          <p:nvPr/>
        </p:nvCxnSpPr>
        <p:spPr>
          <a:xfrm>
            <a:off x="2522349" y="2554149"/>
            <a:ext cx="0" cy="373996"/>
          </a:xfrm>
          <a:prstGeom prst="straightConnector1">
            <a:avLst/>
          </a:prstGeom>
          <a:noFill/>
          <a:ln w="5715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60" name="Google Shape;160;p4"/>
          <p:cNvCxnSpPr/>
          <p:nvPr/>
        </p:nvCxnSpPr>
        <p:spPr>
          <a:xfrm>
            <a:off x="3865025" y="2554148"/>
            <a:ext cx="0" cy="373996"/>
          </a:xfrm>
          <a:prstGeom prst="straightConnector1">
            <a:avLst/>
          </a:prstGeom>
          <a:noFill/>
          <a:ln w="5715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61" name="Google Shape;161;p4"/>
          <p:cNvCxnSpPr/>
          <p:nvPr/>
        </p:nvCxnSpPr>
        <p:spPr>
          <a:xfrm>
            <a:off x="5266518" y="2554147"/>
            <a:ext cx="0" cy="373996"/>
          </a:xfrm>
          <a:prstGeom prst="straightConnector1">
            <a:avLst/>
          </a:prstGeom>
          <a:noFill/>
          <a:ln w="57150" cap="flat" cmpd="sng">
            <a:solidFill>
              <a:srgbClr val="B3C6E7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62" name="Google Shape;162;p4"/>
          <p:cNvCxnSpPr/>
          <p:nvPr/>
        </p:nvCxnSpPr>
        <p:spPr>
          <a:xfrm>
            <a:off x="6652511" y="2554147"/>
            <a:ext cx="0" cy="373996"/>
          </a:xfrm>
          <a:prstGeom prst="straightConnector1">
            <a:avLst/>
          </a:prstGeom>
          <a:noFill/>
          <a:ln w="57150" cap="flat" cmpd="sng">
            <a:solidFill>
              <a:srgbClr val="B3C6E7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63" name="Google Shape;163;p4"/>
          <p:cNvCxnSpPr/>
          <p:nvPr/>
        </p:nvCxnSpPr>
        <p:spPr>
          <a:xfrm>
            <a:off x="8078435" y="2554146"/>
            <a:ext cx="0" cy="373996"/>
          </a:xfrm>
          <a:prstGeom prst="straightConnector1">
            <a:avLst/>
          </a:prstGeom>
          <a:noFill/>
          <a:ln w="57150" cap="flat" cmpd="sng">
            <a:solidFill>
              <a:srgbClr val="B3C6E7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pSp>
        <p:nvGrpSpPr>
          <p:cNvPr id="121" name="Google Shape;121;p4"/>
          <p:cNvGrpSpPr/>
          <p:nvPr/>
        </p:nvGrpSpPr>
        <p:grpSpPr>
          <a:xfrm>
            <a:off x="628650" y="1603991"/>
            <a:ext cx="7886699" cy="951949"/>
            <a:chOff x="0" y="1053293"/>
            <a:chExt cx="10515598" cy="1269265"/>
          </a:xfrm>
        </p:grpSpPr>
        <p:sp>
          <p:nvSpPr>
            <p:cNvPr id="122" name="Google Shape;122;p4"/>
            <p:cNvSpPr/>
            <p:nvPr/>
          </p:nvSpPr>
          <p:spPr>
            <a:xfrm>
              <a:off x="0" y="1053293"/>
              <a:ext cx="1314449" cy="1269265"/>
            </a:xfrm>
            <a:prstGeom prst="roundRect">
              <a:avLst>
                <a:gd name="adj" fmla="val 10000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23" name="Google Shape;123;p4"/>
            <p:cNvSpPr txBox="1"/>
            <p:nvPr/>
          </p:nvSpPr>
          <p:spPr>
            <a:xfrm>
              <a:off x="37176" y="1090469"/>
              <a:ext cx="1240097" cy="11949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2863" tIns="42863" rIns="42863" bIns="42863" anchor="ctr" anchorCtr="0">
              <a:noAutofit/>
            </a:bodyPr>
            <a:lstStyle/>
            <a:p>
              <a:pPr algn="ctr">
                <a:lnSpc>
                  <a:spcPct val="90000"/>
                </a:lnSpc>
                <a:buClr>
                  <a:schemeClr val="lt1"/>
                </a:buClr>
                <a:buSzPts val="1500"/>
              </a:pPr>
              <a:r>
                <a:rPr lang="en-GB" sz="1125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Single cycle processor skeleton</a:t>
              </a:r>
              <a:endParaRPr sz="1125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" name="Google Shape;124;p4"/>
            <p:cNvSpPr/>
            <p:nvPr/>
          </p:nvSpPr>
          <p:spPr>
            <a:xfrm>
              <a:off x="1445895" y="1524934"/>
              <a:ext cx="278663" cy="325983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ABBADE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25" name="Google Shape;125;p4"/>
            <p:cNvSpPr txBox="1"/>
            <p:nvPr/>
          </p:nvSpPr>
          <p:spPr>
            <a:xfrm>
              <a:off x="1445895" y="1590131"/>
              <a:ext cx="195064" cy="1955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  <a:buClr>
                  <a:schemeClr val="dk1"/>
                </a:buClr>
                <a:buSzPts val="1200"/>
              </a:pPr>
              <a:endParaRPr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" name="Google Shape;126;p4"/>
            <p:cNvSpPr/>
            <p:nvPr/>
          </p:nvSpPr>
          <p:spPr>
            <a:xfrm>
              <a:off x="1840230" y="1053293"/>
              <a:ext cx="1314449" cy="1269265"/>
            </a:xfrm>
            <a:prstGeom prst="roundRect">
              <a:avLst>
                <a:gd name="adj" fmla="val 10000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27" name="Google Shape;127;p4"/>
            <p:cNvSpPr txBox="1"/>
            <p:nvPr/>
          </p:nvSpPr>
          <p:spPr>
            <a:xfrm>
              <a:off x="1877406" y="1090469"/>
              <a:ext cx="1240097" cy="11949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2863" tIns="42863" rIns="42863" bIns="42863" anchor="ctr" anchorCtr="0">
              <a:noAutofit/>
            </a:bodyPr>
            <a:lstStyle/>
            <a:p>
              <a:pPr algn="ctr">
                <a:lnSpc>
                  <a:spcPct val="90000"/>
                </a:lnSpc>
                <a:buClr>
                  <a:schemeClr val="lt1"/>
                </a:buClr>
                <a:buSzPts val="1500"/>
              </a:pPr>
              <a:r>
                <a:rPr lang="en-GB" sz="1125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Functional single cycle processor</a:t>
              </a:r>
              <a:endParaRPr sz="1125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" name="Google Shape;128;p4"/>
            <p:cNvSpPr/>
            <p:nvPr/>
          </p:nvSpPr>
          <p:spPr>
            <a:xfrm>
              <a:off x="3286125" y="1524934"/>
              <a:ext cx="278663" cy="325983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ABBADE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29" name="Google Shape;129;p4"/>
            <p:cNvSpPr txBox="1"/>
            <p:nvPr/>
          </p:nvSpPr>
          <p:spPr>
            <a:xfrm>
              <a:off x="3286125" y="1590131"/>
              <a:ext cx="195064" cy="1955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  <a:buClr>
                  <a:schemeClr val="dk1"/>
                </a:buClr>
                <a:buSzPts val="1200"/>
              </a:pPr>
              <a:endParaRPr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" name="Google Shape;130;p4"/>
            <p:cNvSpPr/>
            <p:nvPr/>
          </p:nvSpPr>
          <p:spPr>
            <a:xfrm>
              <a:off x="3680460" y="1053293"/>
              <a:ext cx="1314449" cy="1269265"/>
            </a:xfrm>
            <a:prstGeom prst="roundRect">
              <a:avLst>
                <a:gd name="adj" fmla="val 10000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31" name="Google Shape;131;p4"/>
            <p:cNvSpPr txBox="1"/>
            <p:nvPr/>
          </p:nvSpPr>
          <p:spPr>
            <a:xfrm>
              <a:off x="3717636" y="1090469"/>
              <a:ext cx="1240097" cy="11949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2863" tIns="42863" rIns="42863" bIns="42863" anchor="ctr" anchorCtr="0">
              <a:noAutofit/>
            </a:bodyPr>
            <a:lstStyle/>
            <a:p>
              <a:pPr algn="ctr">
                <a:lnSpc>
                  <a:spcPct val="90000"/>
                </a:lnSpc>
                <a:buClr>
                  <a:schemeClr val="lt1"/>
                </a:buClr>
                <a:buSzPts val="1500"/>
              </a:pPr>
              <a:r>
                <a:rPr lang="en-GB" sz="1125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Single cycle processor with multiplication</a:t>
              </a:r>
              <a:endParaRPr sz="1125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" name="Google Shape;132;p4"/>
            <p:cNvSpPr/>
            <p:nvPr/>
          </p:nvSpPr>
          <p:spPr>
            <a:xfrm>
              <a:off x="5126355" y="1524934"/>
              <a:ext cx="278663" cy="325983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ABBADE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33" name="Google Shape;133;p4"/>
            <p:cNvSpPr txBox="1"/>
            <p:nvPr/>
          </p:nvSpPr>
          <p:spPr>
            <a:xfrm>
              <a:off x="5126355" y="1590131"/>
              <a:ext cx="195064" cy="1955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  <a:buClr>
                  <a:schemeClr val="dk1"/>
                </a:buClr>
                <a:buSzPts val="1200"/>
              </a:pPr>
              <a:endParaRPr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" name="Google Shape;134;p4"/>
            <p:cNvSpPr/>
            <p:nvPr/>
          </p:nvSpPr>
          <p:spPr>
            <a:xfrm>
              <a:off x="5520690" y="1053293"/>
              <a:ext cx="1314449" cy="1269265"/>
            </a:xfrm>
            <a:prstGeom prst="roundRect">
              <a:avLst>
                <a:gd name="adj" fmla="val 10000"/>
              </a:avLst>
            </a:prstGeom>
            <a:solidFill>
              <a:schemeClr val="accent1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35" name="Google Shape;135;p4"/>
            <p:cNvSpPr txBox="1"/>
            <p:nvPr/>
          </p:nvSpPr>
          <p:spPr>
            <a:xfrm>
              <a:off x="5557866" y="1090469"/>
              <a:ext cx="1240097" cy="11949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2863" tIns="42863" rIns="42863" bIns="42863" anchor="ctr" anchorCtr="0">
              <a:noAutofit/>
            </a:bodyPr>
            <a:lstStyle/>
            <a:p>
              <a:pPr algn="ctr">
                <a:lnSpc>
                  <a:spcPct val="90000"/>
                </a:lnSpc>
                <a:buClr>
                  <a:schemeClr val="lt1"/>
                </a:buClr>
                <a:buSzPts val="1500"/>
              </a:pPr>
              <a:r>
                <a:rPr lang="en-GB" sz="1125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Pipelined processor</a:t>
              </a:r>
              <a:endParaRPr sz="1125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" name="Google Shape;136;p4"/>
            <p:cNvSpPr/>
            <p:nvPr/>
          </p:nvSpPr>
          <p:spPr>
            <a:xfrm>
              <a:off x="6966585" y="1524934"/>
              <a:ext cx="278663" cy="325983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ABBADE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37" name="Google Shape;137;p4"/>
            <p:cNvSpPr txBox="1"/>
            <p:nvPr/>
          </p:nvSpPr>
          <p:spPr>
            <a:xfrm>
              <a:off x="6966585" y="1590131"/>
              <a:ext cx="195064" cy="1955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  <a:buClr>
                  <a:schemeClr val="dk1"/>
                </a:buClr>
                <a:buSzPts val="1200"/>
              </a:pPr>
              <a:endParaRPr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" name="Google Shape;138;p4"/>
            <p:cNvSpPr/>
            <p:nvPr/>
          </p:nvSpPr>
          <p:spPr>
            <a:xfrm>
              <a:off x="7360920" y="1053293"/>
              <a:ext cx="1314449" cy="1269265"/>
            </a:xfrm>
            <a:prstGeom prst="roundRect">
              <a:avLst>
                <a:gd name="adj" fmla="val 10000"/>
              </a:avLst>
            </a:prstGeom>
            <a:solidFill>
              <a:schemeClr val="accent1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39" name="Google Shape;139;p4"/>
            <p:cNvSpPr txBox="1"/>
            <p:nvPr/>
          </p:nvSpPr>
          <p:spPr>
            <a:xfrm>
              <a:off x="7398096" y="1090469"/>
              <a:ext cx="1240097" cy="11949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2863" tIns="42863" rIns="42863" bIns="42863" anchor="ctr" anchorCtr="0">
              <a:noAutofit/>
            </a:bodyPr>
            <a:lstStyle/>
            <a:p>
              <a:pPr algn="ctr">
                <a:lnSpc>
                  <a:spcPct val="90000"/>
                </a:lnSpc>
                <a:buClr>
                  <a:schemeClr val="lt1"/>
                </a:buClr>
                <a:buSzPts val="1500"/>
              </a:pPr>
              <a:r>
                <a:rPr lang="en-GB" sz="1125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Pipelined processor with data hazard resolution</a:t>
              </a:r>
              <a:endParaRPr sz="1125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" name="Google Shape;140;p4"/>
            <p:cNvSpPr/>
            <p:nvPr/>
          </p:nvSpPr>
          <p:spPr>
            <a:xfrm>
              <a:off x="8806814" y="1524934"/>
              <a:ext cx="278663" cy="325983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ABBADE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41" name="Google Shape;141;p4"/>
            <p:cNvSpPr txBox="1"/>
            <p:nvPr/>
          </p:nvSpPr>
          <p:spPr>
            <a:xfrm>
              <a:off x="8806814" y="1590131"/>
              <a:ext cx="195064" cy="1955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  <a:buClr>
                  <a:schemeClr val="dk1"/>
                </a:buClr>
                <a:buSzPts val="1200"/>
              </a:pPr>
              <a:endParaRPr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" name="Google Shape;142;p4"/>
            <p:cNvSpPr/>
            <p:nvPr/>
          </p:nvSpPr>
          <p:spPr>
            <a:xfrm>
              <a:off x="9201149" y="1053293"/>
              <a:ext cx="1314449" cy="1269265"/>
            </a:xfrm>
            <a:prstGeom prst="roundRect">
              <a:avLst>
                <a:gd name="adj" fmla="val 10000"/>
              </a:avLst>
            </a:prstGeom>
            <a:solidFill>
              <a:srgbClr val="B3C6E7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43" name="Google Shape;143;p4"/>
            <p:cNvSpPr txBox="1"/>
            <p:nvPr/>
          </p:nvSpPr>
          <p:spPr>
            <a:xfrm>
              <a:off x="9238325" y="1090469"/>
              <a:ext cx="1240097" cy="11949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2863" tIns="42863" rIns="42863" bIns="42863" anchor="ctr" anchorCtr="0">
              <a:noAutofit/>
            </a:bodyPr>
            <a:lstStyle/>
            <a:p>
              <a:pPr algn="ctr">
                <a:lnSpc>
                  <a:spcPct val="90000"/>
                </a:lnSpc>
                <a:buClr>
                  <a:schemeClr val="lt1"/>
                </a:buClr>
                <a:buSzPts val="1500"/>
              </a:pPr>
              <a:r>
                <a:rPr lang="en-GB" sz="1125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Advanced acceleration </a:t>
              </a:r>
              <a:endParaRPr sz="1125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5" name="Google Shape;305;p13">
            <a:extLst>
              <a:ext uri="{FF2B5EF4-FFF2-40B4-BE49-F238E27FC236}">
                <a16:creationId xmlns:a16="http://schemas.microsoft.com/office/drawing/2014/main" id="{197E8DEF-9710-D971-1995-10DA669C5CE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52467" y="4118148"/>
            <a:ext cx="590220" cy="59022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306;p13">
            <a:extLst>
              <a:ext uri="{FF2B5EF4-FFF2-40B4-BE49-F238E27FC236}">
                <a16:creationId xmlns:a16="http://schemas.microsoft.com/office/drawing/2014/main" id="{4BF32D45-9167-5D5F-1260-3B8DA0CD516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28409" y="4118147"/>
            <a:ext cx="590220" cy="59022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308;p13">
            <a:extLst>
              <a:ext uri="{FF2B5EF4-FFF2-40B4-BE49-F238E27FC236}">
                <a16:creationId xmlns:a16="http://schemas.microsoft.com/office/drawing/2014/main" id="{3FCA85AD-39A2-B9D7-0ADF-B77FA25BEB4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26221" y="4169905"/>
            <a:ext cx="590220" cy="59022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57;p4">
            <a:extLst>
              <a:ext uri="{FF2B5EF4-FFF2-40B4-BE49-F238E27FC236}">
                <a16:creationId xmlns:a16="http://schemas.microsoft.com/office/drawing/2014/main" id="{92D95964-2695-06ED-21BE-7F5B3EF4F22D}"/>
              </a:ext>
            </a:extLst>
          </p:cNvPr>
          <p:cNvSpPr/>
          <p:nvPr/>
        </p:nvSpPr>
        <p:spPr>
          <a:xfrm>
            <a:off x="2129689" y="2938126"/>
            <a:ext cx="6494467" cy="395207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r>
              <a:rPr lang="en-GB"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Simulation</a:t>
            </a: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158;p4">
            <a:extLst>
              <a:ext uri="{FF2B5EF4-FFF2-40B4-BE49-F238E27FC236}">
                <a16:creationId xmlns:a16="http://schemas.microsoft.com/office/drawing/2014/main" id="{4DBD5539-C596-FFCD-C097-314A1AB05036}"/>
              </a:ext>
            </a:extLst>
          </p:cNvPr>
          <p:cNvSpPr/>
          <p:nvPr/>
        </p:nvSpPr>
        <p:spPr>
          <a:xfrm>
            <a:off x="2135180" y="3274100"/>
            <a:ext cx="6488978" cy="391397"/>
          </a:xfrm>
          <a:prstGeom prst="roundRect">
            <a:avLst>
              <a:gd name="adj" fmla="val 16667"/>
            </a:avLst>
          </a:prstGeom>
          <a:solidFill>
            <a:schemeClr val="accent6">
              <a:lumMod val="40000"/>
              <a:lumOff val="60000"/>
            </a:schemeClr>
          </a:solidFill>
          <a:ln w="12700" cap="flat" cmpd="sng">
            <a:solidFill>
              <a:srgbClr val="517E3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r>
              <a:rPr lang="en-GB" sz="135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Backend flow (synthesis-only)</a:t>
            </a:r>
            <a:endParaRPr lang="en-US" sz="135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" name="Google Shape;158;p4">
            <a:extLst>
              <a:ext uri="{FF2B5EF4-FFF2-40B4-BE49-F238E27FC236}">
                <a16:creationId xmlns:a16="http://schemas.microsoft.com/office/drawing/2014/main" id="{C3EE7B30-53EA-7CE5-949F-278E82E15B63}"/>
              </a:ext>
            </a:extLst>
          </p:cNvPr>
          <p:cNvSpPr/>
          <p:nvPr/>
        </p:nvSpPr>
        <p:spPr>
          <a:xfrm>
            <a:off x="4845930" y="3712957"/>
            <a:ext cx="2218125" cy="391397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 w="12700" cap="flat" cmpd="sng">
            <a:solidFill>
              <a:srgbClr val="517E3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r>
              <a:rPr lang="en-GB"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Backend flow (complete)</a:t>
            </a: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20;p4">
            <a:extLst>
              <a:ext uri="{FF2B5EF4-FFF2-40B4-BE49-F238E27FC236}">
                <a16:creationId xmlns:a16="http://schemas.microsoft.com/office/drawing/2014/main" id="{85A3CFCF-E8C0-C042-308D-E4D0D6936E9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" y="5286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rmAutofit/>
          </a:bodyPr>
          <a:lstStyle/>
          <a:p>
            <a:pPr>
              <a:buSzPts val="4400"/>
            </a:pPr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Today’s session: Pipelined processor</a:t>
            </a:r>
            <a:endParaRPr/>
          </a:p>
        </p:txBody>
      </p:sp>
      <p:sp>
        <p:nvSpPr>
          <p:cNvPr id="19" name="Google Shape;148;p4">
            <a:extLst>
              <a:ext uri="{FF2B5EF4-FFF2-40B4-BE49-F238E27FC236}">
                <a16:creationId xmlns:a16="http://schemas.microsoft.com/office/drawing/2014/main" id="{3080C2C2-2259-8268-98ED-A7384F9CEAF8}"/>
              </a:ext>
            </a:extLst>
          </p:cNvPr>
          <p:cNvSpPr txBox="1"/>
          <p:nvPr/>
        </p:nvSpPr>
        <p:spPr>
          <a:xfrm>
            <a:off x="2277283" y="869989"/>
            <a:ext cx="1785838" cy="346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algn="ctr"/>
            <a:r>
              <a:rPr lang="en-GB" sz="1800" b="1">
                <a:solidFill>
                  <a:schemeClr val="bg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Session 1</a:t>
            </a:r>
            <a:endParaRPr sz="1800" b="1">
              <a:solidFill>
                <a:schemeClr val="bg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149;p4">
            <a:extLst>
              <a:ext uri="{FF2B5EF4-FFF2-40B4-BE49-F238E27FC236}">
                <a16:creationId xmlns:a16="http://schemas.microsoft.com/office/drawing/2014/main" id="{9E570D9A-E84D-F24B-E27B-BD613148DF83}"/>
              </a:ext>
            </a:extLst>
          </p:cNvPr>
          <p:cNvSpPr txBox="1"/>
          <p:nvPr/>
        </p:nvSpPr>
        <p:spPr>
          <a:xfrm>
            <a:off x="5065168" y="889783"/>
            <a:ext cx="1785838" cy="346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algn="ctr"/>
            <a:r>
              <a:rPr lang="en-GB" sz="1800" b="1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Session 2</a:t>
            </a:r>
            <a:endParaRPr sz="1800" b="1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150;p4">
            <a:extLst>
              <a:ext uri="{FF2B5EF4-FFF2-40B4-BE49-F238E27FC236}">
                <a16:creationId xmlns:a16="http://schemas.microsoft.com/office/drawing/2014/main" id="{732F8727-CB54-3C6D-23A1-34CD8B91EF71}"/>
              </a:ext>
            </a:extLst>
          </p:cNvPr>
          <p:cNvSpPr txBox="1"/>
          <p:nvPr/>
        </p:nvSpPr>
        <p:spPr>
          <a:xfrm>
            <a:off x="7115701" y="889783"/>
            <a:ext cx="1785838" cy="346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algn="ctr"/>
            <a:r>
              <a:rPr lang="en-GB" sz="1800" b="1">
                <a:solidFill>
                  <a:schemeClr val="bg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Session 3</a:t>
            </a:r>
            <a:endParaRPr sz="1800" b="1">
              <a:solidFill>
                <a:schemeClr val="bg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1F76498-4EE9-2874-1A0B-23066A0B500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smtClean="0"/>
              <a:pPr/>
              <a:t>5</a:t>
            </a:fld>
            <a:endParaRPr lang="en-GB"/>
          </a:p>
        </p:txBody>
      </p:sp>
      <p:sp>
        <p:nvSpPr>
          <p:cNvPr id="22" name="TextBox 8">
            <a:extLst>
              <a:ext uri="{FF2B5EF4-FFF2-40B4-BE49-F238E27FC236}">
                <a16:creationId xmlns:a16="http://schemas.microsoft.com/office/drawing/2014/main" id="{2FF847B5-95B7-A955-4E87-D016069F8027}"/>
              </a:ext>
            </a:extLst>
          </p:cNvPr>
          <p:cNvSpPr txBox="1"/>
          <p:nvPr/>
        </p:nvSpPr>
        <p:spPr>
          <a:xfrm>
            <a:off x="5289368" y="1118713"/>
            <a:ext cx="126953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[Apr-01/02]</a:t>
            </a:r>
          </a:p>
        </p:txBody>
      </p:sp>
    </p:spTree>
    <p:extLst>
      <p:ext uri="{BB962C8B-B14F-4D97-AF65-F5344CB8AC3E}">
        <p14:creationId xmlns:p14="http://schemas.microsoft.com/office/powerpoint/2010/main" val="6798466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6" name="Google Shape;486;p6"/>
          <p:cNvPicPr preferRelativeResize="0">
            <a:picLocks noGrp="1"/>
          </p:cNvPicPr>
          <p:nvPr>
            <p:ph type="body" idx="2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2316819" y="202029"/>
            <a:ext cx="5951966" cy="4130542"/>
          </a:xfrm>
          <a:prstGeom prst="rect">
            <a:avLst/>
          </a:prstGeom>
          <a:noFill/>
          <a:ln>
            <a:noFill/>
          </a:ln>
        </p:spPr>
      </p:pic>
      <p:sp>
        <p:nvSpPr>
          <p:cNvPr id="487" name="Google Shape;487;p6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5-stage</a:t>
            </a:r>
            <a:b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Pipelining</a:t>
            </a:r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88" name="Google Shape;488;p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6</a:t>
            </a:fld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89" name="Google Shape;489;p6"/>
          <p:cNvSpPr txBox="1"/>
          <p:nvPr/>
        </p:nvSpPr>
        <p:spPr>
          <a:xfrm>
            <a:off x="2794051" y="4420620"/>
            <a:ext cx="71752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Fetch</a:t>
            </a:r>
            <a:endParaRPr sz="1400" b="1">
              <a:solidFill>
                <a:schemeClr val="dk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490" name="Google Shape;490;p6"/>
          <p:cNvSpPr txBox="1"/>
          <p:nvPr/>
        </p:nvSpPr>
        <p:spPr>
          <a:xfrm>
            <a:off x="4395987" y="4420620"/>
            <a:ext cx="74481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Decode</a:t>
            </a:r>
            <a:endParaRPr sz="1400" b="1">
              <a:solidFill>
                <a:schemeClr val="dk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491" name="Google Shape;491;p6"/>
          <p:cNvSpPr txBox="1"/>
          <p:nvPr/>
        </p:nvSpPr>
        <p:spPr>
          <a:xfrm>
            <a:off x="5736164" y="4420620"/>
            <a:ext cx="761683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Execute</a:t>
            </a:r>
            <a:endParaRPr sz="1400" b="1">
              <a:solidFill>
                <a:schemeClr val="dk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492" name="Google Shape;492;p6"/>
          <p:cNvSpPr txBox="1"/>
          <p:nvPr/>
        </p:nvSpPr>
        <p:spPr>
          <a:xfrm>
            <a:off x="6870998" y="4420620"/>
            <a:ext cx="82343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Memory</a:t>
            </a:r>
            <a:endParaRPr sz="1400" b="1">
              <a:solidFill>
                <a:schemeClr val="dk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493" name="Google Shape;493;p6"/>
          <p:cNvSpPr txBox="1"/>
          <p:nvPr/>
        </p:nvSpPr>
        <p:spPr>
          <a:xfrm>
            <a:off x="7956632" y="4420661"/>
            <a:ext cx="1009832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Write</a:t>
            </a:r>
            <a:r>
              <a:rPr lang="en-US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 </a:t>
            </a:r>
            <a:r>
              <a:rPr lang="en-US" sz="1400" b="1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Back</a:t>
            </a:r>
            <a:endParaRPr sz="1400" b="1">
              <a:solidFill>
                <a:schemeClr val="dk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</p:txBody>
      </p:sp>
      <p:cxnSp>
        <p:nvCxnSpPr>
          <p:cNvPr id="494" name="Google Shape;494;p6"/>
          <p:cNvCxnSpPr/>
          <p:nvPr/>
        </p:nvCxnSpPr>
        <p:spPr>
          <a:xfrm>
            <a:off x="3935691" y="122549"/>
            <a:ext cx="0" cy="4562573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ysDash"/>
            <a:miter lim="800000"/>
            <a:headEnd type="none" w="sm" len="sm"/>
            <a:tailEnd type="none" w="sm" len="sm"/>
          </a:ln>
        </p:spPr>
      </p:cxnSp>
      <p:cxnSp>
        <p:nvCxnSpPr>
          <p:cNvPr id="495" name="Google Shape;495;p6"/>
          <p:cNvCxnSpPr/>
          <p:nvPr/>
        </p:nvCxnSpPr>
        <p:spPr>
          <a:xfrm>
            <a:off x="5492685" y="122548"/>
            <a:ext cx="0" cy="4562573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ysDash"/>
            <a:miter lim="800000"/>
            <a:headEnd type="none" w="sm" len="sm"/>
            <a:tailEnd type="none" w="sm" len="sm"/>
          </a:ln>
        </p:spPr>
      </p:cxnSp>
      <p:cxnSp>
        <p:nvCxnSpPr>
          <p:cNvPr id="496" name="Google Shape;496;p6"/>
          <p:cNvCxnSpPr/>
          <p:nvPr/>
        </p:nvCxnSpPr>
        <p:spPr>
          <a:xfrm>
            <a:off x="6722882" y="122548"/>
            <a:ext cx="0" cy="4562573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ysDash"/>
            <a:miter lim="800000"/>
            <a:headEnd type="none" w="sm" len="sm"/>
            <a:tailEnd type="none" w="sm" len="sm"/>
          </a:ln>
        </p:spPr>
      </p:cxnSp>
      <p:cxnSp>
        <p:nvCxnSpPr>
          <p:cNvPr id="497" name="Google Shape;497;p6"/>
          <p:cNvCxnSpPr/>
          <p:nvPr/>
        </p:nvCxnSpPr>
        <p:spPr>
          <a:xfrm>
            <a:off x="7844673" y="122548"/>
            <a:ext cx="0" cy="4562573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ysDash"/>
            <a:miter lim="800000"/>
            <a:headEnd type="none" w="sm" len="sm"/>
            <a:tailEnd type="none" w="sm" len="sm"/>
          </a:ln>
        </p:spPr>
      </p:cxnSp>
      <p:sp>
        <p:nvSpPr>
          <p:cNvPr id="498" name="Google Shape;498;p6"/>
          <p:cNvSpPr txBox="1">
            <a:spLocks noGrp="1"/>
          </p:cNvSpPr>
          <p:nvPr>
            <p:ph type="body" idx="1"/>
          </p:nvPr>
        </p:nvSpPr>
        <p:spPr>
          <a:xfrm>
            <a:off x="273825" y="3326944"/>
            <a:ext cx="3368930" cy="1077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171450" lvl="0" indent="-1714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US" sz="1800">
                <a:latin typeface="Calibri" panose="020F0502020204030204" pitchFamily="34" charset="0"/>
                <a:cs typeface="Calibri" panose="020F0502020204030204" pitchFamily="34" charset="0"/>
              </a:rPr>
              <a:t>Define pipeline stages</a:t>
            </a:r>
          </a:p>
          <a:p>
            <a:pPr marL="171450" lvl="0" indent="-1714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US" sz="1800">
                <a:latin typeface="Calibri" panose="020F0502020204030204" pitchFamily="34" charset="0"/>
                <a:cs typeface="Calibri" panose="020F0502020204030204" pitchFamily="34" charset="0"/>
              </a:rPr>
              <a:t>Allocate processor modules</a:t>
            </a:r>
          </a:p>
          <a:p>
            <a:pPr marL="171450" lvl="0" indent="-1714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US" sz="1800">
                <a:latin typeface="Calibri" panose="020F0502020204030204" pitchFamily="34" charset="0"/>
                <a:cs typeface="Calibri" panose="020F0502020204030204" pitchFamily="34" charset="0"/>
              </a:rPr>
              <a:t>Insert pipeline registers (</a:t>
            </a:r>
            <a:r>
              <a:rPr lang="en-US" sz="1800" b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---</a:t>
            </a:r>
            <a:r>
              <a:rPr lang="en-US" sz="180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  <a:endParaRPr sz="18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17E0110B-7D0F-471B-9CD6-B4C687D29B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472" y="3640932"/>
            <a:ext cx="3943350" cy="1400175"/>
          </a:xfrm>
          <a:prstGeom prst="rect">
            <a:avLst/>
          </a:prstGeom>
        </p:spPr>
      </p:pic>
      <p:sp>
        <p:nvSpPr>
          <p:cNvPr id="512" name="Google Shape;512;p8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5-stage</a:t>
            </a:r>
            <a:b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Pipelining</a:t>
            </a:r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13" name="Google Shape;513;p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7</a:t>
            </a:fld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15" name="Google Shape;515;p8"/>
          <p:cNvSpPr/>
          <p:nvPr/>
        </p:nvSpPr>
        <p:spPr>
          <a:xfrm>
            <a:off x="4222365" y="1654887"/>
            <a:ext cx="159135" cy="2611821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20">
              <a:solidFill>
                <a:schemeClr val="lt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516" name="Google Shape;516;p8"/>
          <p:cNvSpPr/>
          <p:nvPr/>
        </p:nvSpPr>
        <p:spPr>
          <a:xfrm>
            <a:off x="5766399" y="862013"/>
            <a:ext cx="159135" cy="3404695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20">
              <a:solidFill>
                <a:schemeClr val="lt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517" name="Google Shape;517;p8"/>
          <p:cNvSpPr/>
          <p:nvPr/>
        </p:nvSpPr>
        <p:spPr>
          <a:xfrm>
            <a:off x="6981739" y="1114425"/>
            <a:ext cx="159135" cy="3159672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20">
              <a:solidFill>
                <a:schemeClr val="lt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518" name="Google Shape;518;p8"/>
          <p:cNvSpPr/>
          <p:nvPr/>
        </p:nvSpPr>
        <p:spPr>
          <a:xfrm>
            <a:off x="8117511" y="1376363"/>
            <a:ext cx="159135" cy="2897734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20">
              <a:solidFill>
                <a:schemeClr val="lt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</p:txBody>
      </p:sp>
      <p:pic>
        <p:nvPicPr>
          <p:cNvPr id="519" name="Google Shape;519;p8"/>
          <p:cNvPicPr preferRelativeResize="0">
            <a:picLocks noGrp="1"/>
          </p:cNvPicPr>
          <p:nvPr>
            <p:ph type="body" idx="2"/>
          </p:nvPr>
        </p:nvPicPr>
        <p:blipFill rotWithShape="1">
          <a:blip r:embed="rId4">
            <a:alphaModFix/>
          </a:blip>
          <a:srcRect/>
          <a:stretch/>
        </p:blipFill>
        <p:spPr>
          <a:xfrm>
            <a:off x="2687255" y="448864"/>
            <a:ext cx="5939578" cy="4121946"/>
          </a:xfrm>
          <a:prstGeom prst="rect">
            <a:avLst/>
          </a:prstGeom>
          <a:noFill/>
          <a:ln>
            <a:noFill/>
          </a:ln>
        </p:spPr>
      </p:pic>
      <p:sp>
        <p:nvSpPr>
          <p:cNvPr id="520" name="Google Shape;520;p8"/>
          <p:cNvSpPr txBox="1"/>
          <p:nvPr/>
        </p:nvSpPr>
        <p:spPr>
          <a:xfrm>
            <a:off x="2986315" y="696007"/>
            <a:ext cx="1315617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FF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Pipeline registers </a:t>
            </a:r>
            <a:endParaRPr sz="1200" b="1">
              <a:solidFill>
                <a:srgbClr val="FF0000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7"/>
          <p:cNvSpPr txBox="1">
            <a:spLocks noGrp="1"/>
          </p:cNvSpPr>
          <p:nvPr>
            <p:ph type="title"/>
          </p:nvPr>
        </p:nvSpPr>
        <p:spPr>
          <a:xfrm>
            <a:off x="628650" y="42616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5-stage Pipelining</a:t>
            </a:r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04" name="Google Shape;504;p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8</a:t>
            </a:fld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05" name="Google Shape;505;p7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562318" y="972207"/>
            <a:ext cx="5824016" cy="3658530"/>
          </a:xfrm>
          <a:prstGeom prst="rect">
            <a:avLst/>
          </a:prstGeom>
          <a:noFill/>
          <a:ln>
            <a:noFill/>
          </a:ln>
        </p:spPr>
      </p:pic>
      <p:sp>
        <p:nvSpPr>
          <p:cNvPr id="506" name="Google Shape;506;p7"/>
          <p:cNvSpPr/>
          <p:nvPr/>
        </p:nvSpPr>
        <p:spPr>
          <a:xfrm>
            <a:off x="3787565" y="1108732"/>
            <a:ext cx="547952" cy="3625726"/>
          </a:xfrm>
          <a:prstGeom prst="rect">
            <a:avLst/>
          </a:prstGeom>
          <a:noFill/>
          <a:ln w="381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20">
              <a:solidFill>
                <a:schemeClr val="lt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507" name="Google Shape;507;p7"/>
          <p:cNvSpPr txBox="1"/>
          <p:nvPr/>
        </p:nvSpPr>
        <p:spPr>
          <a:xfrm>
            <a:off x="6503338" y="2107962"/>
            <a:ext cx="2073260" cy="1588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2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At clock cycle 5:</a:t>
            </a:r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Arial"/>
              <a:buChar char="•"/>
            </a:pPr>
            <a:r>
              <a:rPr lang="en-US" sz="162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Inst 1 -&gt; write back</a:t>
            </a:r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Arial"/>
              <a:buChar char="•"/>
            </a:pPr>
            <a:r>
              <a:rPr lang="en-US" sz="162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Inst 2 -&gt; data</a:t>
            </a:r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Arial"/>
              <a:buChar char="•"/>
            </a:pPr>
            <a:r>
              <a:rPr lang="en-US" sz="162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Inst 3 -&gt; execute</a:t>
            </a:r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Arial"/>
              <a:buChar char="•"/>
            </a:pPr>
            <a:r>
              <a:rPr lang="en-US" sz="162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Inst 4 -&gt; decode</a:t>
            </a:r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Arial"/>
              <a:buChar char="•"/>
            </a:pPr>
            <a:r>
              <a:rPr lang="en-US" sz="162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Inst 5 -&gt; fetch</a:t>
            </a:r>
            <a:endParaRPr sz="1620">
              <a:solidFill>
                <a:schemeClr val="dk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Google Shape;118;p4">
            <a:extLst>
              <a:ext uri="{FF2B5EF4-FFF2-40B4-BE49-F238E27FC236}">
                <a16:creationId xmlns:a16="http://schemas.microsoft.com/office/drawing/2014/main" id="{2B727E9D-C2C9-FCDB-0AEC-2010FFD45BBE}"/>
              </a:ext>
            </a:extLst>
          </p:cNvPr>
          <p:cNvCxnSpPr>
            <a:cxnSpLocks/>
          </p:cNvCxnSpPr>
          <p:nvPr/>
        </p:nvCxnSpPr>
        <p:spPr>
          <a:xfrm>
            <a:off x="5330198" y="3355892"/>
            <a:ext cx="0" cy="649796"/>
          </a:xfrm>
          <a:prstGeom prst="straightConnector1">
            <a:avLst/>
          </a:prstGeom>
          <a:noFill/>
          <a:ln w="571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4" name="Google Shape;168;p4">
            <a:extLst>
              <a:ext uri="{FF2B5EF4-FFF2-40B4-BE49-F238E27FC236}">
                <a16:creationId xmlns:a16="http://schemas.microsoft.com/office/drawing/2014/main" id="{DF4D94DA-38A4-2FAB-A699-4D81AF4B20E9}"/>
              </a:ext>
            </a:extLst>
          </p:cNvPr>
          <p:cNvCxnSpPr>
            <a:cxnSpLocks/>
          </p:cNvCxnSpPr>
          <p:nvPr/>
        </p:nvCxnSpPr>
        <p:spPr>
          <a:xfrm>
            <a:off x="5138406" y="3669306"/>
            <a:ext cx="0" cy="324000"/>
          </a:xfrm>
          <a:prstGeom prst="straightConnector1">
            <a:avLst/>
          </a:prstGeom>
          <a:noFill/>
          <a:ln w="57150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9" name="Google Shape;155;p4">
            <a:extLst>
              <a:ext uri="{FF2B5EF4-FFF2-40B4-BE49-F238E27FC236}">
                <a16:creationId xmlns:a16="http://schemas.microsoft.com/office/drawing/2014/main" id="{88BBAF96-C2BC-51DB-D813-6D036B11652B}"/>
              </a:ext>
            </a:extLst>
          </p:cNvPr>
          <p:cNvCxnSpPr>
            <a:cxnSpLocks/>
          </p:cNvCxnSpPr>
          <p:nvPr/>
        </p:nvCxnSpPr>
        <p:spPr>
          <a:xfrm>
            <a:off x="4020407" y="3333226"/>
            <a:ext cx="0" cy="659825"/>
          </a:xfrm>
          <a:prstGeom prst="straightConnector1">
            <a:avLst/>
          </a:prstGeom>
          <a:noFill/>
          <a:ln w="571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0" name="Google Shape;168;p4">
            <a:extLst>
              <a:ext uri="{FF2B5EF4-FFF2-40B4-BE49-F238E27FC236}">
                <a16:creationId xmlns:a16="http://schemas.microsoft.com/office/drawing/2014/main" id="{02494D52-AA22-2073-50F0-8EE692E15461}"/>
              </a:ext>
            </a:extLst>
          </p:cNvPr>
          <p:cNvCxnSpPr>
            <a:cxnSpLocks/>
          </p:cNvCxnSpPr>
          <p:nvPr/>
        </p:nvCxnSpPr>
        <p:spPr>
          <a:xfrm>
            <a:off x="3839339" y="3660371"/>
            <a:ext cx="0" cy="324000"/>
          </a:xfrm>
          <a:prstGeom prst="straightConnector1">
            <a:avLst/>
          </a:prstGeom>
          <a:noFill/>
          <a:ln w="57150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1" name="Google Shape;118;p4">
            <a:extLst>
              <a:ext uri="{FF2B5EF4-FFF2-40B4-BE49-F238E27FC236}">
                <a16:creationId xmlns:a16="http://schemas.microsoft.com/office/drawing/2014/main" id="{D0F4864D-BB27-DADB-60AA-3A338CBACB9E}"/>
              </a:ext>
            </a:extLst>
          </p:cNvPr>
          <p:cNvCxnSpPr>
            <a:cxnSpLocks/>
          </p:cNvCxnSpPr>
          <p:nvPr/>
        </p:nvCxnSpPr>
        <p:spPr>
          <a:xfrm>
            <a:off x="6789851" y="3343255"/>
            <a:ext cx="0" cy="649796"/>
          </a:xfrm>
          <a:prstGeom prst="straightConnector1">
            <a:avLst/>
          </a:prstGeom>
          <a:noFill/>
          <a:ln w="571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2" name="Google Shape;119;p4">
            <a:extLst>
              <a:ext uri="{FF2B5EF4-FFF2-40B4-BE49-F238E27FC236}">
                <a16:creationId xmlns:a16="http://schemas.microsoft.com/office/drawing/2014/main" id="{97457FF3-BABD-BD1F-8827-C3D0CA0A7986}"/>
              </a:ext>
            </a:extLst>
          </p:cNvPr>
          <p:cNvCxnSpPr>
            <a:cxnSpLocks/>
          </p:cNvCxnSpPr>
          <p:nvPr/>
        </p:nvCxnSpPr>
        <p:spPr>
          <a:xfrm>
            <a:off x="8181490" y="3355892"/>
            <a:ext cx="11886" cy="637158"/>
          </a:xfrm>
          <a:prstGeom prst="straightConnector1">
            <a:avLst/>
          </a:prstGeom>
          <a:noFill/>
          <a:ln w="571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3" name="Google Shape;155;p4">
            <a:extLst>
              <a:ext uri="{FF2B5EF4-FFF2-40B4-BE49-F238E27FC236}">
                <a16:creationId xmlns:a16="http://schemas.microsoft.com/office/drawing/2014/main" id="{64C46789-7C96-BFFE-3EE2-65F7C3C417E7}"/>
              </a:ext>
            </a:extLst>
          </p:cNvPr>
          <p:cNvCxnSpPr>
            <a:cxnSpLocks/>
          </p:cNvCxnSpPr>
          <p:nvPr/>
        </p:nvCxnSpPr>
        <p:spPr>
          <a:xfrm>
            <a:off x="2553838" y="3333332"/>
            <a:ext cx="0" cy="659825"/>
          </a:xfrm>
          <a:prstGeom prst="straightConnector1">
            <a:avLst/>
          </a:prstGeom>
          <a:noFill/>
          <a:ln w="571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4" name="Google Shape;168;p4">
            <a:extLst>
              <a:ext uri="{FF2B5EF4-FFF2-40B4-BE49-F238E27FC236}">
                <a16:creationId xmlns:a16="http://schemas.microsoft.com/office/drawing/2014/main" id="{31AA6BF2-0690-F947-D977-953DCB23CD43}"/>
              </a:ext>
            </a:extLst>
          </p:cNvPr>
          <p:cNvCxnSpPr>
            <a:cxnSpLocks/>
          </p:cNvCxnSpPr>
          <p:nvPr/>
        </p:nvCxnSpPr>
        <p:spPr>
          <a:xfrm>
            <a:off x="6598059" y="3656669"/>
            <a:ext cx="0" cy="324000"/>
          </a:xfrm>
          <a:prstGeom prst="straightConnector1">
            <a:avLst/>
          </a:prstGeom>
          <a:noFill/>
          <a:ln w="57150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5" name="Google Shape;169;p4">
            <a:extLst>
              <a:ext uri="{FF2B5EF4-FFF2-40B4-BE49-F238E27FC236}">
                <a16:creationId xmlns:a16="http://schemas.microsoft.com/office/drawing/2014/main" id="{A6EED7C7-3BCC-7170-0051-CC7458DADC6F}"/>
              </a:ext>
            </a:extLst>
          </p:cNvPr>
          <p:cNvCxnSpPr>
            <a:cxnSpLocks/>
          </p:cNvCxnSpPr>
          <p:nvPr/>
        </p:nvCxnSpPr>
        <p:spPr>
          <a:xfrm>
            <a:off x="7989698" y="3669307"/>
            <a:ext cx="0" cy="324000"/>
          </a:xfrm>
          <a:prstGeom prst="straightConnector1">
            <a:avLst/>
          </a:prstGeom>
          <a:noFill/>
          <a:ln w="57150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6" name="Google Shape;168;p4">
            <a:extLst>
              <a:ext uri="{FF2B5EF4-FFF2-40B4-BE49-F238E27FC236}">
                <a16:creationId xmlns:a16="http://schemas.microsoft.com/office/drawing/2014/main" id="{82DC78EA-BC53-6870-490D-020E5B4CB541}"/>
              </a:ext>
            </a:extLst>
          </p:cNvPr>
          <p:cNvCxnSpPr>
            <a:cxnSpLocks/>
          </p:cNvCxnSpPr>
          <p:nvPr/>
        </p:nvCxnSpPr>
        <p:spPr>
          <a:xfrm>
            <a:off x="2372769" y="3660478"/>
            <a:ext cx="0" cy="324000"/>
          </a:xfrm>
          <a:prstGeom prst="straightConnector1">
            <a:avLst/>
          </a:prstGeom>
          <a:noFill/>
          <a:ln w="57150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45" name="Google Shape;145;p4"/>
          <p:cNvCxnSpPr>
            <a:cxnSpLocks/>
          </p:cNvCxnSpPr>
          <p:nvPr/>
        </p:nvCxnSpPr>
        <p:spPr>
          <a:xfrm>
            <a:off x="1803953" y="1040240"/>
            <a:ext cx="0" cy="3807000"/>
          </a:xfrm>
          <a:prstGeom prst="straightConnector1">
            <a:avLst/>
          </a:prstGeom>
          <a:noFill/>
          <a:ln w="57150" cap="flat" cmpd="sng">
            <a:solidFill>
              <a:srgbClr val="FB9937"/>
            </a:solidFill>
            <a:prstDash val="dash"/>
            <a:miter lim="800000"/>
            <a:headEnd type="none" w="sm" len="sm"/>
            <a:tailEnd type="none" w="sm" len="sm"/>
          </a:ln>
        </p:spPr>
      </p:cxnSp>
      <p:cxnSp>
        <p:nvCxnSpPr>
          <p:cNvPr id="146" name="Google Shape;146;p4"/>
          <p:cNvCxnSpPr>
            <a:cxnSpLocks/>
          </p:cNvCxnSpPr>
          <p:nvPr/>
        </p:nvCxnSpPr>
        <p:spPr>
          <a:xfrm>
            <a:off x="4546565" y="1040240"/>
            <a:ext cx="0" cy="3807000"/>
          </a:xfrm>
          <a:prstGeom prst="straightConnector1">
            <a:avLst/>
          </a:prstGeom>
          <a:noFill/>
          <a:ln w="57150" cap="flat" cmpd="sng">
            <a:solidFill>
              <a:srgbClr val="FB9937"/>
            </a:solidFill>
            <a:prstDash val="dash"/>
            <a:miter lim="800000"/>
            <a:headEnd type="none" w="sm" len="sm"/>
            <a:tailEnd type="none" w="sm" len="sm"/>
          </a:ln>
        </p:spPr>
      </p:cxnSp>
      <p:cxnSp>
        <p:nvCxnSpPr>
          <p:cNvPr id="147" name="Google Shape;147;p4"/>
          <p:cNvCxnSpPr>
            <a:cxnSpLocks/>
          </p:cNvCxnSpPr>
          <p:nvPr/>
        </p:nvCxnSpPr>
        <p:spPr>
          <a:xfrm>
            <a:off x="7338259" y="1024642"/>
            <a:ext cx="0" cy="3807000"/>
          </a:xfrm>
          <a:prstGeom prst="straightConnector1">
            <a:avLst/>
          </a:prstGeom>
          <a:noFill/>
          <a:ln w="57150" cap="flat" cmpd="sng">
            <a:solidFill>
              <a:srgbClr val="FB9937"/>
            </a:solidFill>
            <a:prstDash val="dash"/>
            <a:miter lim="800000"/>
            <a:headEnd type="none" w="sm" len="sm"/>
            <a:tailEnd type="none" w="sm" len="sm"/>
          </a:ln>
        </p:spPr>
      </p:cxnSp>
      <p:pic>
        <p:nvPicPr>
          <p:cNvPr id="151" name="Google Shape;151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85137" y="4124038"/>
            <a:ext cx="590220" cy="5902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83859" y="4124038"/>
            <a:ext cx="590220" cy="59022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9" name="Google Shape;159;p4"/>
          <p:cNvCxnSpPr/>
          <p:nvPr/>
        </p:nvCxnSpPr>
        <p:spPr>
          <a:xfrm>
            <a:off x="2522349" y="2554149"/>
            <a:ext cx="0" cy="373996"/>
          </a:xfrm>
          <a:prstGeom prst="straightConnector1">
            <a:avLst/>
          </a:prstGeom>
          <a:noFill/>
          <a:ln w="5715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60" name="Google Shape;160;p4"/>
          <p:cNvCxnSpPr/>
          <p:nvPr/>
        </p:nvCxnSpPr>
        <p:spPr>
          <a:xfrm>
            <a:off x="3865025" y="2554148"/>
            <a:ext cx="0" cy="373996"/>
          </a:xfrm>
          <a:prstGeom prst="straightConnector1">
            <a:avLst/>
          </a:prstGeom>
          <a:noFill/>
          <a:ln w="5715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61" name="Google Shape;161;p4"/>
          <p:cNvCxnSpPr/>
          <p:nvPr/>
        </p:nvCxnSpPr>
        <p:spPr>
          <a:xfrm>
            <a:off x="5266518" y="2554147"/>
            <a:ext cx="0" cy="373996"/>
          </a:xfrm>
          <a:prstGeom prst="straightConnector1">
            <a:avLst/>
          </a:prstGeom>
          <a:noFill/>
          <a:ln w="57150" cap="flat" cmpd="sng">
            <a:solidFill>
              <a:srgbClr val="B3C6E7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62" name="Google Shape;162;p4"/>
          <p:cNvCxnSpPr/>
          <p:nvPr/>
        </p:nvCxnSpPr>
        <p:spPr>
          <a:xfrm>
            <a:off x="6652511" y="2554147"/>
            <a:ext cx="0" cy="373996"/>
          </a:xfrm>
          <a:prstGeom prst="straightConnector1">
            <a:avLst/>
          </a:prstGeom>
          <a:noFill/>
          <a:ln w="57150" cap="flat" cmpd="sng">
            <a:solidFill>
              <a:srgbClr val="B3C6E7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63" name="Google Shape;163;p4"/>
          <p:cNvCxnSpPr/>
          <p:nvPr/>
        </p:nvCxnSpPr>
        <p:spPr>
          <a:xfrm>
            <a:off x="8078435" y="2554146"/>
            <a:ext cx="0" cy="373996"/>
          </a:xfrm>
          <a:prstGeom prst="straightConnector1">
            <a:avLst/>
          </a:prstGeom>
          <a:noFill/>
          <a:ln w="57150" cap="flat" cmpd="sng">
            <a:solidFill>
              <a:srgbClr val="B3C6E7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pSp>
        <p:nvGrpSpPr>
          <p:cNvPr id="121" name="Google Shape;121;p4"/>
          <p:cNvGrpSpPr/>
          <p:nvPr/>
        </p:nvGrpSpPr>
        <p:grpSpPr>
          <a:xfrm>
            <a:off x="628650" y="1603991"/>
            <a:ext cx="7886699" cy="951949"/>
            <a:chOff x="0" y="1053293"/>
            <a:chExt cx="10515598" cy="1269265"/>
          </a:xfrm>
        </p:grpSpPr>
        <p:sp>
          <p:nvSpPr>
            <p:cNvPr id="122" name="Google Shape;122;p4"/>
            <p:cNvSpPr/>
            <p:nvPr/>
          </p:nvSpPr>
          <p:spPr>
            <a:xfrm>
              <a:off x="0" y="1053293"/>
              <a:ext cx="1314449" cy="1269265"/>
            </a:xfrm>
            <a:prstGeom prst="roundRect">
              <a:avLst>
                <a:gd name="adj" fmla="val 10000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23" name="Google Shape;123;p4"/>
            <p:cNvSpPr txBox="1"/>
            <p:nvPr/>
          </p:nvSpPr>
          <p:spPr>
            <a:xfrm>
              <a:off x="37176" y="1090469"/>
              <a:ext cx="1240097" cy="11949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2863" tIns="42863" rIns="42863" bIns="42863" anchor="ctr" anchorCtr="0">
              <a:noAutofit/>
            </a:bodyPr>
            <a:lstStyle/>
            <a:p>
              <a:pPr algn="ctr">
                <a:lnSpc>
                  <a:spcPct val="90000"/>
                </a:lnSpc>
                <a:buClr>
                  <a:schemeClr val="lt1"/>
                </a:buClr>
                <a:buSzPts val="1500"/>
              </a:pPr>
              <a:r>
                <a:rPr lang="en-GB" sz="1125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Single cycle processor skeleton</a:t>
              </a:r>
              <a:endParaRPr sz="1125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" name="Google Shape;124;p4"/>
            <p:cNvSpPr/>
            <p:nvPr/>
          </p:nvSpPr>
          <p:spPr>
            <a:xfrm>
              <a:off x="1445895" y="1524934"/>
              <a:ext cx="278663" cy="325983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ABBADE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25" name="Google Shape;125;p4"/>
            <p:cNvSpPr txBox="1"/>
            <p:nvPr/>
          </p:nvSpPr>
          <p:spPr>
            <a:xfrm>
              <a:off x="1445895" y="1590131"/>
              <a:ext cx="195064" cy="1955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  <a:buClr>
                  <a:schemeClr val="dk1"/>
                </a:buClr>
                <a:buSzPts val="1200"/>
              </a:pPr>
              <a:endParaRPr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" name="Google Shape;126;p4"/>
            <p:cNvSpPr/>
            <p:nvPr/>
          </p:nvSpPr>
          <p:spPr>
            <a:xfrm>
              <a:off x="1840230" y="1053293"/>
              <a:ext cx="1314449" cy="1269265"/>
            </a:xfrm>
            <a:prstGeom prst="roundRect">
              <a:avLst>
                <a:gd name="adj" fmla="val 10000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27" name="Google Shape;127;p4"/>
            <p:cNvSpPr txBox="1"/>
            <p:nvPr/>
          </p:nvSpPr>
          <p:spPr>
            <a:xfrm>
              <a:off x="1877406" y="1090469"/>
              <a:ext cx="1240097" cy="11949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2863" tIns="42863" rIns="42863" bIns="42863" anchor="ctr" anchorCtr="0">
              <a:noAutofit/>
            </a:bodyPr>
            <a:lstStyle/>
            <a:p>
              <a:pPr algn="ctr">
                <a:lnSpc>
                  <a:spcPct val="90000"/>
                </a:lnSpc>
                <a:buClr>
                  <a:schemeClr val="lt1"/>
                </a:buClr>
                <a:buSzPts val="1500"/>
              </a:pPr>
              <a:r>
                <a:rPr lang="en-GB" sz="1125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Functional single cycle processor</a:t>
              </a:r>
              <a:endParaRPr sz="1125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" name="Google Shape;128;p4"/>
            <p:cNvSpPr/>
            <p:nvPr/>
          </p:nvSpPr>
          <p:spPr>
            <a:xfrm>
              <a:off x="3286125" y="1524934"/>
              <a:ext cx="278663" cy="325983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ABBADE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29" name="Google Shape;129;p4"/>
            <p:cNvSpPr txBox="1"/>
            <p:nvPr/>
          </p:nvSpPr>
          <p:spPr>
            <a:xfrm>
              <a:off x="3286125" y="1590131"/>
              <a:ext cx="195064" cy="1955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  <a:buClr>
                  <a:schemeClr val="dk1"/>
                </a:buClr>
                <a:buSzPts val="1200"/>
              </a:pPr>
              <a:endParaRPr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" name="Google Shape;130;p4"/>
            <p:cNvSpPr/>
            <p:nvPr/>
          </p:nvSpPr>
          <p:spPr>
            <a:xfrm>
              <a:off x="3680460" y="1053293"/>
              <a:ext cx="1314449" cy="1269265"/>
            </a:xfrm>
            <a:prstGeom prst="roundRect">
              <a:avLst>
                <a:gd name="adj" fmla="val 10000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31" name="Google Shape;131;p4"/>
            <p:cNvSpPr txBox="1"/>
            <p:nvPr/>
          </p:nvSpPr>
          <p:spPr>
            <a:xfrm>
              <a:off x="3717636" y="1090469"/>
              <a:ext cx="1240097" cy="11949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2863" tIns="42863" rIns="42863" bIns="42863" anchor="ctr" anchorCtr="0">
              <a:noAutofit/>
            </a:bodyPr>
            <a:lstStyle/>
            <a:p>
              <a:pPr algn="ctr">
                <a:lnSpc>
                  <a:spcPct val="90000"/>
                </a:lnSpc>
                <a:buClr>
                  <a:schemeClr val="lt1"/>
                </a:buClr>
                <a:buSzPts val="1500"/>
              </a:pPr>
              <a:r>
                <a:rPr lang="en-GB" sz="1125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Single cycle processor with multiplication</a:t>
              </a:r>
              <a:endParaRPr sz="1125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" name="Google Shape;132;p4"/>
            <p:cNvSpPr/>
            <p:nvPr/>
          </p:nvSpPr>
          <p:spPr>
            <a:xfrm>
              <a:off x="5126355" y="1524934"/>
              <a:ext cx="278663" cy="325983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ABBADE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33" name="Google Shape;133;p4"/>
            <p:cNvSpPr txBox="1"/>
            <p:nvPr/>
          </p:nvSpPr>
          <p:spPr>
            <a:xfrm>
              <a:off x="5126355" y="1590131"/>
              <a:ext cx="195064" cy="1955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  <a:buClr>
                  <a:schemeClr val="dk1"/>
                </a:buClr>
                <a:buSzPts val="1200"/>
              </a:pPr>
              <a:endParaRPr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" name="Google Shape;134;p4"/>
            <p:cNvSpPr/>
            <p:nvPr/>
          </p:nvSpPr>
          <p:spPr>
            <a:xfrm>
              <a:off x="5520690" y="1053293"/>
              <a:ext cx="1314449" cy="1269265"/>
            </a:xfrm>
            <a:prstGeom prst="roundRect">
              <a:avLst>
                <a:gd name="adj" fmla="val 10000"/>
              </a:avLst>
            </a:prstGeom>
            <a:solidFill>
              <a:schemeClr val="accent1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35" name="Google Shape;135;p4"/>
            <p:cNvSpPr txBox="1"/>
            <p:nvPr/>
          </p:nvSpPr>
          <p:spPr>
            <a:xfrm>
              <a:off x="5557866" y="1090469"/>
              <a:ext cx="1240097" cy="11949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2863" tIns="42863" rIns="42863" bIns="42863" anchor="ctr" anchorCtr="0">
              <a:noAutofit/>
            </a:bodyPr>
            <a:lstStyle/>
            <a:p>
              <a:pPr algn="ctr">
                <a:lnSpc>
                  <a:spcPct val="90000"/>
                </a:lnSpc>
                <a:buClr>
                  <a:schemeClr val="lt1"/>
                </a:buClr>
                <a:buSzPts val="1500"/>
              </a:pPr>
              <a:r>
                <a:rPr lang="en-GB" sz="1125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Pipelined processor</a:t>
              </a:r>
              <a:endParaRPr sz="1125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" name="Google Shape;136;p4"/>
            <p:cNvSpPr/>
            <p:nvPr/>
          </p:nvSpPr>
          <p:spPr>
            <a:xfrm>
              <a:off x="6966585" y="1524934"/>
              <a:ext cx="278663" cy="325983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ABBADE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37" name="Google Shape;137;p4"/>
            <p:cNvSpPr txBox="1"/>
            <p:nvPr/>
          </p:nvSpPr>
          <p:spPr>
            <a:xfrm>
              <a:off x="6966585" y="1590131"/>
              <a:ext cx="195064" cy="1955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  <a:buClr>
                  <a:schemeClr val="dk1"/>
                </a:buClr>
                <a:buSzPts val="1200"/>
              </a:pPr>
              <a:endParaRPr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" name="Google Shape;138;p4"/>
            <p:cNvSpPr/>
            <p:nvPr/>
          </p:nvSpPr>
          <p:spPr>
            <a:xfrm>
              <a:off x="7360920" y="1053293"/>
              <a:ext cx="1314449" cy="1269265"/>
            </a:xfrm>
            <a:prstGeom prst="roundRect">
              <a:avLst>
                <a:gd name="adj" fmla="val 10000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39" name="Google Shape;139;p4"/>
            <p:cNvSpPr txBox="1"/>
            <p:nvPr/>
          </p:nvSpPr>
          <p:spPr>
            <a:xfrm>
              <a:off x="7398096" y="1090469"/>
              <a:ext cx="1240097" cy="11949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2863" tIns="42863" rIns="42863" bIns="42863" anchor="ctr" anchorCtr="0">
              <a:noAutofit/>
            </a:bodyPr>
            <a:lstStyle/>
            <a:p>
              <a:pPr algn="ctr">
                <a:lnSpc>
                  <a:spcPct val="90000"/>
                </a:lnSpc>
                <a:buClr>
                  <a:schemeClr val="lt1"/>
                </a:buClr>
                <a:buSzPts val="1500"/>
              </a:pPr>
              <a:r>
                <a:rPr lang="en-GB" sz="1125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Pipelined processor with data hazard resolution</a:t>
              </a:r>
              <a:endParaRPr sz="1125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" name="Google Shape;140;p4"/>
            <p:cNvSpPr/>
            <p:nvPr/>
          </p:nvSpPr>
          <p:spPr>
            <a:xfrm>
              <a:off x="8806814" y="1524934"/>
              <a:ext cx="278663" cy="325983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ABBADE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41" name="Google Shape;141;p4"/>
            <p:cNvSpPr txBox="1"/>
            <p:nvPr/>
          </p:nvSpPr>
          <p:spPr>
            <a:xfrm>
              <a:off x="8806814" y="1590131"/>
              <a:ext cx="195064" cy="1955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  <a:buClr>
                  <a:schemeClr val="dk1"/>
                </a:buClr>
                <a:buSzPts val="1200"/>
              </a:pPr>
              <a:endParaRPr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" name="Google Shape;142;p4"/>
            <p:cNvSpPr/>
            <p:nvPr/>
          </p:nvSpPr>
          <p:spPr>
            <a:xfrm>
              <a:off x="9201149" y="1053293"/>
              <a:ext cx="1314449" cy="1269265"/>
            </a:xfrm>
            <a:prstGeom prst="roundRect">
              <a:avLst>
                <a:gd name="adj" fmla="val 10000"/>
              </a:avLst>
            </a:prstGeom>
            <a:solidFill>
              <a:srgbClr val="B3C6E7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43" name="Google Shape;143;p4"/>
            <p:cNvSpPr txBox="1"/>
            <p:nvPr/>
          </p:nvSpPr>
          <p:spPr>
            <a:xfrm>
              <a:off x="9238325" y="1090469"/>
              <a:ext cx="1240097" cy="11949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2863" tIns="42863" rIns="42863" bIns="42863" anchor="ctr" anchorCtr="0">
              <a:noAutofit/>
            </a:bodyPr>
            <a:lstStyle/>
            <a:p>
              <a:pPr algn="ctr">
                <a:lnSpc>
                  <a:spcPct val="90000"/>
                </a:lnSpc>
                <a:buClr>
                  <a:schemeClr val="lt1"/>
                </a:buClr>
                <a:buSzPts val="1500"/>
              </a:pPr>
              <a:r>
                <a:rPr lang="en-GB" sz="1125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Advanced acceleration </a:t>
              </a:r>
              <a:endParaRPr sz="1125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5" name="Google Shape;305;p13">
            <a:extLst>
              <a:ext uri="{FF2B5EF4-FFF2-40B4-BE49-F238E27FC236}">
                <a16:creationId xmlns:a16="http://schemas.microsoft.com/office/drawing/2014/main" id="{197E8DEF-9710-D971-1995-10DA669C5CE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52467" y="4118148"/>
            <a:ext cx="590220" cy="59022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306;p13">
            <a:extLst>
              <a:ext uri="{FF2B5EF4-FFF2-40B4-BE49-F238E27FC236}">
                <a16:creationId xmlns:a16="http://schemas.microsoft.com/office/drawing/2014/main" id="{4BF32D45-9167-5D5F-1260-3B8DA0CD516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28409" y="4118147"/>
            <a:ext cx="590220" cy="59022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308;p13">
            <a:extLst>
              <a:ext uri="{FF2B5EF4-FFF2-40B4-BE49-F238E27FC236}">
                <a16:creationId xmlns:a16="http://schemas.microsoft.com/office/drawing/2014/main" id="{3FCA85AD-39A2-B9D7-0ADF-B77FA25BEB4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26221" y="4169905"/>
            <a:ext cx="590220" cy="59022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57;p4">
            <a:extLst>
              <a:ext uri="{FF2B5EF4-FFF2-40B4-BE49-F238E27FC236}">
                <a16:creationId xmlns:a16="http://schemas.microsoft.com/office/drawing/2014/main" id="{92D95964-2695-06ED-21BE-7F5B3EF4F22D}"/>
              </a:ext>
            </a:extLst>
          </p:cNvPr>
          <p:cNvSpPr/>
          <p:nvPr/>
        </p:nvSpPr>
        <p:spPr>
          <a:xfrm>
            <a:off x="2129689" y="2938126"/>
            <a:ext cx="6494467" cy="395207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r>
              <a:rPr lang="en-GB"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Simulation</a:t>
            </a: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158;p4">
            <a:extLst>
              <a:ext uri="{FF2B5EF4-FFF2-40B4-BE49-F238E27FC236}">
                <a16:creationId xmlns:a16="http://schemas.microsoft.com/office/drawing/2014/main" id="{4DBD5539-C596-FFCD-C097-314A1AB05036}"/>
              </a:ext>
            </a:extLst>
          </p:cNvPr>
          <p:cNvSpPr/>
          <p:nvPr/>
        </p:nvSpPr>
        <p:spPr>
          <a:xfrm>
            <a:off x="2135180" y="3274100"/>
            <a:ext cx="6488978" cy="391397"/>
          </a:xfrm>
          <a:prstGeom prst="roundRect">
            <a:avLst>
              <a:gd name="adj" fmla="val 16667"/>
            </a:avLst>
          </a:prstGeom>
          <a:solidFill>
            <a:schemeClr val="accent6">
              <a:lumMod val="40000"/>
              <a:lumOff val="60000"/>
            </a:schemeClr>
          </a:solidFill>
          <a:ln w="12700" cap="flat" cmpd="sng">
            <a:solidFill>
              <a:srgbClr val="517E3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r>
              <a:rPr lang="en-GB" sz="135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Backend flow (synthesis-only)</a:t>
            </a:r>
            <a:endParaRPr lang="en-US" sz="135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" name="Google Shape;158;p4">
            <a:extLst>
              <a:ext uri="{FF2B5EF4-FFF2-40B4-BE49-F238E27FC236}">
                <a16:creationId xmlns:a16="http://schemas.microsoft.com/office/drawing/2014/main" id="{C3EE7B30-53EA-7CE5-949F-278E82E15B63}"/>
              </a:ext>
            </a:extLst>
          </p:cNvPr>
          <p:cNvSpPr/>
          <p:nvPr/>
        </p:nvSpPr>
        <p:spPr>
          <a:xfrm>
            <a:off x="4845930" y="3712957"/>
            <a:ext cx="2218125" cy="391397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 w="12700" cap="flat" cmpd="sng">
            <a:solidFill>
              <a:srgbClr val="517E3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r>
              <a:rPr lang="en-GB"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Backend flow (complete)</a:t>
            </a: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20;p4">
            <a:extLst>
              <a:ext uri="{FF2B5EF4-FFF2-40B4-BE49-F238E27FC236}">
                <a16:creationId xmlns:a16="http://schemas.microsoft.com/office/drawing/2014/main" id="{85A3CFCF-E8C0-C042-308D-E4D0D6936E9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" y="5286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rmAutofit/>
          </a:bodyPr>
          <a:lstStyle/>
          <a:p>
            <a:pPr>
              <a:buSzPts val="4400"/>
            </a:pPr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Today’s session: Pipelined processor</a:t>
            </a:r>
            <a:endParaRPr/>
          </a:p>
        </p:txBody>
      </p:sp>
      <p:sp>
        <p:nvSpPr>
          <p:cNvPr id="19" name="Google Shape;148;p4">
            <a:extLst>
              <a:ext uri="{FF2B5EF4-FFF2-40B4-BE49-F238E27FC236}">
                <a16:creationId xmlns:a16="http://schemas.microsoft.com/office/drawing/2014/main" id="{3080C2C2-2259-8268-98ED-A7384F9CEAF8}"/>
              </a:ext>
            </a:extLst>
          </p:cNvPr>
          <p:cNvSpPr txBox="1"/>
          <p:nvPr/>
        </p:nvSpPr>
        <p:spPr>
          <a:xfrm>
            <a:off x="2277283" y="869989"/>
            <a:ext cx="1785838" cy="346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algn="ctr"/>
            <a:r>
              <a:rPr lang="en-GB" sz="1800" b="1">
                <a:solidFill>
                  <a:schemeClr val="bg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Session 1</a:t>
            </a:r>
            <a:endParaRPr sz="1800" b="1">
              <a:solidFill>
                <a:schemeClr val="bg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149;p4">
            <a:extLst>
              <a:ext uri="{FF2B5EF4-FFF2-40B4-BE49-F238E27FC236}">
                <a16:creationId xmlns:a16="http://schemas.microsoft.com/office/drawing/2014/main" id="{9E570D9A-E84D-F24B-E27B-BD613148DF83}"/>
              </a:ext>
            </a:extLst>
          </p:cNvPr>
          <p:cNvSpPr txBox="1"/>
          <p:nvPr/>
        </p:nvSpPr>
        <p:spPr>
          <a:xfrm>
            <a:off x="5065168" y="889783"/>
            <a:ext cx="1785838" cy="346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algn="ctr"/>
            <a:r>
              <a:rPr lang="en-GB" sz="1800" b="1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Session 2</a:t>
            </a:r>
            <a:endParaRPr sz="1800" b="1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150;p4">
            <a:extLst>
              <a:ext uri="{FF2B5EF4-FFF2-40B4-BE49-F238E27FC236}">
                <a16:creationId xmlns:a16="http://schemas.microsoft.com/office/drawing/2014/main" id="{732F8727-CB54-3C6D-23A1-34CD8B91EF71}"/>
              </a:ext>
            </a:extLst>
          </p:cNvPr>
          <p:cNvSpPr txBox="1"/>
          <p:nvPr/>
        </p:nvSpPr>
        <p:spPr>
          <a:xfrm>
            <a:off x="7115701" y="889783"/>
            <a:ext cx="1785838" cy="346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algn="ctr"/>
            <a:r>
              <a:rPr lang="en-GB" sz="1800" b="1">
                <a:solidFill>
                  <a:schemeClr val="bg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Session 3</a:t>
            </a:r>
            <a:endParaRPr sz="1800" b="1">
              <a:solidFill>
                <a:schemeClr val="bg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1F76498-4EE9-2874-1A0B-23066A0B500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smtClean="0"/>
              <a:pPr/>
              <a:t>9</a:t>
            </a:fld>
            <a:endParaRPr lang="en-GB"/>
          </a:p>
        </p:txBody>
      </p:sp>
      <p:sp>
        <p:nvSpPr>
          <p:cNvPr id="22" name="TextBox 8">
            <a:extLst>
              <a:ext uri="{FF2B5EF4-FFF2-40B4-BE49-F238E27FC236}">
                <a16:creationId xmlns:a16="http://schemas.microsoft.com/office/drawing/2014/main" id="{2FF847B5-95B7-A955-4E87-D016069F8027}"/>
              </a:ext>
            </a:extLst>
          </p:cNvPr>
          <p:cNvSpPr txBox="1"/>
          <p:nvPr/>
        </p:nvSpPr>
        <p:spPr>
          <a:xfrm>
            <a:off x="5289368" y="1118713"/>
            <a:ext cx="126953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[Apr-01/02]</a:t>
            </a:r>
            <a:endParaRPr lang="en-US" sz="1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29EDDED-1F5E-8957-980C-1217CAC3DF68}"/>
              </a:ext>
            </a:extLst>
          </p:cNvPr>
          <p:cNvSpPr txBox="1"/>
          <p:nvPr/>
        </p:nvSpPr>
        <p:spPr>
          <a:xfrm>
            <a:off x="4578306" y="2954230"/>
            <a:ext cx="3500129" cy="41549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2100" b="1"/>
              <a:t>Obj-1: mult2</a:t>
            </a:r>
          </a:p>
        </p:txBody>
      </p:sp>
    </p:spTree>
    <p:extLst>
      <p:ext uri="{BB962C8B-B14F-4D97-AF65-F5344CB8AC3E}">
        <p14:creationId xmlns:p14="http://schemas.microsoft.com/office/powerpoint/2010/main" val="11806841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Obj-1: mult2</a:t>
            </a:r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27" name="Google Shape;527;p9"/>
          <p:cNvSpPr txBox="1">
            <a:spLocks noGrp="1"/>
          </p:cNvSpPr>
          <p:nvPr>
            <p:ph type="body" idx="1"/>
          </p:nvPr>
        </p:nvSpPr>
        <p:spPr>
          <a:xfrm>
            <a:off x="348712" y="1369219"/>
            <a:ext cx="4166138" cy="35956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171450" lvl="0" indent="-17148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Pipelined processor</a:t>
            </a:r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514350" lvl="1" indent="-1714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Introduce the </a:t>
            </a:r>
            <a:r>
              <a:rPr lang="en-US" b="1">
                <a:latin typeface="Calibri" panose="020F0502020204030204" pitchFamily="34" charset="0"/>
                <a:cs typeface="Calibri" panose="020F0502020204030204" pitchFamily="34" charset="0"/>
              </a:rPr>
              <a:t>pipeline registers </a:t>
            </a:r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to </a:t>
            </a:r>
            <a:r>
              <a:rPr lang="en-US" b="1" err="1">
                <a:latin typeface="Calibri" panose="020F0502020204030204" pitchFamily="34" charset="0"/>
                <a:ea typeface="Consolas"/>
                <a:cs typeface="Calibri" panose="020F0502020204030204" pitchFamily="34" charset="0"/>
                <a:sym typeface="Consolas"/>
              </a:rPr>
              <a:t>cpu.v</a:t>
            </a:r>
            <a:r>
              <a:rPr lang="en-US" b="1">
                <a:latin typeface="Calibri" panose="020F0502020204030204" pitchFamily="34" charset="0"/>
                <a:ea typeface="Consolas"/>
                <a:cs typeface="Calibri" panose="020F0502020204030204" pitchFamily="34" charset="0"/>
                <a:sym typeface="Consolas"/>
              </a:rPr>
              <a:t> </a:t>
            </a:r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to support pipelined execution</a:t>
            </a:r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514350" lvl="1" indent="-65722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>
              <a:solidFill>
                <a:srgbClr val="00000A"/>
              </a:solidFill>
              <a:latin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514350" lvl="1" indent="-1714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000A"/>
              </a:buClr>
              <a:buSzPct val="100000"/>
              <a:buChar char="•"/>
            </a:pPr>
            <a:r>
              <a:rPr lang="en-US">
                <a:solidFill>
                  <a:srgbClr val="00000A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/>
              </a:rPr>
              <a:t>Run </a:t>
            </a:r>
            <a:r>
              <a:rPr lang="en-US" b="1">
                <a:solidFill>
                  <a:srgbClr val="00000A"/>
                </a:solidFill>
                <a:latin typeface="Calibri" panose="020F0502020204030204" pitchFamily="34" charset="0"/>
                <a:ea typeface="Consolas"/>
                <a:cs typeface="Calibri" panose="020F0502020204030204" pitchFamily="34" charset="0"/>
                <a:sym typeface="Consolas"/>
              </a:rPr>
              <a:t>MULT2</a:t>
            </a:r>
            <a:endParaRPr b="1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514350" lvl="1" indent="-1714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000A"/>
              </a:buClr>
              <a:buSzPct val="100000"/>
              <a:buChar char="•"/>
            </a:pPr>
            <a:r>
              <a:rPr lang="en-US">
                <a:solidFill>
                  <a:srgbClr val="00000A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/>
              </a:rPr>
              <a:t>Run backend flow, track the timing and area change along the steps.</a:t>
            </a:r>
          </a:p>
          <a:p>
            <a:pPr marL="971550" lvl="2" indent="-171450">
              <a:buClr>
                <a:srgbClr val="00000A"/>
              </a:buClr>
              <a:buSzPct val="100000"/>
            </a:pPr>
            <a:r>
              <a:rPr lang="en-US">
                <a:solidFill>
                  <a:srgbClr val="00000A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/>
              </a:rPr>
              <a:t>Synthesi</a:t>
            </a:r>
            <a:r>
              <a:rPr lang="en-US">
                <a:solidFill>
                  <a:srgbClr val="00000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 -&gt; Floorplan -&gt; Signoff</a:t>
            </a:r>
            <a:endParaRPr lang="en-US">
              <a:solidFill>
                <a:srgbClr val="00000A"/>
              </a:solidFill>
              <a:latin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514350" lvl="1" indent="-1714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000A"/>
              </a:buClr>
              <a:buSzPct val="100000"/>
              <a:buChar char="•"/>
            </a:pPr>
            <a:endParaRPr lang="en-US">
              <a:solidFill>
                <a:srgbClr val="00000A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514350" lvl="1" indent="-1714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000A"/>
              </a:buClr>
              <a:buSzPct val="100000"/>
              <a:buChar char="•"/>
            </a:pPr>
            <a:r>
              <a:rPr lang="en-US">
                <a:solidFill>
                  <a:srgbClr val="00000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Complete the report</a:t>
            </a:r>
          </a:p>
          <a:p>
            <a:pPr marL="514350" lvl="1" indent="-1714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000A"/>
              </a:buClr>
              <a:buSzPct val="100000"/>
              <a:buChar char="•"/>
            </a:pPr>
            <a:endParaRPr lang="en-US">
              <a:solidFill>
                <a:srgbClr val="00000A"/>
              </a:solidFill>
              <a:latin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528" name="Google Shape;528;p9"/>
          <p:cNvSpPr txBox="1">
            <a:spLocks noGrp="1"/>
          </p:cNvSpPr>
          <p:nvPr>
            <p:ph type="body" idx="2"/>
          </p:nvPr>
        </p:nvSpPr>
        <p:spPr>
          <a:xfrm>
            <a:off x="4629150" y="671629"/>
            <a:ext cx="4117706" cy="29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171450" lvl="0" indent="-17148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MULT2 </a:t>
            </a:r>
            <a:endParaRPr>
              <a:highlight>
                <a:srgbClr val="FFFF00"/>
              </a:highlight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29" name="Google Shape;529;p9"/>
          <p:cNvSpPr/>
          <p:nvPr/>
        </p:nvSpPr>
        <p:spPr>
          <a:xfrm>
            <a:off x="4868628" y="1545956"/>
            <a:ext cx="2718014" cy="2925916"/>
          </a:xfrm>
          <a:prstGeom prst="rect">
            <a:avLst/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chemeClr val="lt1"/>
                </a:solidFill>
                <a:latin typeface="Consolas" panose="020B0609020204030204" pitchFamily="49" charset="0"/>
                <a:ea typeface="Consolas"/>
                <a:cs typeface="Calibri" panose="020F0502020204030204" pitchFamily="34" charset="0"/>
                <a:sym typeface="Consolas"/>
              </a:rPr>
              <a:t># load operands </a:t>
            </a:r>
            <a:endParaRPr>
              <a:latin typeface="Consolas" panose="020B0609020204030204" pitchFamily="49" charset="0"/>
              <a:cs typeface="Calibri" panose="020F0502020204030204" pitchFamily="34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err="1">
                <a:solidFill>
                  <a:schemeClr val="lt1"/>
                </a:solidFill>
                <a:latin typeface="Consolas" panose="020B0609020204030204" pitchFamily="49" charset="0"/>
                <a:ea typeface="Consolas"/>
                <a:cs typeface="Calibri" panose="020F0502020204030204" pitchFamily="34" charset="0"/>
                <a:sym typeface="Consolas"/>
              </a:rPr>
              <a:t>ld</a:t>
            </a:r>
            <a:r>
              <a:rPr lang="en-US" sz="750">
                <a:solidFill>
                  <a:schemeClr val="lt1"/>
                </a:solidFill>
                <a:latin typeface="Consolas" panose="020B0609020204030204" pitchFamily="49" charset="0"/>
                <a:ea typeface="Consolas"/>
                <a:cs typeface="Calibri" panose="020F0502020204030204" pitchFamily="34" charset="0"/>
                <a:sym typeface="Consolas"/>
              </a:rPr>
              <a:t> x8, 0(x0)</a:t>
            </a:r>
            <a:endParaRPr>
              <a:latin typeface="Consolas" panose="020B0609020204030204" pitchFamily="49" charset="0"/>
              <a:cs typeface="Calibri" panose="020F0502020204030204" pitchFamily="34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err="1">
                <a:solidFill>
                  <a:schemeClr val="lt1"/>
                </a:solidFill>
                <a:latin typeface="Consolas" panose="020B0609020204030204" pitchFamily="49" charset="0"/>
                <a:ea typeface="Consolas"/>
                <a:cs typeface="Calibri" panose="020F0502020204030204" pitchFamily="34" charset="0"/>
                <a:sym typeface="Consolas"/>
              </a:rPr>
              <a:t>ld</a:t>
            </a:r>
            <a:r>
              <a:rPr lang="en-US" sz="750">
                <a:solidFill>
                  <a:schemeClr val="lt1"/>
                </a:solidFill>
                <a:latin typeface="Consolas" panose="020B0609020204030204" pitchFamily="49" charset="0"/>
                <a:ea typeface="Consolas"/>
                <a:cs typeface="Calibri" panose="020F0502020204030204" pitchFamily="34" charset="0"/>
                <a:sym typeface="Consolas"/>
              </a:rPr>
              <a:t> x9, 8(x0)</a:t>
            </a:r>
            <a:endParaRPr>
              <a:latin typeface="Consolas" panose="020B0609020204030204" pitchFamily="49" charset="0"/>
              <a:cs typeface="Calibri" panose="020F0502020204030204" pitchFamily="34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err="1">
                <a:solidFill>
                  <a:schemeClr val="lt1"/>
                </a:solidFill>
                <a:latin typeface="Consolas" panose="020B0609020204030204" pitchFamily="49" charset="0"/>
                <a:ea typeface="Consolas"/>
                <a:cs typeface="Calibri" panose="020F0502020204030204" pitchFamily="34" charset="0"/>
                <a:sym typeface="Consolas"/>
              </a:rPr>
              <a:t>ld</a:t>
            </a:r>
            <a:r>
              <a:rPr lang="en-US" sz="750">
                <a:solidFill>
                  <a:schemeClr val="lt1"/>
                </a:solidFill>
                <a:latin typeface="Consolas" panose="020B0609020204030204" pitchFamily="49" charset="0"/>
                <a:ea typeface="Consolas"/>
                <a:cs typeface="Calibri" panose="020F0502020204030204" pitchFamily="34" charset="0"/>
                <a:sym typeface="Consolas"/>
              </a:rPr>
              <a:t> x10, 16(x0)</a:t>
            </a:r>
            <a:endParaRPr>
              <a:latin typeface="Consolas" panose="020B0609020204030204" pitchFamily="49" charset="0"/>
              <a:cs typeface="Calibri" panose="020F0502020204030204" pitchFamily="34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err="1">
                <a:solidFill>
                  <a:schemeClr val="lt1"/>
                </a:solidFill>
                <a:latin typeface="Consolas" panose="020B0609020204030204" pitchFamily="49" charset="0"/>
                <a:ea typeface="Consolas"/>
                <a:cs typeface="Calibri" panose="020F0502020204030204" pitchFamily="34" charset="0"/>
                <a:sym typeface="Consolas"/>
              </a:rPr>
              <a:t>ld</a:t>
            </a:r>
            <a:r>
              <a:rPr lang="en-US" sz="750">
                <a:solidFill>
                  <a:schemeClr val="lt1"/>
                </a:solidFill>
                <a:latin typeface="Consolas" panose="020B0609020204030204" pitchFamily="49" charset="0"/>
                <a:ea typeface="Consolas"/>
                <a:cs typeface="Calibri" panose="020F0502020204030204" pitchFamily="34" charset="0"/>
                <a:sym typeface="Consolas"/>
              </a:rPr>
              <a:t> x11, 24(x0)</a:t>
            </a:r>
            <a:endParaRPr>
              <a:latin typeface="Consolas" panose="020B0609020204030204" pitchFamily="49" charset="0"/>
              <a:cs typeface="Calibri" panose="020F0502020204030204" pitchFamily="34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err="1">
                <a:solidFill>
                  <a:schemeClr val="lt1"/>
                </a:solidFill>
                <a:latin typeface="Consolas" panose="020B0609020204030204" pitchFamily="49" charset="0"/>
                <a:ea typeface="Consolas"/>
                <a:cs typeface="Calibri" panose="020F0502020204030204" pitchFamily="34" charset="0"/>
                <a:sym typeface="Consolas"/>
              </a:rPr>
              <a:t>ld</a:t>
            </a:r>
            <a:r>
              <a:rPr lang="en-US" sz="750">
                <a:solidFill>
                  <a:schemeClr val="lt1"/>
                </a:solidFill>
                <a:latin typeface="Consolas" panose="020B0609020204030204" pitchFamily="49" charset="0"/>
                <a:ea typeface="Consolas"/>
                <a:cs typeface="Calibri" panose="020F0502020204030204" pitchFamily="34" charset="0"/>
                <a:sym typeface="Consolas"/>
              </a:rPr>
              <a:t> x12, 32(x0)</a:t>
            </a:r>
            <a:endParaRPr>
              <a:latin typeface="Consolas" panose="020B0609020204030204" pitchFamily="49" charset="0"/>
              <a:cs typeface="Calibri" panose="020F0502020204030204" pitchFamily="34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err="1">
                <a:solidFill>
                  <a:schemeClr val="lt1"/>
                </a:solidFill>
                <a:latin typeface="Consolas" panose="020B0609020204030204" pitchFamily="49" charset="0"/>
                <a:ea typeface="Consolas"/>
                <a:cs typeface="Calibri" panose="020F0502020204030204" pitchFamily="34" charset="0"/>
                <a:sym typeface="Consolas"/>
              </a:rPr>
              <a:t>ld</a:t>
            </a:r>
            <a:r>
              <a:rPr lang="en-US" sz="750">
                <a:solidFill>
                  <a:schemeClr val="lt1"/>
                </a:solidFill>
                <a:latin typeface="Consolas" panose="020B0609020204030204" pitchFamily="49" charset="0"/>
                <a:ea typeface="Consolas"/>
                <a:cs typeface="Calibri" panose="020F0502020204030204" pitchFamily="34" charset="0"/>
                <a:sym typeface="Consolas"/>
              </a:rPr>
              <a:t> x13, 40(x0)</a:t>
            </a:r>
            <a:endParaRPr>
              <a:latin typeface="Consolas" panose="020B0609020204030204" pitchFamily="49" charset="0"/>
              <a:cs typeface="Calibri" panose="020F0502020204030204" pitchFamily="34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err="1">
                <a:solidFill>
                  <a:schemeClr val="lt1"/>
                </a:solidFill>
                <a:latin typeface="Consolas" panose="020B0609020204030204" pitchFamily="49" charset="0"/>
                <a:ea typeface="Consolas"/>
                <a:cs typeface="Calibri" panose="020F0502020204030204" pitchFamily="34" charset="0"/>
                <a:sym typeface="Consolas"/>
              </a:rPr>
              <a:t>ld</a:t>
            </a:r>
            <a:r>
              <a:rPr lang="en-US" sz="750">
                <a:solidFill>
                  <a:schemeClr val="lt1"/>
                </a:solidFill>
                <a:latin typeface="Consolas" panose="020B0609020204030204" pitchFamily="49" charset="0"/>
                <a:ea typeface="Consolas"/>
                <a:cs typeface="Calibri" panose="020F0502020204030204" pitchFamily="34" charset="0"/>
                <a:sym typeface="Consolas"/>
              </a:rPr>
              <a:t> x14, 48(x0)</a:t>
            </a:r>
            <a:endParaRPr>
              <a:latin typeface="Consolas" panose="020B0609020204030204" pitchFamily="49" charset="0"/>
              <a:cs typeface="Calibri" panose="020F0502020204030204" pitchFamily="34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err="1">
                <a:solidFill>
                  <a:schemeClr val="lt1"/>
                </a:solidFill>
                <a:latin typeface="Consolas" panose="020B0609020204030204" pitchFamily="49" charset="0"/>
                <a:ea typeface="Consolas"/>
                <a:cs typeface="Calibri" panose="020F0502020204030204" pitchFamily="34" charset="0"/>
                <a:sym typeface="Consolas"/>
              </a:rPr>
              <a:t>ld</a:t>
            </a:r>
            <a:r>
              <a:rPr lang="en-US" sz="750">
                <a:solidFill>
                  <a:schemeClr val="lt1"/>
                </a:solidFill>
                <a:latin typeface="Consolas" panose="020B0609020204030204" pitchFamily="49" charset="0"/>
                <a:ea typeface="Consolas"/>
                <a:cs typeface="Calibri" panose="020F0502020204030204" pitchFamily="34" charset="0"/>
                <a:sym typeface="Consolas"/>
              </a:rPr>
              <a:t> x15, 56(x0)</a:t>
            </a:r>
            <a:endParaRPr>
              <a:latin typeface="Consolas" panose="020B0609020204030204" pitchFamily="49" charset="0"/>
              <a:cs typeface="Calibri" panose="020F0502020204030204" pitchFamily="34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err="1">
                <a:solidFill>
                  <a:schemeClr val="lt1"/>
                </a:solidFill>
                <a:latin typeface="Consolas" panose="020B0609020204030204" pitchFamily="49" charset="0"/>
                <a:ea typeface="Consolas"/>
                <a:cs typeface="Calibri" panose="020F0502020204030204" pitchFamily="34" charset="0"/>
                <a:sym typeface="Consolas"/>
              </a:rPr>
              <a:t>ld</a:t>
            </a:r>
            <a:r>
              <a:rPr lang="en-US" sz="750">
                <a:solidFill>
                  <a:schemeClr val="lt1"/>
                </a:solidFill>
                <a:latin typeface="Consolas" panose="020B0609020204030204" pitchFamily="49" charset="0"/>
                <a:ea typeface="Consolas"/>
                <a:cs typeface="Calibri" panose="020F0502020204030204" pitchFamily="34" charset="0"/>
                <a:sym typeface="Consolas"/>
              </a:rPr>
              <a:t> x16, 64(x0)</a:t>
            </a:r>
            <a:endParaRPr>
              <a:latin typeface="Consolas" panose="020B0609020204030204" pitchFamily="49" charset="0"/>
              <a:cs typeface="Calibri" panose="020F0502020204030204" pitchFamily="34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err="1">
                <a:solidFill>
                  <a:schemeClr val="lt1"/>
                </a:solidFill>
                <a:latin typeface="Consolas" panose="020B0609020204030204" pitchFamily="49" charset="0"/>
                <a:ea typeface="Consolas"/>
                <a:cs typeface="Calibri" panose="020F0502020204030204" pitchFamily="34" charset="0"/>
                <a:sym typeface="Consolas"/>
              </a:rPr>
              <a:t>ld</a:t>
            </a:r>
            <a:r>
              <a:rPr lang="en-US" sz="750">
                <a:solidFill>
                  <a:schemeClr val="lt1"/>
                </a:solidFill>
                <a:latin typeface="Consolas" panose="020B0609020204030204" pitchFamily="49" charset="0"/>
                <a:ea typeface="Consolas"/>
                <a:cs typeface="Calibri" panose="020F0502020204030204" pitchFamily="34" charset="0"/>
                <a:sym typeface="Consolas"/>
              </a:rPr>
              <a:t> x17, 72(x0)</a:t>
            </a:r>
            <a:endParaRPr>
              <a:latin typeface="Consolas" panose="020B0609020204030204" pitchFamily="49" charset="0"/>
              <a:cs typeface="Calibri" panose="020F0502020204030204" pitchFamily="34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50">
              <a:solidFill>
                <a:schemeClr val="lt1"/>
              </a:solidFill>
              <a:latin typeface="Consolas" panose="020B0609020204030204" pitchFamily="49" charset="0"/>
              <a:ea typeface="Consolas"/>
              <a:cs typeface="Calibri" panose="020F0502020204030204" pitchFamily="34" charset="0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chemeClr val="lt1"/>
                </a:solidFill>
                <a:latin typeface="Consolas" panose="020B0609020204030204" pitchFamily="49" charset="0"/>
                <a:ea typeface="Consolas"/>
                <a:cs typeface="Calibri" panose="020F0502020204030204" pitchFamily="34" charset="0"/>
                <a:sym typeface="Consolas"/>
              </a:rPr>
              <a:t># multiplication</a:t>
            </a:r>
            <a:endParaRPr>
              <a:latin typeface="Consolas" panose="020B0609020204030204" pitchFamily="49" charset="0"/>
              <a:cs typeface="Calibri" panose="020F0502020204030204" pitchFamily="34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err="1">
                <a:solidFill>
                  <a:schemeClr val="lt1"/>
                </a:solidFill>
                <a:latin typeface="Consolas" panose="020B0609020204030204" pitchFamily="49" charset="0"/>
                <a:ea typeface="Consolas"/>
                <a:cs typeface="Calibri" panose="020F0502020204030204" pitchFamily="34" charset="0"/>
                <a:sym typeface="Consolas"/>
              </a:rPr>
              <a:t>mul</a:t>
            </a:r>
            <a:r>
              <a:rPr lang="en-US" sz="750">
                <a:solidFill>
                  <a:schemeClr val="lt1"/>
                </a:solidFill>
                <a:latin typeface="Consolas" panose="020B0609020204030204" pitchFamily="49" charset="0"/>
                <a:ea typeface="Consolas"/>
                <a:cs typeface="Calibri" panose="020F0502020204030204" pitchFamily="34" charset="0"/>
                <a:sym typeface="Consolas"/>
              </a:rPr>
              <a:t> x18, x8, x9</a:t>
            </a:r>
            <a:endParaRPr>
              <a:latin typeface="Consolas" panose="020B0609020204030204" pitchFamily="49" charset="0"/>
              <a:cs typeface="Calibri" panose="020F0502020204030204" pitchFamily="34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err="1">
                <a:solidFill>
                  <a:schemeClr val="lt1"/>
                </a:solidFill>
                <a:latin typeface="Consolas" panose="020B0609020204030204" pitchFamily="49" charset="0"/>
                <a:ea typeface="Consolas"/>
                <a:cs typeface="Calibri" panose="020F0502020204030204" pitchFamily="34" charset="0"/>
                <a:sym typeface="Consolas"/>
              </a:rPr>
              <a:t>mul</a:t>
            </a:r>
            <a:r>
              <a:rPr lang="en-US" sz="750">
                <a:solidFill>
                  <a:schemeClr val="lt1"/>
                </a:solidFill>
                <a:latin typeface="Consolas" panose="020B0609020204030204" pitchFamily="49" charset="0"/>
                <a:ea typeface="Consolas"/>
                <a:cs typeface="Calibri" panose="020F0502020204030204" pitchFamily="34" charset="0"/>
                <a:sym typeface="Consolas"/>
              </a:rPr>
              <a:t> x19, x10, x11</a:t>
            </a:r>
            <a:endParaRPr>
              <a:latin typeface="Consolas" panose="020B0609020204030204" pitchFamily="49" charset="0"/>
              <a:cs typeface="Calibri" panose="020F0502020204030204" pitchFamily="34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err="1">
                <a:solidFill>
                  <a:schemeClr val="lt1"/>
                </a:solidFill>
                <a:latin typeface="Consolas" panose="020B0609020204030204" pitchFamily="49" charset="0"/>
                <a:ea typeface="Consolas"/>
                <a:cs typeface="Calibri" panose="020F0502020204030204" pitchFamily="34" charset="0"/>
                <a:sym typeface="Consolas"/>
              </a:rPr>
              <a:t>mul</a:t>
            </a:r>
            <a:r>
              <a:rPr lang="en-US" sz="750">
                <a:solidFill>
                  <a:schemeClr val="lt1"/>
                </a:solidFill>
                <a:latin typeface="Consolas" panose="020B0609020204030204" pitchFamily="49" charset="0"/>
                <a:ea typeface="Consolas"/>
                <a:cs typeface="Calibri" panose="020F0502020204030204" pitchFamily="34" charset="0"/>
                <a:sym typeface="Consolas"/>
              </a:rPr>
              <a:t> x20, x12, x13</a:t>
            </a:r>
            <a:endParaRPr>
              <a:latin typeface="Consolas" panose="020B0609020204030204" pitchFamily="49" charset="0"/>
              <a:cs typeface="Calibri" panose="020F0502020204030204" pitchFamily="34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err="1">
                <a:solidFill>
                  <a:schemeClr val="lt1"/>
                </a:solidFill>
                <a:latin typeface="Consolas" panose="020B0609020204030204" pitchFamily="49" charset="0"/>
                <a:ea typeface="Consolas"/>
                <a:cs typeface="Calibri" panose="020F0502020204030204" pitchFamily="34" charset="0"/>
                <a:sym typeface="Consolas"/>
              </a:rPr>
              <a:t>mul</a:t>
            </a:r>
            <a:r>
              <a:rPr lang="en-US" sz="750">
                <a:solidFill>
                  <a:schemeClr val="lt1"/>
                </a:solidFill>
                <a:latin typeface="Consolas" panose="020B0609020204030204" pitchFamily="49" charset="0"/>
                <a:ea typeface="Consolas"/>
                <a:cs typeface="Calibri" panose="020F0502020204030204" pitchFamily="34" charset="0"/>
                <a:sym typeface="Consolas"/>
              </a:rPr>
              <a:t> x21, x14, x15</a:t>
            </a:r>
            <a:endParaRPr>
              <a:latin typeface="Consolas" panose="020B0609020204030204" pitchFamily="49" charset="0"/>
              <a:cs typeface="Calibri" panose="020F0502020204030204" pitchFamily="34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err="1">
                <a:solidFill>
                  <a:schemeClr val="lt1"/>
                </a:solidFill>
                <a:latin typeface="Consolas" panose="020B0609020204030204" pitchFamily="49" charset="0"/>
                <a:ea typeface="Consolas"/>
                <a:cs typeface="Calibri" panose="020F0502020204030204" pitchFamily="34" charset="0"/>
                <a:sym typeface="Consolas"/>
              </a:rPr>
              <a:t>mul</a:t>
            </a:r>
            <a:r>
              <a:rPr lang="en-US" sz="750">
                <a:solidFill>
                  <a:schemeClr val="lt1"/>
                </a:solidFill>
                <a:latin typeface="Consolas" panose="020B0609020204030204" pitchFamily="49" charset="0"/>
                <a:ea typeface="Consolas"/>
                <a:cs typeface="Calibri" panose="020F0502020204030204" pitchFamily="34" charset="0"/>
                <a:sym typeface="Consolas"/>
              </a:rPr>
              <a:t> x22, x16, x17</a:t>
            </a:r>
            <a:endParaRPr>
              <a:latin typeface="Consolas" panose="020B0609020204030204" pitchFamily="49" charset="0"/>
              <a:cs typeface="Calibri" panose="020F0502020204030204" pitchFamily="34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50">
              <a:solidFill>
                <a:schemeClr val="lt1"/>
              </a:solidFill>
              <a:latin typeface="Consolas" panose="020B0609020204030204" pitchFamily="49" charset="0"/>
              <a:ea typeface="Consolas"/>
              <a:cs typeface="Calibri" panose="020F0502020204030204" pitchFamily="34" charset="0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chemeClr val="lt1"/>
                </a:solidFill>
                <a:latin typeface="Consolas" panose="020B0609020204030204" pitchFamily="49" charset="0"/>
                <a:ea typeface="Consolas"/>
                <a:cs typeface="Calibri" panose="020F0502020204030204" pitchFamily="34" charset="0"/>
                <a:sym typeface="Consolas"/>
              </a:rPr>
              <a:t>#sums</a:t>
            </a:r>
            <a:endParaRPr>
              <a:latin typeface="Consolas" panose="020B0609020204030204" pitchFamily="49" charset="0"/>
              <a:cs typeface="Calibri" panose="020F0502020204030204" pitchFamily="34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err="1">
                <a:solidFill>
                  <a:schemeClr val="lt1"/>
                </a:solidFill>
                <a:latin typeface="Consolas" panose="020B0609020204030204" pitchFamily="49" charset="0"/>
                <a:ea typeface="Consolas"/>
                <a:cs typeface="Calibri" panose="020F0502020204030204" pitchFamily="34" charset="0"/>
                <a:sym typeface="Consolas"/>
              </a:rPr>
              <a:t>addi</a:t>
            </a:r>
            <a:r>
              <a:rPr lang="en-US" sz="750">
                <a:solidFill>
                  <a:schemeClr val="lt1"/>
                </a:solidFill>
                <a:latin typeface="Consolas" panose="020B0609020204030204" pitchFamily="49" charset="0"/>
                <a:ea typeface="Consolas"/>
                <a:cs typeface="Calibri" panose="020F0502020204030204" pitchFamily="34" charset="0"/>
                <a:sym typeface="Consolas"/>
              </a:rPr>
              <a:t> x23, x0, 0</a:t>
            </a:r>
            <a:endParaRPr>
              <a:latin typeface="Consolas" panose="020B0609020204030204" pitchFamily="49" charset="0"/>
              <a:cs typeface="Calibri" panose="020F0502020204030204" pitchFamily="34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err="1">
                <a:solidFill>
                  <a:schemeClr val="lt1"/>
                </a:solidFill>
                <a:latin typeface="Consolas" panose="020B0609020204030204" pitchFamily="49" charset="0"/>
                <a:ea typeface="Consolas"/>
                <a:cs typeface="Calibri" panose="020F0502020204030204" pitchFamily="34" charset="0"/>
                <a:sym typeface="Consolas"/>
              </a:rPr>
              <a:t>nop</a:t>
            </a:r>
            <a:endParaRPr sz="750">
              <a:solidFill>
                <a:schemeClr val="lt1"/>
              </a:solidFill>
              <a:latin typeface="Consolas" panose="020B0609020204030204" pitchFamily="49" charset="0"/>
              <a:ea typeface="Consolas"/>
              <a:cs typeface="Calibri" panose="020F0502020204030204" pitchFamily="34" charset="0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err="1">
                <a:solidFill>
                  <a:schemeClr val="lt1"/>
                </a:solidFill>
                <a:latin typeface="Consolas" panose="020B0609020204030204" pitchFamily="49" charset="0"/>
                <a:ea typeface="Consolas"/>
                <a:cs typeface="Calibri" panose="020F0502020204030204" pitchFamily="34" charset="0"/>
                <a:sym typeface="Consolas"/>
              </a:rPr>
              <a:t>nop</a:t>
            </a:r>
            <a:endParaRPr sz="750">
              <a:solidFill>
                <a:schemeClr val="lt1"/>
              </a:solidFill>
              <a:latin typeface="Consolas" panose="020B0609020204030204" pitchFamily="49" charset="0"/>
              <a:ea typeface="Consolas"/>
              <a:cs typeface="Calibri" panose="020F0502020204030204" pitchFamily="34" charset="0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err="1">
                <a:solidFill>
                  <a:schemeClr val="lt1"/>
                </a:solidFill>
                <a:latin typeface="Consolas" panose="020B0609020204030204" pitchFamily="49" charset="0"/>
                <a:ea typeface="Consolas"/>
                <a:cs typeface="Calibri" panose="020F0502020204030204" pitchFamily="34" charset="0"/>
                <a:sym typeface="Consolas"/>
              </a:rPr>
              <a:t>nop</a:t>
            </a:r>
            <a:endParaRPr sz="750">
              <a:solidFill>
                <a:schemeClr val="lt1"/>
              </a:solidFill>
              <a:latin typeface="Consolas" panose="020B0609020204030204" pitchFamily="49" charset="0"/>
              <a:ea typeface="Consolas"/>
              <a:cs typeface="Calibri" panose="020F0502020204030204" pitchFamily="34" charset="0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chemeClr val="lt1"/>
                </a:solidFill>
                <a:latin typeface="Consolas" panose="020B0609020204030204" pitchFamily="49" charset="0"/>
                <a:ea typeface="Consolas"/>
                <a:cs typeface="Calibri" panose="020F0502020204030204" pitchFamily="34" charset="0"/>
                <a:sym typeface="Consolas"/>
              </a:rPr>
              <a:t>add x23, x23, x18</a:t>
            </a:r>
            <a:endParaRPr>
              <a:latin typeface="Consolas" panose="020B0609020204030204" pitchFamily="49" charset="0"/>
              <a:cs typeface="Calibri" panose="020F0502020204030204" pitchFamily="34" charset="0"/>
            </a:endParaRPr>
          </a:p>
        </p:txBody>
      </p:sp>
      <p:sp>
        <p:nvSpPr>
          <p:cNvPr id="530" name="Google Shape;530;p9"/>
          <p:cNvSpPr/>
          <p:nvPr/>
        </p:nvSpPr>
        <p:spPr>
          <a:xfrm>
            <a:off x="6720454" y="1545956"/>
            <a:ext cx="1573076" cy="2925916"/>
          </a:xfrm>
          <a:prstGeom prst="rect">
            <a:avLst/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50">
              <a:solidFill>
                <a:schemeClr val="lt1"/>
              </a:solidFill>
              <a:latin typeface="Consolas" panose="020B0609020204030204" pitchFamily="49" charset="0"/>
              <a:ea typeface="Consolas"/>
              <a:cs typeface="Calibri" panose="020F0502020204030204" pitchFamily="34" charset="0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chemeClr val="lt1"/>
                </a:solidFill>
                <a:latin typeface="Consolas" panose="020B0609020204030204" pitchFamily="49" charset="0"/>
                <a:ea typeface="Consolas"/>
                <a:cs typeface="Calibri" panose="020F0502020204030204" pitchFamily="34" charset="0"/>
                <a:sym typeface="Consolas"/>
              </a:rPr>
              <a:t>nop</a:t>
            </a:r>
            <a:endParaRPr sz="750">
              <a:solidFill>
                <a:schemeClr val="lt1"/>
              </a:solidFill>
              <a:latin typeface="Consolas" panose="020B0609020204030204" pitchFamily="49" charset="0"/>
              <a:ea typeface="Consolas"/>
              <a:cs typeface="Calibri" panose="020F0502020204030204" pitchFamily="34" charset="0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chemeClr val="lt1"/>
                </a:solidFill>
                <a:latin typeface="Consolas" panose="020B0609020204030204" pitchFamily="49" charset="0"/>
                <a:ea typeface="Consolas"/>
                <a:cs typeface="Calibri" panose="020F0502020204030204" pitchFamily="34" charset="0"/>
                <a:sym typeface="Consolas"/>
              </a:rPr>
              <a:t>nop</a:t>
            </a:r>
            <a:endParaRPr sz="750">
              <a:solidFill>
                <a:schemeClr val="lt1"/>
              </a:solidFill>
              <a:latin typeface="Consolas" panose="020B0609020204030204" pitchFamily="49" charset="0"/>
              <a:ea typeface="Consolas"/>
              <a:cs typeface="Calibri" panose="020F0502020204030204" pitchFamily="34" charset="0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chemeClr val="lt1"/>
                </a:solidFill>
                <a:latin typeface="Consolas" panose="020B0609020204030204" pitchFamily="49" charset="0"/>
                <a:ea typeface="Consolas"/>
                <a:cs typeface="Calibri" panose="020F0502020204030204" pitchFamily="34" charset="0"/>
                <a:sym typeface="Consolas"/>
              </a:rPr>
              <a:t>nop</a:t>
            </a:r>
            <a:endParaRPr sz="750">
              <a:solidFill>
                <a:schemeClr val="lt1"/>
              </a:solidFill>
              <a:latin typeface="Consolas" panose="020B0609020204030204" pitchFamily="49" charset="0"/>
              <a:ea typeface="Consolas"/>
              <a:cs typeface="Calibri" panose="020F0502020204030204" pitchFamily="34" charset="0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chemeClr val="lt1"/>
                </a:solidFill>
                <a:latin typeface="Consolas" panose="020B0609020204030204" pitchFamily="49" charset="0"/>
                <a:ea typeface="Consolas"/>
                <a:cs typeface="Calibri" panose="020F0502020204030204" pitchFamily="34" charset="0"/>
                <a:sym typeface="Consolas"/>
              </a:rPr>
              <a:t>add x23, x23, x19</a:t>
            </a:r>
            <a:endParaRPr>
              <a:latin typeface="Consolas" panose="020B0609020204030204" pitchFamily="49" charset="0"/>
              <a:cs typeface="Calibri" panose="020F0502020204030204" pitchFamily="34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chemeClr val="lt1"/>
                </a:solidFill>
                <a:latin typeface="Consolas" panose="020B0609020204030204" pitchFamily="49" charset="0"/>
                <a:ea typeface="Consolas"/>
                <a:cs typeface="Calibri" panose="020F0502020204030204" pitchFamily="34" charset="0"/>
                <a:sym typeface="Consolas"/>
              </a:rPr>
              <a:t>nop</a:t>
            </a:r>
            <a:endParaRPr sz="750">
              <a:solidFill>
                <a:schemeClr val="lt1"/>
              </a:solidFill>
              <a:latin typeface="Consolas" panose="020B0609020204030204" pitchFamily="49" charset="0"/>
              <a:ea typeface="Consolas"/>
              <a:cs typeface="Calibri" panose="020F0502020204030204" pitchFamily="34" charset="0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chemeClr val="lt1"/>
                </a:solidFill>
                <a:latin typeface="Consolas" panose="020B0609020204030204" pitchFamily="49" charset="0"/>
                <a:ea typeface="Consolas"/>
                <a:cs typeface="Calibri" panose="020F0502020204030204" pitchFamily="34" charset="0"/>
                <a:sym typeface="Consolas"/>
              </a:rPr>
              <a:t>nop</a:t>
            </a:r>
            <a:endParaRPr sz="750">
              <a:solidFill>
                <a:schemeClr val="lt1"/>
              </a:solidFill>
              <a:latin typeface="Consolas" panose="020B0609020204030204" pitchFamily="49" charset="0"/>
              <a:ea typeface="Consolas"/>
              <a:cs typeface="Calibri" panose="020F0502020204030204" pitchFamily="34" charset="0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chemeClr val="lt1"/>
                </a:solidFill>
                <a:latin typeface="Consolas" panose="020B0609020204030204" pitchFamily="49" charset="0"/>
                <a:ea typeface="Consolas"/>
                <a:cs typeface="Calibri" panose="020F0502020204030204" pitchFamily="34" charset="0"/>
                <a:sym typeface="Consolas"/>
              </a:rPr>
              <a:t>nop</a:t>
            </a:r>
            <a:endParaRPr sz="750">
              <a:solidFill>
                <a:schemeClr val="lt1"/>
              </a:solidFill>
              <a:latin typeface="Consolas" panose="020B0609020204030204" pitchFamily="49" charset="0"/>
              <a:ea typeface="Consolas"/>
              <a:cs typeface="Calibri" panose="020F0502020204030204" pitchFamily="34" charset="0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chemeClr val="lt1"/>
                </a:solidFill>
                <a:latin typeface="Consolas" panose="020B0609020204030204" pitchFamily="49" charset="0"/>
                <a:ea typeface="Consolas"/>
                <a:cs typeface="Calibri" panose="020F0502020204030204" pitchFamily="34" charset="0"/>
                <a:sym typeface="Consolas"/>
              </a:rPr>
              <a:t>add x23, x23, x20</a:t>
            </a:r>
            <a:endParaRPr>
              <a:latin typeface="Consolas" panose="020B0609020204030204" pitchFamily="49" charset="0"/>
              <a:cs typeface="Calibri" panose="020F0502020204030204" pitchFamily="34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chemeClr val="lt1"/>
                </a:solidFill>
                <a:latin typeface="Consolas" panose="020B0609020204030204" pitchFamily="49" charset="0"/>
                <a:ea typeface="Consolas"/>
                <a:cs typeface="Calibri" panose="020F0502020204030204" pitchFamily="34" charset="0"/>
                <a:sym typeface="Consolas"/>
              </a:rPr>
              <a:t>nop</a:t>
            </a:r>
            <a:endParaRPr sz="750">
              <a:solidFill>
                <a:schemeClr val="lt1"/>
              </a:solidFill>
              <a:latin typeface="Consolas" panose="020B0609020204030204" pitchFamily="49" charset="0"/>
              <a:ea typeface="Consolas"/>
              <a:cs typeface="Calibri" panose="020F0502020204030204" pitchFamily="34" charset="0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chemeClr val="lt1"/>
                </a:solidFill>
                <a:latin typeface="Consolas" panose="020B0609020204030204" pitchFamily="49" charset="0"/>
                <a:ea typeface="Consolas"/>
                <a:cs typeface="Calibri" panose="020F0502020204030204" pitchFamily="34" charset="0"/>
                <a:sym typeface="Consolas"/>
              </a:rPr>
              <a:t>nop</a:t>
            </a:r>
            <a:endParaRPr sz="750">
              <a:solidFill>
                <a:schemeClr val="lt1"/>
              </a:solidFill>
              <a:latin typeface="Consolas" panose="020B0609020204030204" pitchFamily="49" charset="0"/>
              <a:ea typeface="Consolas"/>
              <a:cs typeface="Calibri" panose="020F0502020204030204" pitchFamily="34" charset="0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chemeClr val="lt1"/>
                </a:solidFill>
                <a:latin typeface="Consolas" panose="020B0609020204030204" pitchFamily="49" charset="0"/>
                <a:ea typeface="Consolas"/>
                <a:cs typeface="Calibri" panose="020F0502020204030204" pitchFamily="34" charset="0"/>
                <a:sym typeface="Consolas"/>
              </a:rPr>
              <a:t>nop</a:t>
            </a:r>
            <a:endParaRPr sz="750">
              <a:solidFill>
                <a:schemeClr val="lt1"/>
              </a:solidFill>
              <a:latin typeface="Consolas" panose="020B0609020204030204" pitchFamily="49" charset="0"/>
              <a:ea typeface="Consolas"/>
              <a:cs typeface="Calibri" panose="020F0502020204030204" pitchFamily="34" charset="0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chemeClr val="lt1"/>
                </a:solidFill>
                <a:latin typeface="Consolas" panose="020B0609020204030204" pitchFamily="49" charset="0"/>
                <a:ea typeface="Consolas"/>
                <a:cs typeface="Calibri" panose="020F0502020204030204" pitchFamily="34" charset="0"/>
                <a:sym typeface="Consolas"/>
              </a:rPr>
              <a:t>add x23, x23, x21</a:t>
            </a:r>
            <a:endParaRPr>
              <a:latin typeface="Consolas" panose="020B0609020204030204" pitchFamily="49" charset="0"/>
              <a:cs typeface="Calibri" panose="020F0502020204030204" pitchFamily="34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chemeClr val="lt1"/>
                </a:solidFill>
                <a:latin typeface="Consolas" panose="020B0609020204030204" pitchFamily="49" charset="0"/>
                <a:ea typeface="Consolas"/>
                <a:cs typeface="Calibri" panose="020F0502020204030204" pitchFamily="34" charset="0"/>
                <a:sym typeface="Consolas"/>
              </a:rPr>
              <a:t>nop</a:t>
            </a:r>
            <a:endParaRPr sz="750">
              <a:solidFill>
                <a:schemeClr val="lt1"/>
              </a:solidFill>
              <a:latin typeface="Consolas" panose="020B0609020204030204" pitchFamily="49" charset="0"/>
              <a:ea typeface="Consolas"/>
              <a:cs typeface="Calibri" panose="020F0502020204030204" pitchFamily="34" charset="0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chemeClr val="lt1"/>
                </a:solidFill>
                <a:latin typeface="Consolas" panose="020B0609020204030204" pitchFamily="49" charset="0"/>
                <a:ea typeface="Consolas"/>
                <a:cs typeface="Calibri" panose="020F0502020204030204" pitchFamily="34" charset="0"/>
                <a:sym typeface="Consolas"/>
              </a:rPr>
              <a:t>nop</a:t>
            </a:r>
            <a:endParaRPr sz="750">
              <a:solidFill>
                <a:schemeClr val="lt1"/>
              </a:solidFill>
              <a:latin typeface="Consolas" panose="020B0609020204030204" pitchFamily="49" charset="0"/>
              <a:ea typeface="Consolas"/>
              <a:cs typeface="Calibri" panose="020F0502020204030204" pitchFamily="34" charset="0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chemeClr val="lt1"/>
                </a:solidFill>
                <a:latin typeface="Consolas" panose="020B0609020204030204" pitchFamily="49" charset="0"/>
                <a:ea typeface="Consolas"/>
                <a:cs typeface="Calibri" panose="020F0502020204030204" pitchFamily="34" charset="0"/>
                <a:sym typeface="Consolas"/>
              </a:rPr>
              <a:t>nop</a:t>
            </a:r>
            <a:endParaRPr sz="750">
              <a:solidFill>
                <a:schemeClr val="lt1"/>
              </a:solidFill>
              <a:latin typeface="Consolas" panose="020B0609020204030204" pitchFamily="49" charset="0"/>
              <a:ea typeface="Consolas"/>
              <a:cs typeface="Calibri" panose="020F0502020204030204" pitchFamily="34" charset="0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chemeClr val="lt1"/>
                </a:solidFill>
                <a:latin typeface="Consolas" panose="020B0609020204030204" pitchFamily="49" charset="0"/>
                <a:ea typeface="Consolas"/>
                <a:cs typeface="Calibri" panose="020F0502020204030204" pitchFamily="34" charset="0"/>
                <a:sym typeface="Consolas"/>
              </a:rPr>
              <a:t>add x23, x23, x22</a:t>
            </a:r>
            <a:endParaRPr>
              <a:latin typeface="Consolas" panose="020B0609020204030204" pitchFamily="49" charset="0"/>
              <a:cs typeface="Calibri" panose="020F0502020204030204" pitchFamily="34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chemeClr val="lt1"/>
                </a:solidFill>
                <a:latin typeface="Consolas" panose="020B0609020204030204" pitchFamily="49" charset="0"/>
                <a:ea typeface="Consolas"/>
                <a:cs typeface="Calibri" panose="020F0502020204030204" pitchFamily="34" charset="0"/>
                <a:sym typeface="Consolas"/>
              </a:rPr>
              <a:t>nop</a:t>
            </a:r>
            <a:endParaRPr sz="750">
              <a:solidFill>
                <a:schemeClr val="lt1"/>
              </a:solidFill>
              <a:latin typeface="Consolas" panose="020B0609020204030204" pitchFamily="49" charset="0"/>
              <a:ea typeface="Consolas"/>
              <a:cs typeface="Calibri" panose="020F0502020204030204" pitchFamily="34" charset="0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chemeClr val="lt1"/>
                </a:solidFill>
                <a:latin typeface="Consolas" panose="020B0609020204030204" pitchFamily="49" charset="0"/>
                <a:ea typeface="Consolas"/>
                <a:cs typeface="Calibri" panose="020F0502020204030204" pitchFamily="34" charset="0"/>
                <a:sym typeface="Consolas"/>
              </a:rPr>
              <a:t>nop</a:t>
            </a:r>
            <a:endParaRPr sz="750">
              <a:solidFill>
                <a:schemeClr val="lt1"/>
              </a:solidFill>
              <a:latin typeface="Consolas" panose="020B0609020204030204" pitchFamily="49" charset="0"/>
              <a:ea typeface="Consolas"/>
              <a:cs typeface="Calibri" panose="020F0502020204030204" pitchFamily="34" charset="0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chemeClr val="lt1"/>
                </a:solidFill>
                <a:latin typeface="Consolas" panose="020B0609020204030204" pitchFamily="49" charset="0"/>
                <a:ea typeface="Consolas"/>
                <a:cs typeface="Calibri" panose="020F0502020204030204" pitchFamily="34" charset="0"/>
                <a:sym typeface="Consolas"/>
              </a:rPr>
              <a:t>nop</a:t>
            </a:r>
            <a:endParaRPr sz="750">
              <a:solidFill>
                <a:schemeClr val="lt1"/>
              </a:solidFill>
              <a:latin typeface="Consolas" panose="020B0609020204030204" pitchFamily="49" charset="0"/>
              <a:ea typeface="Consolas"/>
              <a:cs typeface="Calibri" panose="020F0502020204030204" pitchFamily="34" charset="0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chemeClr val="lt1"/>
                </a:solidFill>
                <a:latin typeface="Consolas" panose="020B0609020204030204" pitchFamily="49" charset="0"/>
                <a:ea typeface="Consolas"/>
                <a:cs typeface="Calibri" panose="020F0502020204030204" pitchFamily="34" charset="0"/>
                <a:sym typeface="Consolas"/>
              </a:rPr>
              <a:t>nop</a:t>
            </a:r>
            <a:endParaRPr sz="750">
              <a:solidFill>
                <a:schemeClr val="lt1"/>
              </a:solidFill>
              <a:latin typeface="Consolas" panose="020B0609020204030204" pitchFamily="49" charset="0"/>
              <a:ea typeface="Consolas"/>
              <a:cs typeface="Calibri" panose="020F0502020204030204" pitchFamily="34" charset="0"/>
              <a:sym typeface="Consolas"/>
            </a:endParaRPr>
          </a:p>
        </p:txBody>
      </p:sp>
      <p:sp>
        <p:nvSpPr>
          <p:cNvPr id="531" name="Google Shape;531;p9"/>
          <p:cNvSpPr/>
          <p:nvPr/>
        </p:nvSpPr>
        <p:spPr>
          <a:xfrm>
            <a:off x="6009468" y="1714501"/>
            <a:ext cx="726483" cy="2676476"/>
          </a:xfrm>
          <a:custGeom>
            <a:avLst/>
            <a:gdLst/>
            <a:ahLst/>
            <a:cxnLst/>
            <a:rect l="l" t="t" r="r" b="b"/>
            <a:pathLst>
              <a:path w="968644" h="2892495" extrusionOk="0">
                <a:moveTo>
                  <a:pt x="0" y="2890434"/>
                </a:moveTo>
                <a:cubicBezTo>
                  <a:pt x="667073" y="2913035"/>
                  <a:pt x="719381" y="2750949"/>
                  <a:pt x="759418" y="2347993"/>
                </a:cubicBezTo>
                <a:cubicBezTo>
                  <a:pt x="799455" y="1945037"/>
                  <a:pt x="215685" y="951854"/>
                  <a:pt x="240224" y="472698"/>
                </a:cubicBezTo>
                <a:cubicBezTo>
                  <a:pt x="264763" y="-6458"/>
                  <a:pt x="774915" y="73617"/>
                  <a:pt x="968644" y="0"/>
                </a:cubicBezTo>
              </a:path>
            </a:pathLst>
          </a:custGeom>
          <a:noFill/>
          <a:ln w="28575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15">
              <a:solidFill>
                <a:schemeClr val="lt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</p:txBody>
      </p:sp>
      <p:grpSp>
        <p:nvGrpSpPr>
          <p:cNvPr id="532" name="Google Shape;532;p9"/>
          <p:cNvGrpSpPr/>
          <p:nvPr/>
        </p:nvGrpSpPr>
        <p:grpSpPr>
          <a:xfrm>
            <a:off x="7307693" y="391999"/>
            <a:ext cx="985837" cy="757862"/>
            <a:chOff x="4140517" y="887013"/>
            <a:chExt cx="985837" cy="757862"/>
          </a:xfrm>
        </p:grpSpPr>
        <p:sp>
          <p:nvSpPr>
            <p:cNvPr id="533" name="Google Shape;533;p9"/>
            <p:cNvSpPr/>
            <p:nvPr/>
          </p:nvSpPr>
          <p:spPr>
            <a:xfrm>
              <a:off x="4140517" y="887013"/>
              <a:ext cx="985837" cy="757862"/>
            </a:xfrm>
            <a:prstGeom prst="roundRect">
              <a:avLst>
                <a:gd name="adj" fmla="val 10000"/>
              </a:avLst>
            </a:prstGeom>
            <a:solidFill>
              <a:schemeClr val="accent1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34" name="Google Shape;534;p9"/>
            <p:cNvSpPr txBox="1"/>
            <p:nvPr/>
          </p:nvSpPr>
          <p:spPr>
            <a:xfrm>
              <a:off x="4162714" y="909210"/>
              <a:ext cx="941443" cy="71346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1900" tIns="41900" rIns="41900" bIns="419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Font typeface="Calibri"/>
                <a:buNone/>
              </a:pPr>
              <a:r>
                <a:rPr lang="en-US" sz="1100">
                  <a:solidFill>
                    <a:schemeClr val="lt1"/>
                  </a:solidFill>
                  <a:latin typeface="Calibri" panose="020F0502020204030204" pitchFamily="34" charset="0"/>
                  <a:ea typeface="Calibri"/>
                  <a:cs typeface="Calibri" panose="020F0502020204030204" pitchFamily="34" charset="0"/>
                  <a:sym typeface="Calibri"/>
                </a:rPr>
                <a:t>Pipelined processor</a:t>
              </a:r>
              <a:endParaRPr sz="1100">
                <a:solidFill>
                  <a:schemeClr val="lt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endParaRPr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C635D94-29DA-FEF6-853B-478213DC4FB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10"/>
          <p:cNvSpPr txBox="1">
            <a:spLocks noGrp="1"/>
          </p:cNvSpPr>
          <p:nvPr>
            <p:ph type="title"/>
          </p:nvPr>
        </p:nvSpPr>
        <p:spPr>
          <a:xfrm>
            <a:off x="185419" y="89216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Implementation Method</a:t>
            </a:r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540" name="Google Shape;540;p10"/>
          <p:cNvGraphicFramePr/>
          <p:nvPr/>
        </p:nvGraphicFramePr>
        <p:xfrm>
          <a:off x="4786312" y="1004809"/>
          <a:ext cx="4146150" cy="954775"/>
        </p:xfrm>
        <a:graphic>
          <a:graphicData uri="http://schemas.openxmlformats.org/drawingml/2006/table">
            <a:tbl>
              <a:tblPr firstRow="1" bandRow="1">
                <a:noFill/>
                <a:tableStyleId>{040938F7-9763-481F-BBCA-995C50FC980A}</a:tableStyleId>
              </a:tblPr>
              <a:tblGrid>
                <a:gridCol w="691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1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1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10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910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910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3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u="none" strike="noStrike" cap="none"/>
                        <a:t>Stage</a:t>
                      </a:r>
                      <a:endParaRPr sz="135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/>
                        <a:t>IF</a:t>
                      </a:r>
                      <a:endParaRPr sz="135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/>
                        <a:t>ID</a:t>
                      </a:r>
                      <a:endParaRPr sz="135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/>
                        <a:t>EXE</a:t>
                      </a:r>
                      <a:endParaRPr sz="135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/>
                        <a:t>MEM</a:t>
                      </a:r>
                      <a:endParaRPr sz="135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/>
                        <a:t>WB</a:t>
                      </a:r>
                      <a:endParaRPr sz="135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Data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Path resources</a:t>
                      </a:r>
                      <a:endParaRPr sz="10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instruction_memory</a:t>
                      </a:r>
                      <a:endParaRPr sz="800" b="1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5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register_file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5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5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5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41" name="Google Shape;541;p1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Consolas" panose="020B0609020204030204" pitchFamily="49" charset="0"/>
              </a:rPr>
              <a:t>11</a:t>
            </a:fld>
            <a:endParaRPr>
              <a:latin typeface="Consolas" panose="020B0609020204030204" pitchFamily="49" charset="0"/>
            </a:endParaRPr>
          </a:p>
        </p:txBody>
      </p:sp>
      <p:pic>
        <p:nvPicPr>
          <p:cNvPr id="542" name="Google Shape;542;p10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61924" y="1123256"/>
            <a:ext cx="4410076" cy="306050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43" name="Google Shape;543;p10"/>
          <p:cNvGraphicFramePr/>
          <p:nvPr/>
        </p:nvGraphicFramePr>
        <p:xfrm>
          <a:off x="4643438" y="2571750"/>
          <a:ext cx="4405350" cy="1296680"/>
        </p:xfrm>
        <a:graphic>
          <a:graphicData uri="http://schemas.openxmlformats.org/drawingml/2006/table">
            <a:tbl>
              <a:tblPr firstRow="1" bandRow="1">
                <a:noFill/>
                <a:tableStyleId>{040938F7-9763-481F-BBCA-995C50FC980A}</a:tableStyleId>
              </a:tblPr>
              <a:tblGrid>
                <a:gridCol w="816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7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7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7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971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8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/>
                        <a:t>Pipe. Reg.</a:t>
                      </a:r>
                      <a:endParaRPr sz="135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/>
                        <a:t>IF/ID</a:t>
                      </a:r>
                      <a:endParaRPr sz="135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/>
                        <a:t>ID/EXE</a:t>
                      </a:r>
                      <a:endParaRPr sz="135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50"/>
                        <a:buFont typeface="Calibri"/>
                        <a:buNone/>
                      </a:pPr>
                      <a:r>
                        <a:rPr lang="en-US" sz="1350"/>
                        <a:t>EXE/MEM</a:t>
                      </a:r>
                      <a:endParaRPr sz="135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5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/>
                        <a:t>MEM/WB</a:t>
                      </a:r>
                      <a:endParaRPr sz="135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3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Signals</a:t>
                      </a:r>
                      <a:endParaRPr sz="10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1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instruction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5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5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5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5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44" name="Google Shape;544;p10"/>
          <p:cNvSpPr/>
          <p:nvPr/>
        </p:nvSpPr>
        <p:spPr>
          <a:xfrm>
            <a:off x="661988" y="2695575"/>
            <a:ext cx="509587" cy="519113"/>
          </a:xfrm>
          <a:prstGeom prst="rect">
            <a:avLst/>
          </a:prstGeom>
          <a:noFill/>
          <a:ln w="28575" cap="flat" cmpd="sng">
            <a:solidFill>
              <a:srgbClr val="00B05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20">
              <a:solidFill>
                <a:schemeClr val="lt1"/>
              </a:solidFill>
              <a:latin typeface="Consolas" panose="020B0609020204030204" pitchFamily="49" charset="0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10"/>
          <p:cNvSpPr/>
          <p:nvPr/>
        </p:nvSpPr>
        <p:spPr>
          <a:xfrm>
            <a:off x="1769268" y="2695575"/>
            <a:ext cx="509587" cy="542925"/>
          </a:xfrm>
          <a:prstGeom prst="rect">
            <a:avLst/>
          </a:prstGeom>
          <a:noFill/>
          <a:ln w="28575" cap="flat" cmpd="sng">
            <a:solidFill>
              <a:srgbClr val="0070C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20">
              <a:solidFill>
                <a:schemeClr val="lt1"/>
              </a:solidFill>
              <a:latin typeface="Consolas" panose="020B0609020204030204" pitchFamily="49" charset="0"/>
              <a:ea typeface="Calibri"/>
              <a:cs typeface="Calibri"/>
              <a:sym typeface="Calibri"/>
            </a:endParaRPr>
          </a:p>
        </p:txBody>
      </p:sp>
      <p:cxnSp>
        <p:nvCxnSpPr>
          <p:cNvPr id="546" name="Google Shape;546;p10"/>
          <p:cNvCxnSpPr>
            <a:stCxn id="544" idx="0"/>
          </p:cNvCxnSpPr>
          <p:nvPr/>
        </p:nvCxnSpPr>
        <p:spPr>
          <a:xfrm rot="-5400000">
            <a:off x="2626632" y="-173475"/>
            <a:ext cx="1159200" cy="4578900"/>
          </a:xfrm>
          <a:prstGeom prst="curvedConnector2">
            <a:avLst/>
          </a:prstGeom>
          <a:noFill/>
          <a:ln w="28575" cap="flat" cmpd="sng">
            <a:solidFill>
              <a:srgbClr val="00B05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547" name="Google Shape;547;p10"/>
          <p:cNvSpPr/>
          <p:nvPr/>
        </p:nvSpPr>
        <p:spPr>
          <a:xfrm>
            <a:off x="2283679" y="1582794"/>
            <a:ext cx="4191387" cy="1378562"/>
          </a:xfrm>
          <a:custGeom>
            <a:avLst/>
            <a:gdLst/>
            <a:ahLst/>
            <a:cxnLst/>
            <a:rect l="l" t="t" r="r" b="b"/>
            <a:pathLst>
              <a:path w="4191387" h="1378562" extrusionOk="0">
                <a:moveTo>
                  <a:pt x="0" y="1378562"/>
                </a:moveTo>
                <a:cubicBezTo>
                  <a:pt x="818086" y="1259040"/>
                  <a:pt x="1636173" y="1139518"/>
                  <a:pt x="2334737" y="909758"/>
                </a:cubicBezTo>
                <a:cubicBezTo>
                  <a:pt x="3033302" y="679998"/>
                  <a:pt x="3612344" y="339999"/>
                  <a:pt x="4191387" y="0"/>
                </a:cubicBezTo>
              </a:path>
            </a:pathLst>
          </a:custGeom>
          <a:noFill/>
          <a:ln w="28575" cap="flat" cmpd="sng">
            <a:solidFill>
              <a:srgbClr val="0070C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20">
              <a:solidFill>
                <a:schemeClr val="lt1"/>
              </a:solidFill>
              <a:latin typeface="Consolas" panose="020B0609020204030204" pitchFamily="49" charset="0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10"/>
          <p:cNvSpPr/>
          <p:nvPr/>
        </p:nvSpPr>
        <p:spPr>
          <a:xfrm>
            <a:off x="1448187" y="2695575"/>
            <a:ext cx="74266" cy="265781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20">
              <a:solidFill>
                <a:schemeClr val="lt1"/>
              </a:solidFill>
              <a:latin typeface="Consolas" panose="020B0609020204030204" pitchFamily="49" charset="0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10"/>
          <p:cNvSpPr/>
          <p:nvPr/>
        </p:nvSpPr>
        <p:spPr>
          <a:xfrm>
            <a:off x="1485320" y="2965997"/>
            <a:ext cx="4335276" cy="1230637"/>
          </a:xfrm>
          <a:custGeom>
            <a:avLst/>
            <a:gdLst/>
            <a:ahLst/>
            <a:cxnLst/>
            <a:rect l="l" t="t" r="r" b="b"/>
            <a:pathLst>
              <a:path w="4335276" h="1230637" extrusionOk="0">
                <a:moveTo>
                  <a:pt x="0" y="0"/>
                </a:moveTo>
                <a:cubicBezTo>
                  <a:pt x="103663" y="1228483"/>
                  <a:pt x="2723086" y="1848913"/>
                  <a:pt x="4335276" y="357404"/>
                </a:cubicBezTo>
              </a:path>
            </a:pathLst>
          </a:custGeom>
          <a:noFill/>
          <a:ln w="1905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20">
              <a:solidFill>
                <a:schemeClr val="lt1"/>
              </a:solidFill>
              <a:latin typeface="Consolas" panose="020B0609020204030204" pitchFamily="49" charset="0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10"/>
          <p:cNvSpPr txBox="1"/>
          <p:nvPr/>
        </p:nvSpPr>
        <p:spPr>
          <a:xfrm>
            <a:off x="135566" y="4642562"/>
            <a:ext cx="986167" cy="341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20">
                <a:solidFill>
                  <a:schemeClr val="dk1"/>
                </a:solidFill>
                <a:latin typeface="Consolas" panose="020B0609020204030204" pitchFamily="49" charset="0"/>
                <a:ea typeface="Calibri"/>
                <a:cs typeface="Calibri"/>
                <a:sym typeface="Calibri"/>
              </a:rPr>
              <a:t>EXAMPLE</a:t>
            </a:r>
            <a:endParaRPr sz="1620">
              <a:solidFill>
                <a:schemeClr val="dk1"/>
              </a:solidFill>
              <a:latin typeface="Consolas" panose="020B0609020204030204" pitchFamily="49" charset="0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550;p10">
            <a:extLst>
              <a:ext uri="{FF2B5EF4-FFF2-40B4-BE49-F238E27FC236}">
                <a16:creationId xmlns:a16="http://schemas.microsoft.com/office/drawing/2014/main" id="{99E53DE5-B0AB-598B-309D-0B4A6372D61D}"/>
              </a:ext>
            </a:extLst>
          </p:cNvPr>
          <p:cNvSpPr txBox="1"/>
          <p:nvPr/>
        </p:nvSpPr>
        <p:spPr>
          <a:xfrm>
            <a:off x="4826952" y="4125329"/>
            <a:ext cx="4968107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i="1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  <a:sym typeface="Calibri"/>
              </a:rPr>
              <a:t>You can find this helper table in </a:t>
            </a:r>
            <a:r>
              <a:rPr lang="en-US" altLang="zh-CN" i="1">
                <a:solidFill>
                  <a:srgbClr val="1F4D78"/>
                </a:solidFill>
                <a:highlight>
                  <a:srgbClr val="B3C6E7"/>
                </a:highlight>
                <a:latin typeface="Calibri" panose="020F0502020204030204" pitchFamily="34" charset="0"/>
                <a:ea typeface="Calibri"/>
                <a:cs typeface="Calibri"/>
                <a:sym typeface="Calibri"/>
              </a:rPr>
              <a:t>TASKS TO BE DONE</a:t>
            </a:r>
            <a:r>
              <a:rPr lang="en-GB" altLang="zh-CN" i="1">
                <a:solidFill>
                  <a:srgbClr val="00000A"/>
                </a:solidFill>
                <a:highlight>
                  <a:srgbClr val="B3C6E7"/>
                </a:highlight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altLang="zh-CN" i="1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  <a:sym typeface="Calibri"/>
              </a:rPr>
              <a:t>of </a:t>
            </a:r>
            <a:r>
              <a:rPr lang="en-US" altLang="zh-CN" b="1" i="1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  <a:sym typeface="Calibri"/>
              </a:rPr>
              <a:t>s</a:t>
            </a:r>
            <a:r>
              <a:rPr lang="en-US" b="1" i="1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  <a:sym typeface="Calibri"/>
              </a:rPr>
              <a:t>ession_guide.pdf</a:t>
            </a:r>
            <a:endParaRPr b="1" i="1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1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sp>
        <p:nvSpPr>
          <p:cNvPr id="557" name="Google Shape;557;p11"/>
          <p:cNvSpPr txBox="1">
            <a:spLocks noGrp="1"/>
          </p:cNvSpPr>
          <p:nvPr>
            <p:ph type="body" idx="2"/>
          </p:nvPr>
        </p:nvSpPr>
        <p:spPr>
          <a:xfrm>
            <a:off x="4988700" y="104075"/>
            <a:ext cx="4054200" cy="488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 fontScale="40000" lnSpcReduction="2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8D08C"/>
              </a:buClr>
              <a:buSzPct val="100000"/>
              <a:buNone/>
            </a:pPr>
            <a:r>
              <a:rPr lang="en-US" b="1">
                <a:solidFill>
                  <a:srgbClr val="A8D08C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// IF STAGE</a:t>
            </a:r>
            <a:br>
              <a:rPr lang="en-US" b="1">
                <a:solidFill>
                  <a:srgbClr val="FF0000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</a:br>
            <a:r>
              <a:rPr lang="en-US" b="0">
                <a:solidFill>
                  <a:srgbClr val="569CD6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wire</a:t>
            </a:r>
            <a: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[      </a:t>
            </a:r>
            <a:r>
              <a:rPr lang="en-US" b="0">
                <a:solidFill>
                  <a:srgbClr val="B5CEA8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31</a:t>
            </a:r>
            <a: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:</a:t>
            </a:r>
            <a:r>
              <a:rPr lang="en-US" b="0">
                <a:solidFill>
                  <a:srgbClr val="B5CEA8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0</a:t>
            </a:r>
            <a: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] </a:t>
            </a:r>
            <a:r>
              <a:rPr lang="en-US" b="1">
                <a:solidFill>
                  <a:srgbClr val="FF0000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instruction</a:t>
            </a:r>
            <a: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, </a:t>
            </a:r>
            <a:r>
              <a:rPr lang="en-US" b="1" err="1">
                <a:solidFill>
                  <a:srgbClr val="FF0000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instruction_IF_ID</a:t>
            </a:r>
            <a:r>
              <a:rPr lang="en-US" b="1">
                <a:solidFill>
                  <a:srgbClr val="FF0000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, </a:t>
            </a:r>
            <a:r>
              <a:rPr lang="en-US" b="1" err="1">
                <a:solidFill>
                  <a:srgbClr val="FF0000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instruction_MEM_WB</a:t>
            </a:r>
            <a: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;</a:t>
            </a:r>
            <a:endParaRPr>
              <a:solidFill>
                <a:srgbClr val="569CD6"/>
              </a:solidFill>
              <a:latin typeface="Consolas" panose="020B0609020204030204" pitchFamily="49" charset="0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569CD6"/>
              </a:buClr>
              <a:buSzPct val="100000"/>
              <a:buNone/>
            </a:pPr>
            <a:r>
              <a:rPr lang="en-US" b="0">
                <a:solidFill>
                  <a:srgbClr val="569CD6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sram_BW32</a:t>
            </a:r>
            <a: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#(</a:t>
            </a:r>
            <a:b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</a:br>
            <a: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   .ADDR_W(</a:t>
            </a:r>
            <a:r>
              <a:rPr lang="en-US" b="0">
                <a:solidFill>
                  <a:srgbClr val="B5CEA8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9</a:t>
            </a:r>
            <a: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),</a:t>
            </a:r>
            <a:b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</a:br>
            <a: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   .DATA_W(</a:t>
            </a:r>
            <a:r>
              <a:rPr lang="en-US" b="0">
                <a:solidFill>
                  <a:srgbClr val="B5CEA8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32</a:t>
            </a:r>
            <a: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)</a:t>
            </a:r>
            <a:b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</a:br>
            <a: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) </a:t>
            </a:r>
            <a:r>
              <a:rPr lang="en-US" b="0" err="1">
                <a:solidFill>
                  <a:srgbClr val="569CD6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instruction_memory</a:t>
            </a:r>
            <a: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(</a:t>
            </a:r>
            <a:b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</a:br>
            <a: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   .</a:t>
            </a:r>
            <a:r>
              <a:rPr lang="en-US" b="0" err="1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clk</a:t>
            </a:r>
            <a: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     (</a:t>
            </a:r>
            <a:r>
              <a:rPr lang="en-US" b="0" err="1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clk</a:t>
            </a:r>
            <a: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          ),</a:t>
            </a:r>
            <a:b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</a:br>
            <a: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   .</a:t>
            </a:r>
            <a:r>
              <a:rPr lang="en-US" b="0" err="1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addr</a:t>
            </a:r>
            <a: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    (</a:t>
            </a:r>
            <a:r>
              <a:rPr lang="en-US" b="0" err="1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current_pc</a:t>
            </a:r>
            <a: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   ),</a:t>
            </a:r>
            <a:b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</a:br>
            <a: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   .wen      (</a:t>
            </a:r>
            <a:r>
              <a:rPr lang="en-US" b="0">
                <a:solidFill>
                  <a:srgbClr val="B5CEA8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1'b0</a:t>
            </a:r>
            <a: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         ),</a:t>
            </a:r>
            <a:b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</a:br>
            <a: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   .ren      (</a:t>
            </a:r>
            <a:r>
              <a:rPr lang="en-US" b="0">
                <a:solidFill>
                  <a:srgbClr val="B5CEA8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1'b1</a:t>
            </a:r>
            <a: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         ),</a:t>
            </a:r>
            <a:b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</a:br>
            <a: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   .</a:t>
            </a:r>
            <a:r>
              <a:rPr lang="en-US" b="0" err="1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wdata</a:t>
            </a:r>
            <a: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   (</a:t>
            </a:r>
            <a:r>
              <a:rPr lang="en-US" b="0">
                <a:solidFill>
                  <a:srgbClr val="B5CEA8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32'b0</a:t>
            </a:r>
            <a: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        ),</a:t>
            </a:r>
            <a:b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</a:br>
            <a: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   .</a:t>
            </a:r>
            <a:r>
              <a:rPr lang="en-US" b="0" err="1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rdata</a:t>
            </a:r>
            <a: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   (</a:t>
            </a:r>
            <a:r>
              <a:rPr lang="en-US" b="1">
                <a:solidFill>
                  <a:srgbClr val="FF0000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instruction   </a:t>
            </a:r>
            <a: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), </a:t>
            </a:r>
            <a:r>
              <a:rPr lang="en-US" b="1">
                <a:solidFill>
                  <a:srgbClr val="A8D08C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// Wiring component</a:t>
            </a:r>
            <a:b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</a:br>
            <a: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   .</a:t>
            </a:r>
            <a:r>
              <a:rPr lang="en-US" b="0" err="1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addr_ext</a:t>
            </a:r>
            <a: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(</a:t>
            </a:r>
            <a:r>
              <a:rPr lang="en-US" b="0" err="1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addr_ext</a:t>
            </a:r>
            <a: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     ), </a:t>
            </a:r>
            <a:r>
              <a:rPr lang="en-US" b="1">
                <a:solidFill>
                  <a:srgbClr val="A8D08C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// to appropriate stage</a:t>
            </a:r>
            <a:b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</a:br>
            <a: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   .</a:t>
            </a:r>
            <a:r>
              <a:rPr lang="en-US" b="0" err="1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wen_ext</a:t>
            </a:r>
            <a: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 (</a:t>
            </a:r>
            <a:r>
              <a:rPr lang="en-US" b="0" err="1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wen_ext</a:t>
            </a:r>
            <a: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      ), </a:t>
            </a:r>
            <a:b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</a:br>
            <a: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   .</a:t>
            </a:r>
            <a:r>
              <a:rPr lang="en-US" b="0" err="1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ren_ext</a:t>
            </a:r>
            <a: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 (</a:t>
            </a:r>
            <a:r>
              <a:rPr lang="en-US" b="0" err="1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ren_ext</a:t>
            </a:r>
            <a: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      ),</a:t>
            </a:r>
            <a:b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</a:br>
            <a: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   .</a:t>
            </a:r>
            <a:r>
              <a:rPr lang="en-US" b="0" err="1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wdata_ext</a:t>
            </a:r>
            <a: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(</a:t>
            </a:r>
            <a:r>
              <a:rPr lang="en-US" b="0" err="1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wdata_ext</a:t>
            </a:r>
            <a: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    ),</a:t>
            </a:r>
            <a:b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</a:br>
            <a: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   .</a:t>
            </a:r>
            <a:r>
              <a:rPr lang="en-US" b="0" err="1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rdata_ext</a:t>
            </a:r>
            <a: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(</a:t>
            </a:r>
            <a:r>
              <a:rPr lang="en-US" b="0" err="1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rdata_ext</a:t>
            </a:r>
            <a: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    )</a:t>
            </a:r>
            <a:b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</a:br>
            <a: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);</a:t>
            </a:r>
            <a:b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</a:br>
            <a:endParaRPr>
              <a:solidFill>
                <a:srgbClr val="D4D4D4"/>
              </a:solidFill>
              <a:latin typeface="Consolas" panose="020B0609020204030204" pitchFamily="49" charset="0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A8D08C"/>
              </a:buClr>
              <a:buSzPct val="100000"/>
              <a:buNone/>
            </a:pPr>
            <a:endParaRPr lang="en-US">
              <a:solidFill>
                <a:srgbClr val="D4D4D4"/>
              </a:solidFill>
              <a:latin typeface="Consolas" panose="020B0609020204030204" pitchFamily="49" charset="0"/>
              <a:ea typeface="Consolas"/>
              <a:cs typeface="Consolas"/>
              <a:sym typeface="Consolas"/>
            </a:endParaRPr>
          </a:p>
          <a:p>
            <a:pPr marL="0" indent="0">
              <a:spcBef>
                <a:spcPts val="0"/>
              </a:spcBef>
              <a:buClr>
                <a:srgbClr val="A8D08C"/>
              </a:buClr>
              <a:buSzPct val="100000"/>
              <a:buNone/>
            </a:pPr>
            <a:endParaRPr lang="en-US" altLang="zh-CN" b="1">
              <a:solidFill>
                <a:srgbClr val="A8D08C"/>
              </a:solidFill>
              <a:latin typeface="Consolas" panose="020B0609020204030204" pitchFamily="49" charset="0"/>
              <a:ea typeface="Consolas"/>
              <a:cs typeface="Consolas"/>
              <a:sym typeface="Consolas"/>
            </a:endParaRPr>
          </a:p>
          <a:p>
            <a:pPr marL="0" indent="0">
              <a:spcBef>
                <a:spcPts val="0"/>
              </a:spcBef>
              <a:buClr>
                <a:srgbClr val="A8D08C"/>
              </a:buClr>
              <a:buSzPct val="100000"/>
              <a:buNone/>
            </a:pPr>
            <a:r>
              <a:rPr lang="en-US" altLang="zh-CN" b="1">
                <a:solidFill>
                  <a:srgbClr val="A8D08C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// IF_ID Pipeline register for instruction signal</a:t>
            </a:r>
            <a:br>
              <a:rPr lang="en-US" altLang="zh-CN" b="0">
                <a:solidFill>
                  <a:srgbClr val="569CD6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</a:br>
            <a:r>
              <a:rPr lang="en-US" altLang="zh-CN" b="0" err="1">
                <a:solidFill>
                  <a:srgbClr val="569CD6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reg_arstn</a:t>
            </a:r>
            <a:r>
              <a:rPr lang="en-US" altLang="zh-CN" err="1">
                <a:solidFill>
                  <a:srgbClr val="569CD6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_en</a:t>
            </a:r>
            <a:r>
              <a:rPr lang="en-US" altLang="zh-CN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#(</a:t>
            </a:r>
            <a:br>
              <a:rPr lang="en-US" altLang="zh-CN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</a:br>
            <a:r>
              <a:rPr lang="en-US" altLang="zh-CN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   .DATA_W(</a:t>
            </a:r>
            <a:r>
              <a:rPr lang="en-US" altLang="zh-CN" b="1">
                <a:solidFill>
                  <a:srgbClr val="FF0000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32</a:t>
            </a:r>
            <a:r>
              <a:rPr lang="en-US" altLang="zh-CN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) </a:t>
            </a:r>
            <a:r>
              <a:rPr lang="en-US" altLang="zh-CN" b="1">
                <a:solidFill>
                  <a:srgbClr val="A8D08C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// width of the forwarded signal</a:t>
            </a:r>
            <a:br>
              <a:rPr lang="en-US" altLang="zh-CN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</a:br>
            <a:r>
              <a:rPr lang="en-US" altLang="zh-CN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)</a:t>
            </a:r>
            <a:r>
              <a:rPr lang="en-US" altLang="zh-CN" b="0" err="1">
                <a:solidFill>
                  <a:srgbClr val="569CD6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signal_pipe_IF_ID</a:t>
            </a:r>
            <a:r>
              <a:rPr lang="en-US" altLang="zh-CN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(</a:t>
            </a:r>
            <a:br>
              <a:rPr lang="en-US" altLang="zh-CN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</a:br>
            <a:r>
              <a:rPr lang="en-US" altLang="zh-CN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   .</a:t>
            </a:r>
            <a:r>
              <a:rPr lang="en-US" altLang="zh-CN" b="0" err="1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clk</a:t>
            </a:r>
            <a:r>
              <a:rPr lang="en-US" altLang="zh-CN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    (</a:t>
            </a:r>
            <a:r>
              <a:rPr lang="en-US" altLang="zh-CN" b="0" err="1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clk</a:t>
            </a:r>
            <a:r>
              <a:rPr lang="en-US" altLang="zh-CN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          ),</a:t>
            </a:r>
            <a:br>
              <a:rPr lang="en-US" altLang="zh-CN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</a:br>
            <a:r>
              <a:rPr lang="en-US" altLang="zh-CN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   .</a:t>
            </a:r>
            <a:r>
              <a:rPr lang="en-US" altLang="zh-CN" b="0" err="1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arst_n</a:t>
            </a:r>
            <a:r>
              <a:rPr lang="en-US" altLang="zh-CN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 (</a:t>
            </a:r>
            <a:r>
              <a:rPr lang="en-US" altLang="zh-CN" b="0" err="1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arst_n</a:t>
            </a:r>
            <a:r>
              <a:rPr lang="en-US" altLang="zh-CN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       ),</a:t>
            </a:r>
            <a:br>
              <a:rPr lang="en-US" altLang="zh-CN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</a:br>
            <a:r>
              <a:rPr lang="en-US" altLang="zh-CN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   .din     (</a:t>
            </a:r>
            <a:r>
              <a:rPr lang="en-US" altLang="zh-CN" b="1">
                <a:solidFill>
                  <a:srgbClr val="FF0000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instruction   </a:t>
            </a:r>
            <a:r>
              <a:rPr lang="en-US" altLang="zh-CN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),</a:t>
            </a:r>
            <a:br>
              <a:rPr lang="en-US" altLang="zh-CN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</a:br>
            <a:r>
              <a:rPr lang="en-US" altLang="zh-CN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   .</a:t>
            </a:r>
            <a:r>
              <a:rPr lang="en-US" altLang="zh-CN" b="0" err="1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en</a:t>
            </a:r>
            <a:r>
              <a:rPr lang="en-US" altLang="zh-CN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     (enable        ),</a:t>
            </a:r>
            <a:br>
              <a:rPr lang="en-US" altLang="zh-CN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</a:br>
            <a:r>
              <a:rPr lang="en-US" altLang="zh-CN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   .</a:t>
            </a:r>
            <a:r>
              <a:rPr lang="en-US" altLang="zh-CN" b="0" err="1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dout</a:t>
            </a:r>
            <a:r>
              <a:rPr lang="en-US" altLang="zh-CN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  (</a:t>
            </a:r>
            <a:r>
              <a:rPr lang="en-US" altLang="zh-CN" b="1" err="1">
                <a:solidFill>
                  <a:srgbClr val="FF0000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instruction_IF_ID</a:t>
            </a:r>
            <a:r>
              <a:rPr lang="en-US" altLang="zh-CN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)</a:t>
            </a:r>
            <a:br>
              <a:rPr lang="en-US" altLang="zh-CN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</a:br>
            <a:r>
              <a:rPr lang="en-US" altLang="zh-CN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)</a:t>
            </a:r>
          </a:p>
          <a:p>
            <a:pPr marL="0" indent="0">
              <a:spcBef>
                <a:spcPts val="0"/>
              </a:spcBef>
              <a:buClr>
                <a:srgbClr val="A8D08C"/>
              </a:buClr>
              <a:buSzPct val="100000"/>
              <a:buNone/>
            </a:pPr>
            <a:endParaRPr lang="en-US" altLang="zh-CN" b="0">
              <a:solidFill>
                <a:srgbClr val="D4D4D4"/>
              </a:solidFill>
              <a:latin typeface="Consolas" panose="020B0609020204030204" pitchFamily="49" charset="0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A8D08C"/>
              </a:buClr>
              <a:buSzPct val="100000"/>
              <a:buNone/>
            </a:pPr>
            <a:r>
              <a:rPr lang="en-US" altLang="zh-CN" b="1">
                <a:solidFill>
                  <a:srgbClr val="A8D08C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// ID STAGE</a:t>
            </a:r>
            <a:endParaRPr lang="en-US" altLang="zh-CN">
              <a:solidFill>
                <a:srgbClr val="D4D4D4"/>
              </a:solidFill>
              <a:latin typeface="Consolas" panose="020B0609020204030204" pitchFamily="49" charset="0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A8D08C"/>
              </a:buClr>
              <a:buSzPct val="100000"/>
              <a:buNone/>
            </a:pPr>
            <a:r>
              <a:rPr lang="en-US" altLang="zh-CN" err="1">
                <a:solidFill>
                  <a:srgbClr val="569CD6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register_file</a:t>
            </a:r>
            <a:r>
              <a:rPr lang="en-US" altLang="zh-CN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#(</a:t>
            </a:r>
            <a:br>
              <a:rPr lang="en-US" altLang="zh-CN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</a:br>
            <a:r>
              <a:rPr lang="en-US" altLang="zh-CN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   .DATA_W(</a:t>
            </a:r>
            <a:r>
              <a:rPr lang="en-US" altLang="zh-CN">
                <a:solidFill>
                  <a:srgbClr val="B5CEA8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64</a:t>
            </a:r>
            <a:r>
              <a:rPr lang="en-US" altLang="zh-CN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)</a:t>
            </a:r>
            <a:br>
              <a:rPr lang="en-US" altLang="zh-CN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</a:br>
            <a:r>
              <a:rPr lang="en-US" altLang="zh-CN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) </a:t>
            </a:r>
            <a:r>
              <a:rPr lang="en-US" altLang="zh-CN" err="1">
                <a:solidFill>
                  <a:srgbClr val="569CD6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register_file</a:t>
            </a:r>
            <a:r>
              <a:rPr lang="en-US" altLang="zh-CN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(</a:t>
            </a:r>
            <a:br>
              <a:rPr lang="en-US" altLang="zh-CN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</a:br>
            <a:r>
              <a:rPr lang="en-US" altLang="zh-CN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   .</a:t>
            </a:r>
            <a:r>
              <a:rPr lang="en-US" altLang="zh-CN" err="1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clk</a:t>
            </a:r>
            <a:r>
              <a:rPr lang="en-US" altLang="zh-CN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     (</a:t>
            </a:r>
            <a:r>
              <a:rPr lang="en-US" altLang="zh-CN" err="1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clk</a:t>
            </a:r>
            <a:r>
              <a:rPr lang="en-US" altLang="zh-CN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              ),</a:t>
            </a:r>
            <a:br>
              <a:rPr lang="en-US" altLang="zh-CN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</a:br>
            <a:r>
              <a:rPr lang="en-US" altLang="zh-CN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   .</a:t>
            </a:r>
            <a:r>
              <a:rPr lang="en-US" altLang="zh-CN" err="1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arst_n</a:t>
            </a:r>
            <a:r>
              <a:rPr lang="en-US" altLang="zh-CN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  (</a:t>
            </a:r>
            <a:r>
              <a:rPr lang="en-US" altLang="zh-CN" err="1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arst_n</a:t>
            </a:r>
            <a:r>
              <a:rPr lang="en-US" altLang="zh-CN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           ),</a:t>
            </a:r>
            <a:br>
              <a:rPr lang="en-US" altLang="zh-CN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</a:br>
            <a:r>
              <a:rPr lang="en-US" altLang="zh-CN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   .</a:t>
            </a:r>
            <a:r>
              <a:rPr lang="en-US" altLang="zh-CN" err="1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reg_write</a:t>
            </a:r>
            <a:r>
              <a:rPr lang="en-US" altLang="zh-CN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(</a:t>
            </a:r>
            <a:r>
              <a:rPr lang="en-US" altLang="zh-CN" err="1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reg_write</a:t>
            </a:r>
            <a:r>
              <a:rPr lang="en-US" altLang="zh-CN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        ),</a:t>
            </a:r>
            <a:br>
              <a:rPr lang="en-US" altLang="zh-CN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</a:br>
            <a:r>
              <a:rPr lang="en-US" altLang="zh-CN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   .raddr_1  (</a:t>
            </a:r>
            <a:r>
              <a:rPr lang="en-US" altLang="zh-CN" b="1" err="1">
                <a:solidFill>
                  <a:srgbClr val="FF0000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instruction_IF_ID</a:t>
            </a:r>
            <a:r>
              <a:rPr lang="en-US" altLang="zh-CN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[</a:t>
            </a:r>
            <a:r>
              <a:rPr lang="en-US" altLang="zh-CN">
                <a:solidFill>
                  <a:srgbClr val="B5CEA8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19</a:t>
            </a:r>
            <a:r>
              <a:rPr lang="en-US" altLang="zh-CN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:</a:t>
            </a:r>
            <a:r>
              <a:rPr lang="en-US" altLang="zh-CN">
                <a:solidFill>
                  <a:srgbClr val="B5CEA8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15</a:t>
            </a:r>
            <a:r>
              <a:rPr lang="en-US" altLang="zh-CN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]), </a:t>
            </a:r>
            <a:r>
              <a:rPr lang="en-US" altLang="zh-CN" b="1">
                <a:solidFill>
                  <a:srgbClr val="A8D08C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// Wiring component</a:t>
            </a:r>
            <a:br>
              <a:rPr lang="en-US" altLang="zh-CN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</a:br>
            <a:r>
              <a:rPr lang="en-US" altLang="zh-CN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   .raddr_2  (</a:t>
            </a:r>
            <a:r>
              <a:rPr lang="en-US" altLang="zh-CN" b="1" err="1">
                <a:solidFill>
                  <a:srgbClr val="FF0000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instruction_IF_ID</a:t>
            </a:r>
            <a:r>
              <a:rPr lang="en-US" altLang="zh-CN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[</a:t>
            </a:r>
            <a:r>
              <a:rPr lang="en-US" altLang="zh-CN">
                <a:solidFill>
                  <a:srgbClr val="B5CEA8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24</a:t>
            </a:r>
            <a:r>
              <a:rPr lang="en-US" altLang="zh-CN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:</a:t>
            </a:r>
            <a:r>
              <a:rPr lang="en-US" altLang="zh-CN">
                <a:solidFill>
                  <a:srgbClr val="B5CEA8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20</a:t>
            </a:r>
            <a:r>
              <a:rPr lang="en-US" altLang="zh-CN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]), </a:t>
            </a:r>
            <a:r>
              <a:rPr lang="en-US" altLang="zh-CN" b="1">
                <a:solidFill>
                  <a:srgbClr val="A8D08C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// to appropriate stage</a:t>
            </a:r>
            <a:br>
              <a:rPr lang="en-US" altLang="zh-CN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</a:br>
            <a:r>
              <a:rPr lang="en-US" altLang="zh-CN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   .</a:t>
            </a:r>
            <a:r>
              <a:rPr lang="en-US" altLang="zh-CN" err="1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waddr</a:t>
            </a:r>
            <a:r>
              <a:rPr lang="en-US" altLang="zh-CN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   (</a:t>
            </a:r>
            <a:r>
              <a:rPr lang="en-US" altLang="zh-CN" b="1" err="1">
                <a:solidFill>
                  <a:srgbClr val="FF0000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instruction_MEM_WB</a:t>
            </a:r>
            <a:r>
              <a:rPr lang="en-US" altLang="zh-CN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[</a:t>
            </a:r>
            <a:r>
              <a:rPr lang="en-US" altLang="zh-CN">
                <a:solidFill>
                  <a:srgbClr val="B5CEA8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11</a:t>
            </a:r>
            <a:r>
              <a:rPr lang="en-US" altLang="zh-CN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:</a:t>
            </a:r>
            <a:r>
              <a:rPr lang="en-US" altLang="zh-CN">
                <a:solidFill>
                  <a:srgbClr val="B5CEA8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7</a:t>
            </a:r>
            <a:r>
              <a:rPr lang="en-US" altLang="zh-CN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] ),</a:t>
            </a:r>
            <a:r>
              <a:rPr lang="en-US" altLang="zh-CN" b="1">
                <a:solidFill>
                  <a:srgbClr val="A8D08C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// </a:t>
            </a:r>
            <a:r>
              <a:rPr lang="en-US" altLang="zh-CN" b="1" err="1">
                <a:solidFill>
                  <a:srgbClr val="A8D08C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Reg_write</a:t>
            </a:r>
            <a:r>
              <a:rPr lang="en-US" altLang="zh-CN" b="1">
                <a:solidFill>
                  <a:srgbClr val="A8D08C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</a:t>
            </a:r>
            <a:r>
              <a:rPr lang="en-US" altLang="zh-CN" b="1" err="1">
                <a:solidFill>
                  <a:srgbClr val="A8D08C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addr</a:t>
            </a:r>
            <a:br>
              <a:rPr lang="en-US" altLang="zh-CN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</a:br>
            <a:r>
              <a:rPr lang="en-US" altLang="zh-CN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   .</a:t>
            </a:r>
            <a:r>
              <a:rPr lang="en-US" altLang="zh-CN" err="1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wdata</a:t>
            </a:r>
            <a:r>
              <a:rPr lang="en-US" altLang="zh-CN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   (</a:t>
            </a:r>
            <a:r>
              <a:rPr lang="en-US" altLang="zh-CN" err="1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regfile_wdata</a:t>
            </a:r>
            <a:r>
              <a:rPr lang="en-US" altLang="zh-CN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    ),</a:t>
            </a:r>
            <a:br>
              <a:rPr lang="en-US" altLang="zh-CN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</a:br>
            <a:r>
              <a:rPr lang="en-US" altLang="zh-CN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  .rdata_1  (regfile_rdata_1   ),</a:t>
            </a:r>
            <a:br>
              <a:rPr lang="en-US" altLang="zh-CN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</a:br>
            <a:r>
              <a:rPr lang="en-US" altLang="zh-CN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   .rdata_2  (regfile_rdata_2   )</a:t>
            </a:r>
            <a:br>
              <a:rPr lang="en-US" altLang="zh-CN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</a:br>
            <a:r>
              <a:rPr lang="en-US" altLang="zh-CN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);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A8D08C"/>
              </a:buClr>
              <a:buSzPct val="100000"/>
              <a:buNone/>
            </a:pPr>
            <a:endParaRPr>
              <a:solidFill>
                <a:srgbClr val="D4D4D4"/>
              </a:solidFill>
              <a:latin typeface="Consolas" panose="020B0609020204030204" pitchFamily="49" charset="0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558" name="Google Shape;558;p11"/>
          <p:cNvGraphicFramePr/>
          <p:nvPr>
            <p:extLst>
              <p:ext uri="{D42A27DB-BD31-4B8C-83A1-F6EECF244321}">
                <p14:modId xmlns:p14="http://schemas.microsoft.com/office/powerpoint/2010/main" val="2650225209"/>
              </p:ext>
            </p:extLst>
          </p:nvPr>
        </p:nvGraphicFramePr>
        <p:xfrm>
          <a:off x="425921" y="1350121"/>
          <a:ext cx="4385418" cy="973874"/>
        </p:xfrm>
        <a:graphic>
          <a:graphicData uri="http://schemas.openxmlformats.org/drawingml/2006/table">
            <a:tbl>
              <a:tblPr firstRow="1" bandRow="1">
                <a:noFill/>
                <a:tableStyleId>{040938F7-9763-481F-BBCA-995C50FC980A}</a:tableStyleId>
              </a:tblPr>
              <a:tblGrid>
                <a:gridCol w="7309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09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09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09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090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3090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1226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/>
                        <a:t>Stage</a:t>
                      </a:r>
                      <a:endParaRPr sz="135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/>
                        <a:t>IF</a:t>
                      </a:r>
                      <a:endParaRPr sz="135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/>
                        <a:t>ID</a:t>
                      </a:r>
                      <a:endParaRPr sz="135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/>
                        <a:t>EXE</a:t>
                      </a:r>
                      <a:endParaRPr sz="135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/>
                        <a:t>MEM</a:t>
                      </a:r>
                      <a:endParaRPr sz="135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/>
                        <a:t>WB</a:t>
                      </a:r>
                      <a:endParaRPr sz="135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2648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Data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Path resources</a:t>
                      </a:r>
                      <a:endParaRPr sz="10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900" b="1" err="1">
                          <a:solidFill>
                            <a:schemeClr val="accen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Instruction_memory</a:t>
                      </a:r>
                      <a:endParaRPr sz="1400">
                        <a:solidFill>
                          <a:schemeClr val="accent1"/>
                        </a:solidFill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err="1">
                          <a:solidFill>
                            <a:srgbClr val="0070C0"/>
                          </a:solidFill>
                        </a:rPr>
                        <a:t>register_file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5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5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5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59" name="Google Shape;559;p11"/>
          <p:cNvGraphicFramePr/>
          <p:nvPr>
            <p:extLst>
              <p:ext uri="{D42A27DB-BD31-4B8C-83A1-F6EECF244321}">
                <p14:modId xmlns:p14="http://schemas.microsoft.com/office/powerpoint/2010/main" val="3587960851"/>
              </p:ext>
            </p:extLst>
          </p:nvPr>
        </p:nvGraphicFramePr>
        <p:xfrm>
          <a:off x="425922" y="2617372"/>
          <a:ext cx="4405350" cy="1310660"/>
        </p:xfrm>
        <a:graphic>
          <a:graphicData uri="http://schemas.openxmlformats.org/drawingml/2006/table">
            <a:tbl>
              <a:tblPr firstRow="1" bandRow="1">
                <a:noFill/>
                <a:tableStyleId>{040938F7-9763-481F-BBCA-995C50FC980A}</a:tableStyleId>
              </a:tblPr>
              <a:tblGrid>
                <a:gridCol w="816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7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7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7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971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8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/>
                        <a:t>Pipe. Reg.</a:t>
                      </a:r>
                      <a:endParaRPr sz="135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/>
                        <a:t>IF/ID</a:t>
                      </a:r>
                      <a:endParaRPr sz="135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/>
                        <a:t>ID/EXE</a:t>
                      </a:r>
                      <a:endParaRPr sz="135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50"/>
                        <a:buFont typeface="Calibri"/>
                        <a:buNone/>
                      </a:pPr>
                      <a:r>
                        <a:rPr lang="en-US" sz="1350"/>
                        <a:t>EXE/MEM</a:t>
                      </a:r>
                      <a:endParaRPr sz="135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5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/>
                        <a:t>MEM/WB</a:t>
                      </a:r>
                      <a:endParaRPr sz="135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3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Signals</a:t>
                      </a:r>
                      <a:endParaRPr sz="10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1" err="1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Instruction_IF_ID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5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5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5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1" i="0" u="none" strike="noStrike" cap="none" err="1">
                          <a:solidFill>
                            <a:srgbClr val="FF0000"/>
                          </a:solidFill>
                          <a:latin typeface="Calibri"/>
                          <a:cs typeface="Calibri"/>
                          <a:sym typeface="Arial"/>
                        </a:rPr>
                        <a:t>Instruction_MEM_WB</a:t>
                      </a:r>
                      <a:endParaRPr lang="en-US" sz="1000" b="1" i="0" u="none" strike="noStrike" cap="none">
                        <a:solidFill>
                          <a:srgbClr val="FF0000"/>
                        </a:solidFill>
                        <a:latin typeface="Calibri"/>
                        <a:cs typeface="Calibri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35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5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60" name="Google Shape;560;p11"/>
          <p:cNvSpPr txBox="1"/>
          <p:nvPr/>
        </p:nvSpPr>
        <p:spPr>
          <a:xfrm>
            <a:off x="135566" y="4642562"/>
            <a:ext cx="986167" cy="341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2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</a:t>
            </a:r>
            <a:endParaRPr sz="16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11"/>
          <p:cNvSpPr txBox="1"/>
          <p:nvPr/>
        </p:nvSpPr>
        <p:spPr>
          <a:xfrm>
            <a:off x="5402100" y="4379300"/>
            <a:ext cx="3640800" cy="6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1">
                <a:solidFill>
                  <a:schemeClr val="accent4"/>
                </a:solidFill>
              </a:rPr>
              <a:t>Tips:</a:t>
            </a:r>
            <a:endParaRPr sz="1100" b="1" i="1">
              <a:solidFill>
                <a:schemeClr val="accent4"/>
              </a:solidFill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Char char="●"/>
            </a:pPr>
            <a:r>
              <a:rPr lang="en-US" sz="1000">
                <a:solidFill>
                  <a:schemeClr val="accent4"/>
                </a:solidFill>
              </a:rPr>
              <a:t>Be careful with each register’s DATA_WIDTH.</a:t>
            </a:r>
            <a:endParaRPr sz="1000">
              <a:solidFill>
                <a:schemeClr val="accent4"/>
              </a:solidFill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Char char="●"/>
            </a:pPr>
            <a:r>
              <a:rPr lang="en-US" sz="1000">
                <a:solidFill>
                  <a:schemeClr val="accent4"/>
                </a:solidFill>
              </a:rPr>
              <a:t>Always define the signal before usage in coding.</a:t>
            </a:r>
            <a:endParaRPr sz="1000">
              <a:solidFill>
                <a:schemeClr val="accent4"/>
              </a:solidFill>
            </a:endParaRPr>
          </a:p>
        </p:txBody>
      </p:sp>
      <p:sp>
        <p:nvSpPr>
          <p:cNvPr id="562" name="Google Shape;562;p11"/>
          <p:cNvSpPr txBox="1"/>
          <p:nvPr/>
        </p:nvSpPr>
        <p:spPr>
          <a:xfrm>
            <a:off x="5427877" y="1655979"/>
            <a:ext cx="3551274" cy="338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1">
                <a:solidFill>
                  <a:schemeClr val="accent4"/>
                </a:solidFill>
              </a:rPr>
              <a:t>*_</a:t>
            </a:r>
            <a:r>
              <a:rPr lang="en-US" sz="1000" b="1" i="1" err="1">
                <a:solidFill>
                  <a:schemeClr val="accent4"/>
                </a:solidFill>
              </a:rPr>
              <a:t>ext</a:t>
            </a:r>
            <a:r>
              <a:rPr lang="en-US" sz="1000" b="1" i="1">
                <a:solidFill>
                  <a:schemeClr val="accent4"/>
                </a:solidFill>
              </a:rPr>
              <a:t> wires are only for the testbench (do not change).</a:t>
            </a:r>
            <a:endParaRPr b="1" i="1"/>
          </a:p>
        </p:txBody>
      </p:sp>
      <p:sp>
        <p:nvSpPr>
          <p:cNvPr id="563" name="Google Shape;563;p11"/>
          <p:cNvSpPr txBox="1"/>
          <p:nvPr/>
        </p:nvSpPr>
        <p:spPr>
          <a:xfrm>
            <a:off x="7105473" y="466950"/>
            <a:ext cx="2038402" cy="384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i="1">
                <a:solidFill>
                  <a:schemeClr val="lt1"/>
                </a:solidFill>
              </a:rPr>
              <a:t>Coding Example (</a:t>
            </a:r>
            <a:r>
              <a:rPr lang="en-US" sz="1300" i="1" err="1">
                <a:solidFill>
                  <a:schemeClr val="lt1"/>
                </a:solidFill>
              </a:rPr>
              <a:t>cpu.v</a:t>
            </a:r>
            <a:r>
              <a:rPr lang="en-US" sz="1300" i="1">
                <a:solidFill>
                  <a:schemeClr val="lt1"/>
                </a:solidFill>
              </a:rPr>
              <a:t>)</a:t>
            </a:r>
            <a:endParaRPr sz="1700" i="1">
              <a:solidFill>
                <a:schemeClr val="lt1"/>
              </a:solidFill>
            </a:endParaRPr>
          </a:p>
        </p:txBody>
      </p: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9973A135-DA21-41A8-AD7C-981423DFCA68}"/>
              </a:ext>
            </a:extLst>
          </p:cNvPr>
          <p:cNvCxnSpPr/>
          <p:nvPr/>
        </p:nvCxnSpPr>
        <p:spPr>
          <a:xfrm flipH="1">
            <a:off x="1524000" y="723014"/>
            <a:ext cx="3551274" cy="1049079"/>
          </a:xfrm>
          <a:prstGeom prst="straightConnector1">
            <a:avLst/>
          </a:prstGeom>
          <a:ln w="2540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7F5EB3D4-76CE-4514-AD42-A44CBB22D9A3}"/>
              </a:ext>
            </a:extLst>
          </p:cNvPr>
          <p:cNvCxnSpPr>
            <a:cxnSpLocks/>
          </p:cNvCxnSpPr>
          <p:nvPr/>
        </p:nvCxnSpPr>
        <p:spPr>
          <a:xfrm flipH="1" flipV="1">
            <a:off x="2301240" y="1931545"/>
            <a:ext cx="2709771" cy="1127294"/>
          </a:xfrm>
          <a:prstGeom prst="straightConnector1">
            <a:avLst/>
          </a:prstGeom>
          <a:ln w="2540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组合 8">
            <a:extLst>
              <a:ext uri="{FF2B5EF4-FFF2-40B4-BE49-F238E27FC236}">
                <a16:creationId xmlns:a16="http://schemas.microsoft.com/office/drawing/2014/main" id="{AA6B966F-F04D-43C6-845D-941FC7269450}"/>
              </a:ext>
            </a:extLst>
          </p:cNvPr>
          <p:cNvGrpSpPr/>
          <p:nvPr/>
        </p:nvGrpSpPr>
        <p:grpSpPr>
          <a:xfrm>
            <a:off x="5008633" y="1955273"/>
            <a:ext cx="4034267" cy="1014038"/>
            <a:chOff x="5008633" y="1955273"/>
            <a:chExt cx="4034267" cy="1014038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90F73B14-C6FD-4423-955E-E2CFE176B444}"/>
                </a:ext>
              </a:extLst>
            </p:cNvPr>
            <p:cNvSpPr/>
            <p:nvPr/>
          </p:nvSpPr>
          <p:spPr>
            <a:xfrm>
              <a:off x="5008633" y="1955273"/>
              <a:ext cx="3904389" cy="968749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Google Shape;562;p11">
              <a:extLst>
                <a:ext uri="{FF2B5EF4-FFF2-40B4-BE49-F238E27FC236}">
                  <a16:creationId xmlns:a16="http://schemas.microsoft.com/office/drawing/2014/main" id="{6F981331-2035-4642-B229-754750773C61}"/>
                </a:ext>
              </a:extLst>
            </p:cNvPr>
            <p:cNvSpPr txBox="1"/>
            <p:nvPr/>
          </p:nvSpPr>
          <p:spPr>
            <a:xfrm>
              <a:off x="7105473" y="2630787"/>
              <a:ext cx="1937427" cy="3385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sz="1000" b="1" i="1">
                  <a:solidFill>
                    <a:schemeClr val="accent2">
                      <a:lumMod val="40000"/>
                      <a:lumOff val="60000"/>
                    </a:schemeClr>
                  </a:solidFill>
                </a:rPr>
                <a:t>The IF_ID Pipeline Register.</a:t>
              </a:r>
              <a:endParaRPr b="1" i="1">
                <a:solidFill>
                  <a:schemeClr val="accent2">
                    <a:lumMod val="40000"/>
                    <a:lumOff val="60000"/>
                  </a:schemeClr>
                </a:solidFill>
              </a:endParaRPr>
            </a:p>
          </p:txBody>
        </p:sp>
      </p:grpSp>
      <p:sp>
        <p:nvSpPr>
          <p:cNvPr id="5" name="Google Shape;539;p10">
            <a:extLst>
              <a:ext uri="{FF2B5EF4-FFF2-40B4-BE49-F238E27FC236}">
                <a16:creationId xmlns:a16="http://schemas.microsoft.com/office/drawing/2014/main" id="{E5738A90-05C8-E807-94CB-1B82169FC151}"/>
              </a:ext>
            </a:extLst>
          </p:cNvPr>
          <p:cNvSpPr txBox="1">
            <a:spLocks/>
          </p:cNvSpPr>
          <p:nvPr/>
        </p:nvSpPr>
        <p:spPr>
          <a:xfrm>
            <a:off x="185419" y="89216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3300"/>
            </a:pPr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Implementation Method</a:t>
            </a:r>
          </a:p>
        </p:txBody>
      </p:sp>
      <p:cxnSp>
        <p:nvCxnSpPr>
          <p:cNvPr id="6" name="直接箭头连接符 12">
            <a:extLst>
              <a:ext uri="{FF2B5EF4-FFF2-40B4-BE49-F238E27FC236}">
                <a16:creationId xmlns:a16="http://schemas.microsoft.com/office/drawing/2014/main" id="{336C6C73-9348-B6AD-61EB-A6B8D680DDA2}"/>
              </a:ext>
            </a:extLst>
          </p:cNvPr>
          <p:cNvCxnSpPr>
            <a:cxnSpLocks/>
          </p:cNvCxnSpPr>
          <p:nvPr/>
        </p:nvCxnSpPr>
        <p:spPr>
          <a:xfrm flipH="1">
            <a:off x="2201333" y="2262293"/>
            <a:ext cx="2753360" cy="661729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7">
            <a:extLst>
              <a:ext uri="{FF2B5EF4-FFF2-40B4-BE49-F238E27FC236}">
                <a16:creationId xmlns:a16="http://schemas.microsoft.com/office/drawing/2014/main" id="{3F00C81D-D116-9A77-64AA-87C0D734EF38}"/>
              </a:ext>
            </a:extLst>
          </p:cNvPr>
          <p:cNvSpPr/>
          <p:nvPr/>
        </p:nvSpPr>
        <p:spPr>
          <a:xfrm>
            <a:off x="1160210" y="2578063"/>
            <a:ext cx="1040056" cy="140804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Google Shape;550;p10">
            <a:extLst>
              <a:ext uri="{FF2B5EF4-FFF2-40B4-BE49-F238E27FC236}">
                <a16:creationId xmlns:a16="http://schemas.microsoft.com/office/drawing/2014/main" id="{ED51E606-9C13-4A02-4ED1-DE4C9734B7AE}"/>
              </a:ext>
            </a:extLst>
          </p:cNvPr>
          <p:cNvSpPr txBox="1"/>
          <p:nvPr/>
        </p:nvSpPr>
        <p:spPr>
          <a:xfrm>
            <a:off x="302367" y="4102796"/>
            <a:ext cx="4968107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i="1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  <a:sym typeface="Calibri"/>
              </a:rPr>
              <a:t>You can find this helper table in </a:t>
            </a:r>
            <a:r>
              <a:rPr lang="en-US" altLang="zh-CN" i="1">
                <a:solidFill>
                  <a:srgbClr val="1F4D78"/>
                </a:solidFill>
                <a:highlight>
                  <a:srgbClr val="B3C6E7"/>
                </a:highlight>
                <a:latin typeface="Calibri" panose="020F0502020204030204" pitchFamily="34" charset="0"/>
                <a:ea typeface="Calibri"/>
                <a:cs typeface="Calibri"/>
                <a:sym typeface="Calibri"/>
              </a:rPr>
              <a:t>TASKS TO BE DONE</a:t>
            </a:r>
            <a:r>
              <a:rPr lang="en-GB" altLang="zh-CN" i="1">
                <a:solidFill>
                  <a:srgbClr val="00000A"/>
                </a:solidFill>
                <a:highlight>
                  <a:srgbClr val="B3C6E7"/>
                </a:highlight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altLang="zh-CN" i="1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  <a:sym typeface="Calibri"/>
              </a:rPr>
              <a:t>of </a:t>
            </a:r>
            <a:r>
              <a:rPr lang="en-US" altLang="zh-CN" b="1" i="1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  <a:sym typeface="Calibri"/>
              </a:rPr>
              <a:t>s</a:t>
            </a:r>
            <a:r>
              <a:rPr lang="en-US" b="1" i="1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  <a:sym typeface="Calibri"/>
              </a:rPr>
              <a:t>ession_guide.pdf</a:t>
            </a:r>
            <a:endParaRPr b="1" i="1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1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sp>
        <p:nvSpPr>
          <p:cNvPr id="557" name="Google Shape;557;p11"/>
          <p:cNvSpPr txBox="1">
            <a:spLocks noGrp="1"/>
          </p:cNvSpPr>
          <p:nvPr>
            <p:ph type="body" idx="2"/>
          </p:nvPr>
        </p:nvSpPr>
        <p:spPr>
          <a:xfrm>
            <a:off x="4988700" y="104075"/>
            <a:ext cx="4054200" cy="488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 fontScale="40000" lnSpcReduction="2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8D08C"/>
              </a:buClr>
              <a:buSzPct val="100000"/>
              <a:buNone/>
            </a:pPr>
            <a:r>
              <a:rPr lang="en-US" b="1">
                <a:solidFill>
                  <a:srgbClr val="A8D08C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// IF STAGE</a:t>
            </a:r>
            <a:br>
              <a:rPr lang="en-US" b="1">
                <a:solidFill>
                  <a:srgbClr val="FF0000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</a:br>
            <a:r>
              <a:rPr lang="en-US" b="0">
                <a:solidFill>
                  <a:srgbClr val="569CD6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wire</a:t>
            </a:r>
            <a: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[      </a:t>
            </a:r>
            <a:r>
              <a:rPr lang="en-US" b="0">
                <a:solidFill>
                  <a:srgbClr val="B5CEA8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31</a:t>
            </a:r>
            <a: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:</a:t>
            </a:r>
            <a:r>
              <a:rPr lang="en-US" b="0">
                <a:solidFill>
                  <a:srgbClr val="B5CEA8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0</a:t>
            </a:r>
            <a: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] </a:t>
            </a:r>
            <a:r>
              <a:rPr lang="en-US" b="1">
                <a:solidFill>
                  <a:srgbClr val="FF0000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instruction</a:t>
            </a:r>
            <a: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, </a:t>
            </a:r>
            <a:r>
              <a:rPr lang="en-US" b="1" err="1">
                <a:solidFill>
                  <a:srgbClr val="FF0000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instruction_IF_ID</a:t>
            </a:r>
            <a:r>
              <a:rPr lang="en-US" b="1">
                <a:solidFill>
                  <a:srgbClr val="FF0000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, </a:t>
            </a:r>
            <a:r>
              <a:rPr lang="en-US" b="1" err="1">
                <a:solidFill>
                  <a:srgbClr val="FF0000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instruction_MEM_WB</a:t>
            </a:r>
            <a: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;</a:t>
            </a:r>
            <a:endParaRPr>
              <a:solidFill>
                <a:srgbClr val="569CD6"/>
              </a:solidFill>
              <a:latin typeface="Consolas" panose="020B0609020204030204" pitchFamily="49" charset="0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569CD6"/>
              </a:buClr>
              <a:buSzPct val="100000"/>
              <a:buNone/>
            </a:pPr>
            <a:r>
              <a:rPr lang="en-US" b="0">
                <a:solidFill>
                  <a:srgbClr val="569CD6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sram_BW32</a:t>
            </a:r>
            <a: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#(</a:t>
            </a:r>
            <a:b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</a:br>
            <a: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   .ADDR_W(</a:t>
            </a:r>
            <a:r>
              <a:rPr lang="en-US" b="0">
                <a:solidFill>
                  <a:srgbClr val="B5CEA8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9</a:t>
            </a:r>
            <a: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),</a:t>
            </a:r>
            <a:b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</a:br>
            <a: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   .DATA_W(</a:t>
            </a:r>
            <a:r>
              <a:rPr lang="en-US" b="0">
                <a:solidFill>
                  <a:srgbClr val="B5CEA8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32</a:t>
            </a:r>
            <a: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)</a:t>
            </a:r>
            <a:b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</a:br>
            <a: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) </a:t>
            </a:r>
            <a:r>
              <a:rPr lang="en-US" b="0" err="1">
                <a:solidFill>
                  <a:srgbClr val="569CD6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instruction_memory</a:t>
            </a:r>
            <a: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(</a:t>
            </a:r>
            <a:b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</a:br>
            <a: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   .</a:t>
            </a:r>
            <a:r>
              <a:rPr lang="en-US" b="0" err="1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clk</a:t>
            </a:r>
            <a: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     (</a:t>
            </a:r>
            <a:r>
              <a:rPr lang="en-US" b="0" err="1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clk</a:t>
            </a:r>
            <a: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          ),</a:t>
            </a:r>
            <a:b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</a:br>
            <a: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   .</a:t>
            </a:r>
            <a:r>
              <a:rPr lang="en-US" b="0" err="1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addr</a:t>
            </a:r>
            <a: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    (</a:t>
            </a:r>
            <a:r>
              <a:rPr lang="en-US" b="0" err="1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current_pc</a:t>
            </a:r>
            <a: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   ),</a:t>
            </a:r>
            <a:b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</a:br>
            <a: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   .wen      (</a:t>
            </a:r>
            <a:r>
              <a:rPr lang="en-US" b="0">
                <a:solidFill>
                  <a:srgbClr val="B5CEA8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1'b0</a:t>
            </a:r>
            <a: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         ),</a:t>
            </a:r>
            <a:b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</a:br>
            <a: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   .ren      (</a:t>
            </a:r>
            <a:r>
              <a:rPr lang="en-US" b="0">
                <a:solidFill>
                  <a:srgbClr val="B5CEA8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1'b1</a:t>
            </a:r>
            <a: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         ),</a:t>
            </a:r>
            <a:b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</a:br>
            <a: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   .</a:t>
            </a:r>
            <a:r>
              <a:rPr lang="en-US" b="0" err="1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wdata</a:t>
            </a:r>
            <a: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   (</a:t>
            </a:r>
            <a:r>
              <a:rPr lang="en-US" b="0">
                <a:solidFill>
                  <a:srgbClr val="B5CEA8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32'b0</a:t>
            </a:r>
            <a: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        ),</a:t>
            </a:r>
            <a:b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</a:br>
            <a: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   .</a:t>
            </a:r>
            <a:r>
              <a:rPr lang="en-US" b="0" err="1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rdata</a:t>
            </a:r>
            <a: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   (</a:t>
            </a:r>
            <a:r>
              <a:rPr lang="en-US" b="1">
                <a:solidFill>
                  <a:srgbClr val="FF0000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instruction   </a:t>
            </a:r>
            <a: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), </a:t>
            </a:r>
            <a:r>
              <a:rPr lang="en-US" b="1">
                <a:solidFill>
                  <a:srgbClr val="A8D08C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// Wiring component</a:t>
            </a:r>
            <a:b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</a:br>
            <a: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   .</a:t>
            </a:r>
            <a:r>
              <a:rPr lang="en-US" b="0" err="1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addr_ext</a:t>
            </a:r>
            <a: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(</a:t>
            </a:r>
            <a:r>
              <a:rPr lang="en-US" b="0" err="1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addr_ext</a:t>
            </a:r>
            <a: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     ), </a:t>
            </a:r>
            <a:r>
              <a:rPr lang="en-US" b="1">
                <a:solidFill>
                  <a:srgbClr val="A8D08C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// to appropriate stage</a:t>
            </a:r>
            <a:b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</a:br>
            <a: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   .</a:t>
            </a:r>
            <a:r>
              <a:rPr lang="en-US" b="0" err="1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wen_ext</a:t>
            </a:r>
            <a: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 (</a:t>
            </a:r>
            <a:r>
              <a:rPr lang="en-US" b="0" err="1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wen_ext</a:t>
            </a:r>
            <a: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      ), </a:t>
            </a:r>
            <a:b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</a:br>
            <a: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   .</a:t>
            </a:r>
            <a:r>
              <a:rPr lang="en-US" b="0" err="1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ren_ext</a:t>
            </a:r>
            <a: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 (</a:t>
            </a:r>
            <a:r>
              <a:rPr lang="en-US" b="0" err="1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ren_ext</a:t>
            </a:r>
            <a: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      ),</a:t>
            </a:r>
            <a:b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</a:br>
            <a: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   .</a:t>
            </a:r>
            <a:r>
              <a:rPr lang="en-US" b="0" err="1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wdata_ext</a:t>
            </a:r>
            <a: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(</a:t>
            </a:r>
            <a:r>
              <a:rPr lang="en-US" b="0" err="1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wdata_ext</a:t>
            </a:r>
            <a: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    ),</a:t>
            </a:r>
            <a:b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</a:br>
            <a: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   .</a:t>
            </a:r>
            <a:r>
              <a:rPr lang="en-US" b="0" err="1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rdata_ext</a:t>
            </a:r>
            <a: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(</a:t>
            </a:r>
            <a:r>
              <a:rPr lang="en-US" b="0" err="1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rdata_ext</a:t>
            </a:r>
            <a: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    )</a:t>
            </a:r>
            <a:b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</a:br>
            <a: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);</a:t>
            </a:r>
            <a:b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</a:br>
            <a:endParaRPr>
              <a:solidFill>
                <a:srgbClr val="D4D4D4"/>
              </a:solidFill>
              <a:latin typeface="Consolas" panose="020B0609020204030204" pitchFamily="49" charset="0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A8D08C"/>
              </a:buClr>
              <a:buSzPct val="100000"/>
              <a:buNone/>
            </a:pPr>
            <a:endParaRPr lang="en-US">
              <a:solidFill>
                <a:srgbClr val="D4D4D4"/>
              </a:solidFill>
              <a:latin typeface="Consolas" panose="020B0609020204030204" pitchFamily="49" charset="0"/>
              <a:ea typeface="Consolas"/>
              <a:cs typeface="Consolas"/>
              <a:sym typeface="Consolas"/>
            </a:endParaRPr>
          </a:p>
          <a:p>
            <a:pPr marL="0" indent="0">
              <a:spcBef>
                <a:spcPts val="0"/>
              </a:spcBef>
              <a:buClr>
                <a:srgbClr val="A8D08C"/>
              </a:buClr>
              <a:buSzPct val="100000"/>
              <a:buNone/>
            </a:pPr>
            <a:endParaRPr lang="en-US" altLang="zh-CN" b="1">
              <a:solidFill>
                <a:srgbClr val="A8D08C"/>
              </a:solidFill>
              <a:latin typeface="Consolas" panose="020B0609020204030204" pitchFamily="49" charset="0"/>
              <a:ea typeface="Consolas"/>
              <a:cs typeface="Consolas"/>
              <a:sym typeface="Consolas"/>
            </a:endParaRPr>
          </a:p>
          <a:p>
            <a:pPr marL="0" indent="0">
              <a:spcBef>
                <a:spcPts val="0"/>
              </a:spcBef>
              <a:buClr>
                <a:srgbClr val="A8D08C"/>
              </a:buClr>
              <a:buSzPct val="100000"/>
              <a:buNone/>
            </a:pPr>
            <a:r>
              <a:rPr lang="en-US" altLang="zh-CN" b="1">
                <a:solidFill>
                  <a:srgbClr val="A8D08C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// IF_ID Pipeline register for instruction signal</a:t>
            </a:r>
            <a:br>
              <a:rPr lang="en-US" altLang="zh-CN" b="0">
                <a:solidFill>
                  <a:srgbClr val="569CD6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</a:br>
            <a:r>
              <a:rPr lang="en-US" altLang="zh-CN" b="0" err="1">
                <a:solidFill>
                  <a:srgbClr val="569CD6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reg_arstn</a:t>
            </a:r>
            <a:r>
              <a:rPr lang="en-US" altLang="zh-CN" err="1">
                <a:solidFill>
                  <a:srgbClr val="569CD6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_en</a:t>
            </a:r>
            <a:r>
              <a:rPr lang="en-US" altLang="zh-CN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#(</a:t>
            </a:r>
            <a:br>
              <a:rPr lang="en-US" altLang="zh-CN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</a:br>
            <a:r>
              <a:rPr lang="en-US" altLang="zh-CN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   .DATA_W(</a:t>
            </a:r>
            <a:r>
              <a:rPr lang="en-US" altLang="zh-CN" b="1">
                <a:solidFill>
                  <a:srgbClr val="FF0000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32</a:t>
            </a:r>
            <a:r>
              <a:rPr lang="en-US" altLang="zh-CN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) </a:t>
            </a:r>
            <a:r>
              <a:rPr lang="en-US" altLang="zh-CN" b="1">
                <a:solidFill>
                  <a:srgbClr val="A8D08C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// width of the forwarded signal</a:t>
            </a:r>
            <a:br>
              <a:rPr lang="en-US" altLang="zh-CN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</a:br>
            <a:r>
              <a:rPr lang="en-US" altLang="zh-CN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)</a:t>
            </a:r>
            <a:r>
              <a:rPr lang="en-US" altLang="zh-CN" b="0" err="1">
                <a:solidFill>
                  <a:srgbClr val="569CD6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signal_pipe_IF_ID</a:t>
            </a:r>
            <a:r>
              <a:rPr lang="en-US" altLang="zh-CN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(</a:t>
            </a:r>
            <a:br>
              <a:rPr lang="en-US" altLang="zh-CN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</a:br>
            <a:r>
              <a:rPr lang="en-US" altLang="zh-CN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   .</a:t>
            </a:r>
            <a:r>
              <a:rPr lang="en-US" altLang="zh-CN" b="0" err="1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clk</a:t>
            </a:r>
            <a:r>
              <a:rPr lang="en-US" altLang="zh-CN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    (</a:t>
            </a:r>
            <a:r>
              <a:rPr lang="en-US" altLang="zh-CN" b="0" err="1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clk</a:t>
            </a:r>
            <a:r>
              <a:rPr lang="en-US" altLang="zh-CN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          ),</a:t>
            </a:r>
            <a:br>
              <a:rPr lang="en-US" altLang="zh-CN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</a:br>
            <a:r>
              <a:rPr lang="en-US" altLang="zh-CN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   .</a:t>
            </a:r>
            <a:r>
              <a:rPr lang="en-US" altLang="zh-CN" b="0" err="1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arst_n</a:t>
            </a:r>
            <a:r>
              <a:rPr lang="en-US" altLang="zh-CN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 (</a:t>
            </a:r>
            <a:r>
              <a:rPr lang="en-US" altLang="zh-CN" b="0" err="1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arst_n</a:t>
            </a:r>
            <a:r>
              <a:rPr lang="en-US" altLang="zh-CN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       ),</a:t>
            </a:r>
            <a:br>
              <a:rPr lang="en-US" altLang="zh-CN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</a:br>
            <a:r>
              <a:rPr lang="en-US" altLang="zh-CN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   .din     (</a:t>
            </a:r>
            <a:r>
              <a:rPr lang="en-US" altLang="zh-CN" b="1">
                <a:solidFill>
                  <a:srgbClr val="FF0000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instruction   </a:t>
            </a:r>
            <a:r>
              <a:rPr lang="en-US" altLang="zh-CN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),</a:t>
            </a:r>
            <a:br>
              <a:rPr lang="en-US" altLang="zh-CN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</a:br>
            <a:r>
              <a:rPr lang="en-US" altLang="zh-CN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   .</a:t>
            </a:r>
            <a:r>
              <a:rPr lang="en-US" altLang="zh-CN" b="0" err="1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en</a:t>
            </a:r>
            <a:r>
              <a:rPr lang="en-US" altLang="zh-CN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     (enable        ),</a:t>
            </a:r>
            <a:br>
              <a:rPr lang="en-US" altLang="zh-CN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</a:br>
            <a:r>
              <a:rPr lang="en-US" altLang="zh-CN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   .</a:t>
            </a:r>
            <a:r>
              <a:rPr lang="en-US" altLang="zh-CN" b="0" err="1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dout</a:t>
            </a:r>
            <a:r>
              <a:rPr lang="en-US" altLang="zh-CN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  (</a:t>
            </a:r>
            <a:r>
              <a:rPr lang="en-US" altLang="zh-CN" b="1" err="1">
                <a:solidFill>
                  <a:srgbClr val="FF0000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instruction_IF_ID</a:t>
            </a:r>
            <a:r>
              <a:rPr lang="en-US" altLang="zh-CN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)</a:t>
            </a:r>
            <a:br>
              <a:rPr lang="en-US" altLang="zh-CN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</a:br>
            <a:r>
              <a:rPr lang="en-US" altLang="zh-CN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)</a:t>
            </a:r>
          </a:p>
          <a:p>
            <a:pPr marL="0" indent="0">
              <a:spcBef>
                <a:spcPts val="0"/>
              </a:spcBef>
              <a:buClr>
                <a:srgbClr val="A8D08C"/>
              </a:buClr>
              <a:buSzPct val="100000"/>
              <a:buNone/>
            </a:pPr>
            <a:endParaRPr lang="en-US" altLang="zh-CN" b="0">
              <a:solidFill>
                <a:srgbClr val="D4D4D4"/>
              </a:solidFill>
              <a:latin typeface="Consolas" panose="020B0609020204030204" pitchFamily="49" charset="0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A8D08C"/>
              </a:buClr>
              <a:buSzPct val="100000"/>
              <a:buNone/>
            </a:pPr>
            <a:r>
              <a:rPr lang="en-US" altLang="zh-CN" b="1">
                <a:solidFill>
                  <a:srgbClr val="A8D08C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// ID STAGE</a:t>
            </a:r>
            <a:endParaRPr lang="en-US" altLang="zh-CN">
              <a:solidFill>
                <a:srgbClr val="D4D4D4"/>
              </a:solidFill>
              <a:latin typeface="Consolas" panose="020B0609020204030204" pitchFamily="49" charset="0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A8D08C"/>
              </a:buClr>
              <a:buSzPct val="100000"/>
              <a:buNone/>
            </a:pPr>
            <a:r>
              <a:rPr lang="en-US" altLang="zh-CN" err="1">
                <a:solidFill>
                  <a:srgbClr val="569CD6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register_file</a:t>
            </a:r>
            <a:r>
              <a:rPr lang="en-US" altLang="zh-CN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#(</a:t>
            </a:r>
            <a:br>
              <a:rPr lang="en-US" altLang="zh-CN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</a:br>
            <a:r>
              <a:rPr lang="en-US" altLang="zh-CN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   .DATA_W(</a:t>
            </a:r>
            <a:r>
              <a:rPr lang="en-US" altLang="zh-CN">
                <a:solidFill>
                  <a:srgbClr val="B5CEA8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64</a:t>
            </a:r>
            <a:r>
              <a:rPr lang="en-US" altLang="zh-CN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)</a:t>
            </a:r>
            <a:br>
              <a:rPr lang="en-US" altLang="zh-CN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</a:br>
            <a:r>
              <a:rPr lang="en-US" altLang="zh-CN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) </a:t>
            </a:r>
            <a:r>
              <a:rPr lang="en-US" altLang="zh-CN" err="1">
                <a:solidFill>
                  <a:srgbClr val="569CD6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register_file</a:t>
            </a:r>
            <a:r>
              <a:rPr lang="en-US" altLang="zh-CN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(</a:t>
            </a:r>
            <a:br>
              <a:rPr lang="en-US" altLang="zh-CN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</a:br>
            <a:r>
              <a:rPr lang="en-US" altLang="zh-CN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   .</a:t>
            </a:r>
            <a:r>
              <a:rPr lang="en-US" altLang="zh-CN" err="1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clk</a:t>
            </a:r>
            <a:r>
              <a:rPr lang="en-US" altLang="zh-CN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     (</a:t>
            </a:r>
            <a:r>
              <a:rPr lang="en-US" altLang="zh-CN" err="1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clk</a:t>
            </a:r>
            <a:r>
              <a:rPr lang="en-US" altLang="zh-CN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              ),</a:t>
            </a:r>
            <a:br>
              <a:rPr lang="en-US" altLang="zh-CN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</a:br>
            <a:r>
              <a:rPr lang="en-US" altLang="zh-CN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   .</a:t>
            </a:r>
            <a:r>
              <a:rPr lang="en-US" altLang="zh-CN" err="1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arst_n</a:t>
            </a:r>
            <a:r>
              <a:rPr lang="en-US" altLang="zh-CN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  (</a:t>
            </a:r>
            <a:r>
              <a:rPr lang="en-US" altLang="zh-CN" err="1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arst_n</a:t>
            </a:r>
            <a:r>
              <a:rPr lang="en-US" altLang="zh-CN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           ),</a:t>
            </a:r>
            <a:br>
              <a:rPr lang="en-US" altLang="zh-CN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</a:br>
            <a:r>
              <a:rPr lang="en-US" altLang="zh-CN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   .</a:t>
            </a:r>
            <a:r>
              <a:rPr lang="en-US" altLang="zh-CN" err="1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reg_write</a:t>
            </a:r>
            <a:r>
              <a:rPr lang="en-US" altLang="zh-CN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(</a:t>
            </a:r>
            <a:r>
              <a:rPr lang="en-US" altLang="zh-CN" err="1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reg_write</a:t>
            </a:r>
            <a:r>
              <a:rPr lang="en-US" altLang="zh-CN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        ),</a:t>
            </a:r>
            <a:br>
              <a:rPr lang="en-US" altLang="zh-CN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</a:br>
            <a:r>
              <a:rPr lang="en-US" altLang="zh-CN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   .raddr_1  (</a:t>
            </a:r>
            <a:r>
              <a:rPr lang="en-US" altLang="zh-CN" b="1" err="1">
                <a:solidFill>
                  <a:srgbClr val="FF0000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instruction_IF_ID</a:t>
            </a:r>
            <a:r>
              <a:rPr lang="en-US" altLang="zh-CN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[</a:t>
            </a:r>
            <a:r>
              <a:rPr lang="en-US" altLang="zh-CN">
                <a:solidFill>
                  <a:srgbClr val="B5CEA8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19</a:t>
            </a:r>
            <a:r>
              <a:rPr lang="en-US" altLang="zh-CN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:</a:t>
            </a:r>
            <a:r>
              <a:rPr lang="en-US" altLang="zh-CN">
                <a:solidFill>
                  <a:srgbClr val="B5CEA8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15</a:t>
            </a:r>
            <a:r>
              <a:rPr lang="en-US" altLang="zh-CN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]), </a:t>
            </a:r>
            <a:r>
              <a:rPr lang="en-US" altLang="zh-CN" b="1">
                <a:solidFill>
                  <a:srgbClr val="A8D08C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// Wiring component</a:t>
            </a:r>
            <a:br>
              <a:rPr lang="en-US" altLang="zh-CN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</a:br>
            <a:r>
              <a:rPr lang="en-US" altLang="zh-CN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   .raddr_2  (</a:t>
            </a:r>
            <a:r>
              <a:rPr lang="en-US" altLang="zh-CN" b="1" err="1">
                <a:solidFill>
                  <a:srgbClr val="FF0000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instruction_IF_ID</a:t>
            </a:r>
            <a:r>
              <a:rPr lang="en-US" altLang="zh-CN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[</a:t>
            </a:r>
            <a:r>
              <a:rPr lang="en-US" altLang="zh-CN">
                <a:solidFill>
                  <a:srgbClr val="B5CEA8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24</a:t>
            </a:r>
            <a:r>
              <a:rPr lang="en-US" altLang="zh-CN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:</a:t>
            </a:r>
            <a:r>
              <a:rPr lang="en-US" altLang="zh-CN">
                <a:solidFill>
                  <a:srgbClr val="B5CEA8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20</a:t>
            </a:r>
            <a:r>
              <a:rPr lang="en-US" altLang="zh-CN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]), </a:t>
            </a:r>
            <a:r>
              <a:rPr lang="en-US" altLang="zh-CN" b="1">
                <a:solidFill>
                  <a:srgbClr val="A8D08C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// to appropriate stage</a:t>
            </a:r>
            <a:br>
              <a:rPr lang="en-US" altLang="zh-CN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</a:br>
            <a:r>
              <a:rPr lang="en-US" altLang="zh-CN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   .</a:t>
            </a:r>
            <a:r>
              <a:rPr lang="en-US" altLang="zh-CN" err="1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waddr</a:t>
            </a:r>
            <a:r>
              <a:rPr lang="en-US" altLang="zh-CN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   (</a:t>
            </a:r>
            <a:r>
              <a:rPr lang="en-US" altLang="zh-CN" b="1" err="1">
                <a:solidFill>
                  <a:srgbClr val="FF0000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instruction_MEM_WB</a:t>
            </a:r>
            <a:r>
              <a:rPr lang="en-US" altLang="zh-CN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[</a:t>
            </a:r>
            <a:r>
              <a:rPr lang="en-US" altLang="zh-CN">
                <a:solidFill>
                  <a:srgbClr val="B5CEA8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11</a:t>
            </a:r>
            <a:r>
              <a:rPr lang="en-US" altLang="zh-CN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:</a:t>
            </a:r>
            <a:r>
              <a:rPr lang="en-US" altLang="zh-CN">
                <a:solidFill>
                  <a:srgbClr val="B5CEA8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7</a:t>
            </a:r>
            <a:r>
              <a:rPr lang="en-US" altLang="zh-CN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] ),</a:t>
            </a:r>
            <a:r>
              <a:rPr lang="en-US" altLang="zh-CN" b="1">
                <a:solidFill>
                  <a:srgbClr val="A8D08C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// </a:t>
            </a:r>
            <a:r>
              <a:rPr lang="en-US" altLang="zh-CN" b="1" err="1">
                <a:solidFill>
                  <a:srgbClr val="A8D08C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Reg_write</a:t>
            </a:r>
            <a:r>
              <a:rPr lang="en-US" altLang="zh-CN" b="1">
                <a:solidFill>
                  <a:srgbClr val="A8D08C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</a:t>
            </a:r>
            <a:r>
              <a:rPr lang="en-US" altLang="zh-CN" b="1" err="1">
                <a:solidFill>
                  <a:srgbClr val="A8D08C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addr</a:t>
            </a:r>
            <a:br>
              <a:rPr lang="en-US" altLang="zh-CN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</a:br>
            <a:r>
              <a:rPr lang="en-US" altLang="zh-CN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   .</a:t>
            </a:r>
            <a:r>
              <a:rPr lang="en-US" altLang="zh-CN" err="1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wdata</a:t>
            </a:r>
            <a:r>
              <a:rPr lang="en-US" altLang="zh-CN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   (</a:t>
            </a:r>
            <a:r>
              <a:rPr lang="en-US" altLang="zh-CN" err="1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regfile_wdata</a:t>
            </a:r>
            <a:r>
              <a:rPr lang="en-US" altLang="zh-CN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    ),</a:t>
            </a:r>
            <a:br>
              <a:rPr lang="en-US" altLang="zh-CN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</a:br>
            <a:r>
              <a:rPr lang="en-US" altLang="zh-CN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  .rdata_1  (regfile_rdata_1   ),</a:t>
            </a:r>
            <a:br>
              <a:rPr lang="en-US" altLang="zh-CN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</a:br>
            <a:r>
              <a:rPr lang="en-US" altLang="zh-CN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   .rdata_2  (regfile_rdata_2   )</a:t>
            </a:r>
            <a:br>
              <a:rPr lang="en-US" altLang="zh-CN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</a:br>
            <a:r>
              <a:rPr lang="en-US" altLang="zh-CN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);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A8D08C"/>
              </a:buClr>
              <a:buSzPct val="100000"/>
              <a:buNone/>
            </a:pPr>
            <a:endParaRPr>
              <a:solidFill>
                <a:srgbClr val="D4D4D4"/>
              </a:solidFill>
              <a:latin typeface="Consolas" panose="020B0609020204030204" pitchFamily="49" charset="0"/>
              <a:ea typeface="Consolas"/>
              <a:cs typeface="Consolas"/>
              <a:sym typeface="Consolas"/>
            </a:endParaRPr>
          </a:p>
        </p:txBody>
      </p:sp>
      <p:sp>
        <p:nvSpPr>
          <p:cNvPr id="560" name="Google Shape;560;p11"/>
          <p:cNvSpPr txBox="1"/>
          <p:nvPr/>
        </p:nvSpPr>
        <p:spPr>
          <a:xfrm>
            <a:off x="135566" y="4642562"/>
            <a:ext cx="986167" cy="341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2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</a:t>
            </a:r>
            <a:endParaRPr sz="16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11"/>
          <p:cNvSpPr txBox="1"/>
          <p:nvPr/>
        </p:nvSpPr>
        <p:spPr>
          <a:xfrm>
            <a:off x="5402100" y="4379300"/>
            <a:ext cx="3640800" cy="6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1">
                <a:solidFill>
                  <a:schemeClr val="accent4"/>
                </a:solidFill>
              </a:rPr>
              <a:t>Tips:</a:t>
            </a:r>
            <a:endParaRPr sz="1100" b="1" i="1">
              <a:solidFill>
                <a:schemeClr val="accent4"/>
              </a:solidFill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Char char="●"/>
            </a:pPr>
            <a:r>
              <a:rPr lang="en-US" sz="1000">
                <a:solidFill>
                  <a:schemeClr val="accent4"/>
                </a:solidFill>
              </a:rPr>
              <a:t>Be careful with each register’s DATA_WIDTH.</a:t>
            </a:r>
            <a:endParaRPr sz="1000">
              <a:solidFill>
                <a:schemeClr val="accent4"/>
              </a:solidFill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Char char="●"/>
            </a:pPr>
            <a:r>
              <a:rPr lang="en-US" sz="1000">
                <a:solidFill>
                  <a:schemeClr val="accent4"/>
                </a:solidFill>
              </a:rPr>
              <a:t>Always put the signal definition before usage.</a:t>
            </a:r>
            <a:endParaRPr sz="1000">
              <a:solidFill>
                <a:schemeClr val="accent4"/>
              </a:solidFill>
            </a:endParaRPr>
          </a:p>
        </p:txBody>
      </p:sp>
      <p:sp>
        <p:nvSpPr>
          <p:cNvPr id="562" name="Google Shape;562;p11"/>
          <p:cNvSpPr txBox="1"/>
          <p:nvPr/>
        </p:nvSpPr>
        <p:spPr>
          <a:xfrm>
            <a:off x="5807239" y="1655979"/>
            <a:ext cx="3171911" cy="338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1">
                <a:solidFill>
                  <a:schemeClr val="accent4"/>
                </a:solidFill>
              </a:rPr>
              <a:t>*_</a:t>
            </a:r>
            <a:r>
              <a:rPr lang="en-US" sz="1000" b="1" i="1" err="1">
                <a:solidFill>
                  <a:schemeClr val="accent4"/>
                </a:solidFill>
              </a:rPr>
              <a:t>ext</a:t>
            </a:r>
            <a:r>
              <a:rPr lang="en-US" sz="1000" b="1" i="1">
                <a:solidFill>
                  <a:schemeClr val="accent4"/>
                </a:solidFill>
              </a:rPr>
              <a:t> wires are only for the </a:t>
            </a:r>
            <a:r>
              <a:rPr lang="en-US" sz="1000" b="1" i="1" err="1">
                <a:solidFill>
                  <a:schemeClr val="accent4"/>
                </a:solidFill>
              </a:rPr>
              <a:t>cpu_tb.v</a:t>
            </a:r>
            <a:r>
              <a:rPr lang="en-US" sz="1000" b="1" i="1">
                <a:solidFill>
                  <a:schemeClr val="accent4"/>
                </a:solidFill>
              </a:rPr>
              <a:t> initialization.</a:t>
            </a:r>
            <a:endParaRPr b="1" i="1"/>
          </a:p>
        </p:txBody>
      </p:sp>
      <p:sp>
        <p:nvSpPr>
          <p:cNvPr id="563" name="Google Shape;563;p11"/>
          <p:cNvSpPr txBox="1"/>
          <p:nvPr/>
        </p:nvSpPr>
        <p:spPr>
          <a:xfrm>
            <a:off x="7216075" y="466950"/>
            <a:ext cx="192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i="1">
                <a:solidFill>
                  <a:schemeClr val="lt1"/>
                </a:solidFill>
              </a:rPr>
              <a:t>Sample Code Snippet</a:t>
            </a:r>
            <a:endParaRPr sz="1700" i="1">
              <a:solidFill>
                <a:schemeClr val="lt1"/>
              </a:solidFill>
            </a:endParaRP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39CB3D56-154E-43F6-BF1F-18057918E4EC}"/>
              </a:ext>
            </a:extLst>
          </p:cNvPr>
          <p:cNvGrpSpPr/>
          <p:nvPr/>
        </p:nvGrpSpPr>
        <p:grpSpPr>
          <a:xfrm>
            <a:off x="5008633" y="1955273"/>
            <a:ext cx="4034267" cy="1014038"/>
            <a:chOff x="5008633" y="1955273"/>
            <a:chExt cx="4034267" cy="1014038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90F73B14-C6FD-4423-955E-E2CFE176B444}"/>
                </a:ext>
              </a:extLst>
            </p:cNvPr>
            <p:cNvSpPr/>
            <p:nvPr/>
          </p:nvSpPr>
          <p:spPr>
            <a:xfrm>
              <a:off x="5008633" y="1955273"/>
              <a:ext cx="3904389" cy="968749"/>
            </a:xfrm>
            <a:prstGeom prst="rect">
              <a:avLst/>
            </a:prstGeom>
            <a:noFill/>
            <a:ln>
              <a:solidFill>
                <a:schemeClr val="accent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Google Shape;562;p11">
              <a:extLst>
                <a:ext uri="{FF2B5EF4-FFF2-40B4-BE49-F238E27FC236}">
                  <a16:creationId xmlns:a16="http://schemas.microsoft.com/office/drawing/2014/main" id="{6F981331-2035-4642-B229-754750773C61}"/>
                </a:ext>
              </a:extLst>
            </p:cNvPr>
            <p:cNvSpPr txBox="1"/>
            <p:nvPr/>
          </p:nvSpPr>
          <p:spPr>
            <a:xfrm>
              <a:off x="7105473" y="2630787"/>
              <a:ext cx="1937427" cy="3385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sz="1000" b="1" i="1">
                  <a:solidFill>
                    <a:schemeClr val="accent2">
                      <a:lumMod val="40000"/>
                      <a:lumOff val="60000"/>
                    </a:schemeClr>
                  </a:solidFill>
                </a:rPr>
                <a:t>The IF_ID Pipeline Register.</a:t>
              </a:r>
              <a:endParaRPr b="1" i="1">
                <a:solidFill>
                  <a:schemeClr val="accent2">
                    <a:lumMod val="40000"/>
                    <a:lumOff val="60000"/>
                  </a:schemeClr>
                </a:solidFill>
              </a:endParaRPr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7AE3325B-7EBF-4326-B072-7C6C89CA0096}"/>
              </a:ext>
            </a:extLst>
          </p:cNvPr>
          <p:cNvGrpSpPr/>
          <p:nvPr/>
        </p:nvGrpSpPr>
        <p:grpSpPr>
          <a:xfrm>
            <a:off x="2008888" y="1268016"/>
            <a:ext cx="2192709" cy="3029179"/>
            <a:chOff x="425921" y="1350121"/>
            <a:chExt cx="2192709" cy="3029179"/>
          </a:xfrm>
        </p:grpSpPr>
        <p:graphicFrame>
          <p:nvGraphicFramePr>
            <p:cNvPr id="558" name="Google Shape;558;p11"/>
            <p:cNvGraphicFramePr/>
            <p:nvPr>
              <p:extLst>
                <p:ext uri="{D42A27DB-BD31-4B8C-83A1-F6EECF244321}">
                  <p14:modId xmlns:p14="http://schemas.microsoft.com/office/powerpoint/2010/main" val="4078152782"/>
                </p:ext>
              </p:extLst>
            </p:nvPr>
          </p:nvGraphicFramePr>
          <p:xfrm>
            <a:off x="425921" y="1350121"/>
            <a:ext cx="2192709" cy="973874"/>
          </p:xfrm>
          <a:graphic>
            <a:graphicData uri="http://schemas.openxmlformats.org/drawingml/2006/table">
              <a:tbl>
                <a:tblPr firstRow="1" bandRow="1">
                  <a:noFill/>
                  <a:tableStyleId>{040938F7-9763-481F-BBCA-995C50FC980A}</a:tableStyleId>
                </a:tblPr>
                <a:tblGrid>
                  <a:gridCol w="730903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730903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730903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</a:tblGrid>
                <a:tr h="381226"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50"/>
                          <a:t>Stage</a:t>
                        </a:r>
                        <a:endParaRPr sz="1350"/>
                      </a:p>
                    </a:txBody>
                    <a:tcPr marL="91450" marR="91450" marT="45725" marB="45725"/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50"/>
                          <a:t>IF</a:t>
                        </a:r>
                        <a:endParaRPr sz="1350"/>
                      </a:p>
                    </a:txBody>
                    <a:tcPr marL="91450" marR="91450" marT="45725" marB="45725"/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50"/>
                          <a:t>ID</a:t>
                        </a:r>
                        <a:endParaRPr sz="1350"/>
                      </a:p>
                    </a:txBody>
                    <a:tcPr marL="91450" marR="91450" marT="45725" marB="45725"/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592648"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000"/>
                          <a:t>Data</a:t>
                        </a:r>
                        <a:endParaRPr/>
                      </a:p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000"/>
                          <a:t>Path resources</a:t>
                        </a:r>
                        <a:endParaRPr sz="1000"/>
                      </a:p>
                    </a:txBody>
                    <a:tcPr marL="91450" marR="91450" marT="45725" marB="45725"/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B050"/>
                          </a:buClr>
                          <a:buSzPts val="800"/>
                          <a:buFont typeface="Calibri"/>
                          <a:buNone/>
                        </a:pPr>
                        <a:r>
                          <a:rPr lang="en-US" sz="900" b="1" err="1">
                            <a:solidFill>
                              <a:schemeClr val="accen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rPr>
                          <a:t>Instruction_memory</a:t>
                        </a:r>
                        <a:endParaRPr sz="1400">
                          <a:solidFill>
                            <a:schemeClr val="accent1"/>
                          </a:solidFill>
                        </a:endParaRPr>
                      </a:p>
                    </a:txBody>
                    <a:tcPr marL="91450" marR="91450" marT="45725" marB="45725"/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800" b="1" err="1">
                            <a:solidFill>
                              <a:srgbClr val="0070C0"/>
                            </a:solidFill>
                          </a:rPr>
                          <a:t>register_file</a:t>
                        </a:r>
                        <a:endParaRPr sz="800" b="1">
                          <a:solidFill>
                            <a:srgbClr val="0070C0"/>
                          </a:solidFill>
                        </a:endParaRPr>
                      </a:p>
                    </a:txBody>
                    <a:tcPr marL="91450" marR="91450" marT="45725" marB="45725"/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</a:tbl>
            </a:graphicData>
          </a:graphic>
        </p:graphicFrame>
        <p:graphicFrame>
          <p:nvGraphicFramePr>
            <p:cNvPr id="559" name="Google Shape;559;p11"/>
            <p:cNvGraphicFramePr/>
            <p:nvPr>
              <p:extLst>
                <p:ext uri="{D42A27DB-BD31-4B8C-83A1-F6EECF244321}">
                  <p14:modId xmlns:p14="http://schemas.microsoft.com/office/powerpoint/2010/main" val="784282062"/>
                </p:ext>
              </p:extLst>
            </p:nvPr>
          </p:nvGraphicFramePr>
          <p:xfrm>
            <a:off x="425921" y="3082620"/>
            <a:ext cx="1713975" cy="1296680"/>
          </p:xfrm>
          <a:graphic>
            <a:graphicData uri="http://schemas.openxmlformats.org/drawingml/2006/table">
              <a:tbl>
                <a:tblPr firstRow="1" bandRow="1">
                  <a:noFill/>
                  <a:tableStyleId>{040938F7-9763-481F-BBCA-995C50FC980A}</a:tableStyleId>
                </a:tblPr>
                <a:tblGrid>
                  <a:gridCol w="81685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897125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</a:tblGrid>
                <a:tr h="368300"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50"/>
                          <a:t>Pipe. Reg.</a:t>
                        </a:r>
                        <a:endParaRPr sz="1350"/>
                      </a:p>
                    </a:txBody>
                    <a:tcPr marL="91450" marR="91450" marT="45725" marB="45725"/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50"/>
                          <a:t>IF/ID</a:t>
                        </a:r>
                        <a:endParaRPr sz="1350"/>
                      </a:p>
                    </a:txBody>
                    <a:tcPr marL="91450" marR="91450" marT="45725" marB="45725"/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793750"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000"/>
                          <a:t>Signals</a:t>
                        </a:r>
                        <a:endParaRPr sz="1000"/>
                      </a:p>
                    </a:txBody>
                    <a:tcPr marL="91450" marR="91450" marT="45725" marB="45725"/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FF0000"/>
                          </a:buClr>
                          <a:buSzPts val="1000"/>
                          <a:buFont typeface="Calibri"/>
                          <a:buNone/>
                        </a:pPr>
                        <a:r>
                          <a:rPr lang="en-US" sz="1000" b="1" err="1">
                            <a:solidFill>
                              <a:srgbClr val="FF0000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rPr>
                          <a:t>Instruction_IF_ID</a:t>
                        </a:r>
                        <a:endParaRPr/>
                      </a:p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350"/>
                      </a:p>
                    </a:txBody>
                    <a:tcPr marL="91450" marR="91450" marT="45725" marB="45725"/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</a:tbl>
            </a:graphicData>
          </a:graphic>
        </p:graphicFrame>
        <p:cxnSp>
          <p:nvCxnSpPr>
            <p:cNvPr id="11" name="直接箭头连接符 10">
              <a:extLst>
                <a:ext uri="{FF2B5EF4-FFF2-40B4-BE49-F238E27FC236}">
                  <a16:creationId xmlns:a16="http://schemas.microsoft.com/office/drawing/2014/main" id="{4B453FFE-E05A-41A9-A87A-CBCE2FBAC7E4}"/>
                </a:ext>
              </a:extLst>
            </p:cNvPr>
            <p:cNvCxnSpPr/>
            <p:nvPr/>
          </p:nvCxnSpPr>
          <p:spPr>
            <a:xfrm>
              <a:off x="1391478" y="2445488"/>
              <a:ext cx="119270" cy="523823"/>
            </a:xfrm>
            <a:prstGeom prst="straightConnector1">
              <a:avLst/>
            </a:prstGeom>
            <a:ln w="317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箭头连接符 13">
              <a:extLst>
                <a:ext uri="{FF2B5EF4-FFF2-40B4-BE49-F238E27FC236}">
                  <a16:creationId xmlns:a16="http://schemas.microsoft.com/office/drawing/2014/main" id="{9B70D44A-81B6-4F9D-902A-1D2FB0315AA0}"/>
                </a:ext>
              </a:extLst>
            </p:cNvPr>
            <p:cNvCxnSpPr/>
            <p:nvPr/>
          </p:nvCxnSpPr>
          <p:spPr>
            <a:xfrm flipV="1">
              <a:off x="1820849" y="2445488"/>
              <a:ext cx="199777" cy="478534"/>
            </a:xfrm>
            <a:prstGeom prst="straightConnector1">
              <a:avLst/>
            </a:prstGeom>
            <a:ln w="3175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F1A2947A-C652-46BA-9549-CAD40A4A4009}"/>
                </a:ext>
              </a:extLst>
            </p:cNvPr>
            <p:cNvSpPr txBox="1"/>
            <p:nvPr/>
          </p:nvSpPr>
          <p:spPr>
            <a:xfrm>
              <a:off x="923112" y="2453922"/>
              <a:ext cx="49244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b="1">
                  <a:solidFill>
                    <a:schemeClr val="accent1"/>
                  </a:solidFill>
                </a:rPr>
                <a:t>①</a:t>
              </a:r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A4D05673-ED79-405F-8084-1BD392FE12F0}"/>
                </a:ext>
              </a:extLst>
            </p:cNvPr>
            <p:cNvSpPr txBox="1"/>
            <p:nvPr/>
          </p:nvSpPr>
          <p:spPr>
            <a:xfrm>
              <a:off x="1920737" y="2476566"/>
              <a:ext cx="49244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b="1">
                  <a:solidFill>
                    <a:schemeClr val="accent6"/>
                  </a:solidFill>
                </a:rPr>
                <a:t>②</a:t>
              </a:r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C1272EF9-9D6A-4630-A856-728BE2F88ED2}"/>
              </a:ext>
            </a:extLst>
          </p:cNvPr>
          <p:cNvGrpSpPr/>
          <p:nvPr/>
        </p:nvGrpSpPr>
        <p:grpSpPr>
          <a:xfrm>
            <a:off x="4076680" y="1212112"/>
            <a:ext cx="892269" cy="2445488"/>
            <a:chOff x="4076680" y="1212112"/>
            <a:chExt cx="892269" cy="2445488"/>
          </a:xfrm>
        </p:grpSpPr>
        <p:sp>
          <p:nvSpPr>
            <p:cNvPr id="6" name="任意多边形: 形状 5">
              <a:extLst>
                <a:ext uri="{FF2B5EF4-FFF2-40B4-BE49-F238E27FC236}">
                  <a16:creationId xmlns:a16="http://schemas.microsoft.com/office/drawing/2014/main" id="{0C2849AA-20A6-410F-BD81-475AA377366F}"/>
                </a:ext>
              </a:extLst>
            </p:cNvPr>
            <p:cNvSpPr/>
            <p:nvPr/>
          </p:nvSpPr>
          <p:spPr>
            <a:xfrm>
              <a:off x="4657032" y="1212112"/>
              <a:ext cx="297740" cy="1233376"/>
            </a:xfrm>
            <a:custGeom>
              <a:avLst/>
              <a:gdLst>
                <a:gd name="connsiteX0" fmla="*/ 283563 w 297740"/>
                <a:gd name="connsiteY0" fmla="*/ 0 h 1233376"/>
                <a:gd name="connsiteX1" fmla="*/ 28 w 297740"/>
                <a:gd name="connsiteY1" fmla="*/ 623776 h 1233376"/>
                <a:gd name="connsiteX2" fmla="*/ 297740 w 297740"/>
                <a:gd name="connsiteY2" fmla="*/ 1233376 h 1233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7740" h="1233376">
                  <a:moveTo>
                    <a:pt x="283563" y="0"/>
                  </a:moveTo>
                  <a:cubicBezTo>
                    <a:pt x="140614" y="209106"/>
                    <a:pt x="-2335" y="418213"/>
                    <a:pt x="28" y="623776"/>
                  </a:cubicBezTo>
                  <a:cubicBezTo>
                    <a:pt x="2391" y="829339"/>
                    <a:pt x="150065" y="1031357"/>
                    <a:pt x="297740" y="1233376"/>
                  </a:cubicBezTo>
                </a:path>
              </a:pathLst>
            </a:custGeom>
            <a:noFill/>
            <a:ln w="31750"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F38E102A-751F-4F4C-AB6A-4A24ACCED7C8}"/>
                </a:ext>
              </a:extLst>
            </p:cNvPr>
            <p:cNvSpPr/>
            <p:nvPr/>
          </p:nvSpPr>
          <p:spPr>
            <a:xfrm>
              <a:off x="4578999" y="2757377"/>
              <a:ext cx="389950" cy="900223"/>
            </a:xfrm>
            <a:custGeom>
              <a:avLst/>
              <a:gdLst>
                <a:gd name="connsiteX0" fmla="*/ 389950 w 389950"/>
                <a:gd name="connsiteY0" fmla="*/ 0 h 900223"/>
                <a:gd name="connsiteX1" fmla="*/ 89 w 389950"/>
                <a:gd name="connsiteY1" fmla="*/ 595423 h 900223"/>
                <a:gd name="connsiteX2" fmla="*/ 361596 w 389950"/>
                <a:gd name="connsiteY2" fmla="*/ 900223 h 900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9950" h="900223">
                  <a:moveTo>
                    <a:pt x="389950" y="0"/>
                  </a:moveTo>
                  <a:cubicBezTo>
                    <a:pt x="197382" y="222693"/>
                    <a:pt x="4815" y="445386"/>
                    <a:pt x="89" y="595423"/>
                  </a:cubicBezTo>
                  <a:cubicBezTo>
                    <a:pt x="-4637" y="745460"/>
                    <a:pt x="178479" y="822841"/>
                    <a:pt x="361596" y="900223"/>
                  </a:cubicBezTo>
                </a:path>
              </a:pathLst>
            </a:custGeom>
            <a:noFill/>
            <a:ln w="31750">
              <a:solidFill>
                <a:schemeClr val="accent6"/>
              </a:solidFill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F74B726D-3D66-4FAE-801B-8E9111F47558}"/>
                </a:ext>
              </a:extLst>
            </p:cNvPr>
            <p:cNvSpPr txBox="1"/>
            <p:nvPr/>
          </p:nvSpPr>
          <p:spPr>
            <a:xfrm>
              <a:off x="4165058" y="1507785"/>
              <a:ext cx="49244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b="1">
                  <a:solidFill>
                    <a:schemeClr val="accent1"/>
                  </a:solidFill>
                </a:rPr>
                <a:t>①</a:t>
              </a:r>
            </a:p>
          </p:txBody>
        </p: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CEA6B19B-E84C-47BD-A88B-D46673FAA10C}"/>
                </a:ext>
              </a:extLst>
            </p:cNvPr>
            <p:cNvSpPr txBox="1"/>
            <p:nvPr/>
          </p:nvSpPr>
          <p:spPr>
            <a:xfrm>
              <a:off x="4076680" y="3000515"/>
              <a:ext cx="49244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b="1">
                  <a:solidFill>
                    <a:schemeClr val="accent6"/>
                  </a:solidFill>
                </a:rPr>
                <a:t>②</a:t>
              </a:r>
            </a:p>
          </p:txBody>
        </p: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09CAFF46-C801-44BE-9E28-FE5476D24FE8}"/>
              </a:ext>
            </a:extLst>
          </p:cNvPr>
          <p:cNvGrpSpPr/>
          <p:nvPr/>
        </p:nvGrpSpPr>
        <p:grpSpPr>
          <a:xfrm>
            <a:off x="47251" y="1908000"/>
            <a:ext cx="1862012" cy="1434585"/>
            <a:chOff x="74624" y="1908000"/>
            <a:chExt cx="1862012" cy="1434585"/>
          </a:xfrm>
        </p:grpSpPr>
        <p:pic>
          <p:nvPicPr>
            <p:cNvPr id="24" name="图片 23">
              <a:extLst>
                <a:ext uri="{FF2B5EF4-FFF2-40B4-BE49-F238E27FC236}">
                  <a16:creationId xmlns:a16="http://schemas.microsoft.com/office/drawing/2014/main" id="{2EE0F6DA-3579-4549-9064-206FD373F5B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4624" y="1908000"/>
              <a:ext cx="1862012" cy="1434585"/>
            </a:xfrm>
            <a:prstGeom prst="rect">
              <a:avLst/>
            </a:prstGeom>
          </p:spPr>
        </p:pic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E4B7E0E5-E39C-4E12-8DF3-78DF81432C33}"/>
                </a:ext>
              </a:extLst>
            </p:cNvPr>
            <p:cNvSpPr txBox="1"/>
            <p:nvPr/>
          </p:nvSpPr>
          <p:spPr>
            <a:xfrm>
              <a:off x="632118" y="2730345"/>
              <a:ext cx="32573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b="1">
                  <a:solidFill>
                    <a:schemeClr val="accent1"/>
                  </a:solidFill>
                </a:rPr>
                <a:t>①</a:t>
              </a:r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5ED073AC-E6D8-470E-87A8-A2AA063AC7A4}"/>
                </a:ext>
              </a:extLst>
            </p:cNvPr>
            <p:cNvSpPr txBox="1"/>
            <p:nvPr/>
          </p:nvSpPr>
          <p:spPr>
            <a:xfrm>
              <a:off x="1077907" y="2695719"/>
              <a:ext cx="32573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b="1">
                  <a:solidFill>
                    <a:schemeClr val="accent6"/>
                  </a:solidFill>
                </a:rPr>
                <a:t>②</a:t>
              </a:r>
            </a:p>
          </p:txBody>
        </p:sp>
      </p:grpSp>
      <p:sp>
        <p:nvSpPr>
          <p:cNvPr id="4" name="Google Shape;539;p10">
            <a:extLst>
              <a:ext uri="{FF2B5EF4-FFF2-40B4-BE49-F238E27FC236}">
                <a16:creationId xmlns:a16="http://schemas.microsoft.com/office/drawing/2014/main" id="{02F39A9E-B12F-48AE-9592-7AB01A4F03D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5419" y="89216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Implementation Method</a:t>
            </a:r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Google Shape;550;p10">
            <a:extLst>
              <a:ext uri="{FF2B5EF4-FFF2-40B4-BE49-F238E27FC236}">
                <a16:creationId xmlns:a16="http://schemas.microsoft.com/office/drawing/2014/main" id="{F9BCB48F-D783-DE84-DD6D-8C42C488E467}"/>
              </a:ext>
            </a:extLst>
          </p:cNvPr>
          <p:cNvSpPr txBox="1"/>
          <p:nvPr/>
        </p:nvSpPr>
        <p:spPr>
          <a:xfrm>
            <a:off x="381821" y="4323582"/>
            <a:ext cx="4968107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  <a:sym typeface="Calibri"/>
              </a:rPr>
              <a:t>Refer to the 5-stage pipeline to implement step by step.</a:t>
            </a:r>
            <a:endParaRPr b="1" i="1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991259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1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sp>
        <p:nvSpPr>
          <p:cNvPr id="557" name="Google Shape;557;p11"/>
          <p:cNvSpPr txBox="1">
            <a:spLocks noGrp="1"/>
          </p:cNvSpPr>
          <p:nvPr>
            <p:ph type="body" idx="2"/>
          </p:nvPr>
        </p:nvSpPr>
        <p:spPr>
          <a:xfrm>
            <a:off x="4988700" y="1691634"/>
            <a:ext cx="4054200" cy="2793372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8D08C"/>
              </a:buClr>
              <a:buSzPct val="100000"/>
              <a:buNone/>
            </a:pPr>
            <a:r>
              <a:rPr lang="en-US" altLang="zh-CN" sz="1400" b="1">
                <a:solidFill>
                  <a:srgbClr val="A8D08C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// </a:t>
            </a:r>
            <a:r>
              <a:rPr lang="en-US" altLang="zh-CN" sz="1400" b="1" err="1">
                <a:solidFill>
                  <a:srgbClr val="A8D08C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cpu.v</a:t>
            </a:r>
            <a:endParaRPr lang="en-US" altLang="zh-CN" sz="1400" b="1">
              <a:solidFill>
                <a:srgbClr val="A8D08C"/>
              </a:solidFill>
              <a:latin typeface="Consolas"/>
              <a:ea typeface="Consolas"/>
              <a:cs typeface="Calibri" panose="020F0502020204030204" pitchFamily="34" charset="0"/>
              <a:sym typeface="Consolas"/>
            </a:endParaRPr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A8D08C"/>
              </a:buClr>
              <a:buSzPct val="100000"/>
              <a:buNone/>
            </a:pPr>
            <a:br>
              <a:rPr lang="en-US" sz="1400" b="0">
                <a:solidFill>
                  <a:srgbClr val="569CD6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</a:br>
            <a:r>
              <a:rPr lang="en-US" sz="1400" b="0" err="1">
                <a:solidFill>
                  <a:srgbClr val="569CD6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reg_arstn</a:t>
            </a:r>
            <a:r>
              <a:rPr lang="en-US" sz="1400" err="1">
                <a:solidFill>
                  <a:srgbClr val="569CD6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_en</a:t>
            </a:r>
            <a:r>
              <a:rPr lang="en-US" sz="1400" b="0">
                <a:solidFill>
                  <a:srgbClr val="D4D4D4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#(</a:t>
            </a:r>
            <a:br>
              <a:rPr lang="en-US" sz="1400" b="0">
                <a:solidFill>
                  <a:srgbClr val="D4D4D4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</a:br>
            <a:r>
              <a:rPr lang="en-US" sz="1400" b="0">
                <a:solidFill>
                  <a:srgbClr val="D4D4D4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   .DATA_W(</a:t>
            </a:r>
            <a:r>
              <a:rPr lang="en-US" sz="1400" b="1">
                <a:solidFill>
                  <a:srgbClr val="FF0000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32</a:t>
            </a:r>
            <a:r>
              <a:rPr lang="en-US" sz="1400" b="0">
                <a:solidFill>
                  <a:srgbClr val="D4D4D4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)</a:t>
            </a:r>
            <a:br>
              <a:rPr lang="en-US" sz="1400" b="0">
                <a:solidFill>
                  <a:srgbClr val="D4D4D4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</a:br>
            <a:r>
              <a:rPr lang="en-US" sz="1400" b="0">
                <a:solidFill>
                  <a:srgbClr val="D4D4D4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)</a:t>
            </a:r>
            <a:r>
              <a:rPr lang="en-US" sz="1400" b="0" err="1">
                <a:solidFill>
                  <a:srgbClr val="569CD6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signal_pipe_IF_ID</a:t>
            </a:r>
            <a:r>
              <a:rPr lang="en-US" sz="1400" b="0">
                <a:solidFill>
                  <a:srgbClr val="D4D4D4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(</a:t>
            </a:r>
            <a:br>
              <a:rPr lang="en-US" sz="1400" b="0">
                <a:solidFill>
                  <a:srgbClr val="D4D4D4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</a:br>
            <a:r>
              <a:rPr lang="en-US" sz="1400" b="0">
                <a:solidFill>
                  <a:srgbClr val="D4D4D4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   .</a:t>
            </a:r>
            <a:r>
              <a:rPr lang="en-US" sz="1400" b="0" err="1">
                <a:solidFill>
                  <a:srgbClr val="D4D4D4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clk</a:t>
            </a:r>
            <a:r>
              <a:rPr lang="en-US" sz="1400" b="0">
                <a:solidFill>
                  <a:srgbClr val="D4D4D4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     (</a:t>
            </a:r>
            <a:r>
              <a:rPr lang="en-US" sz="1400" b="0" err="1">
                <a:solidFill>
                  <a:srgbClr val="D4D4D4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clk</a:t>
            </a:r>
            <a:r>
              <a:rPr lang="en-US" sz="1400" b="0">
                <a:solidFill>
                  <a:srgbClr val="D4D4D4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           ),</a:t>
            </a:r>
            <a:br>
              <a:rPr lang="en-US" sz="1400" b="0">
                <a:solidFill>
                  <a:srgbClr val="D4D4D4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</a:br>
            <a:r>
              <a:rPr lang="en-US" sz="1400" b="0">
                <a:solidFill>
                  <a:srgbClr val="D4D4D4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   .</a:t>
            </a:r>
            <a:r>
              <a:rPr lang="en-US" sz="1400" b="0" err="1">
                <a:solidFill>
                  <a:srgbClr val="D4D4D4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arst_n</a:t>
            </a:r>
            <a:r>
              <a:rPr lang="en-US" sz="1400" b="0">
                <a:solidFill>
                  <a:srgbClr val="D4D4D4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  (</a:t>
            </a:r>
            <a:r>
              <a:rPr lang="en-US" sz="1400" b="0" err="1">
                <a:solidFill>
                  <a:srgbClr val="D4D4D4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arst_n</a:t>
            </a:r>
            <a:r>
              <a:rPr lang="en-US" sz="1400" b="0">
                <a:solidFill>
                  <a:srgbClr val="D4D4D4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        ),</a:t>
            </a:r>
            <a:br>
              <a:rPr lang="en-US" sz="1400" b="0">
                <a:solidFill>
                  <a:srgbClr val="D4D4D4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</a:br>
            <a:r>
              <a:rPr lang="en-US" sz="1400" b="0">
                <a:solidFill>
                  <a:srgbClr val="D4D4D4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   .din     (</a:t>
            </a:r>
            <a:r>
              <a:rPr lang="en-US" sz="1400" b="1">
                <a:solidFill>
                  <a:srgbClr val="FF0000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instruction   </a:t>
            </a:r>
            <a:r>
              <a:rPr lang="en-US" sz="1400" b="0">
                <a:solidFill>
                  <a:srgbClr val="D4D4D4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),</a:t>
            </a:r>
            <a:br>
              <a:rPr lang="en-US" sz="1400" b="0">
                <a:solidFill>
                  <a:srgbClr val="D4D4D4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</a:br>
            <a:r>
              <a:rPr lang="en-US" sz="1400" b="0">
                <a:solidFill>
                  <a:srgbClr val="D4D4D4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   .</a:t>
            </a:r>
            <a:r>
              <a:rPr lang="en-US" sz="1400" b="0" err="1">
                <a:solidFill>
                  <a:srgbClr val="D4D4D4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en</a:t>
            </a:r>
            <a:r>
              <a:rPr lang="en-US" sz="1400" b="0">
                <a:solidFill>
                  <a:srgbClr val="D4D4D4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      (enable        ),</a:t>
            </a:r>
            <a:br>
              <a:rPr lang="en-US" sz="1400" b="0">
                <a:solidFill>
                  <a:srgbClr val="D4D4D4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</a:br>
            <a:r>
              <a:rPr lang="en-US" sz="1400" b="0">
                <a:solidFill>
                  <a:srgbClr val="D4D4D4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   .</a:t>
            </a:r>
            <a:r>
              <a:rPr lang="en-US" sz="1400" b="0" err="1">
                <a:solidFill>
                  <a:srgbClr val="D4D4D4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dout</a:t>
            </a:r>
            <a:r>
              <a:rPr lang="en-US" sz="1400" b="0">
                <a:solidFill>
                  <a:srgbClr val="D4D4D4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   (</a:t>
            </a:r>
            <a:r>
              <a:rPr lang="en-US" sz="1400" b="1" err="1">
                <a:solidFill>
                  <a:srgbClr val="FF0000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instruction_IF_ID</a:t>
            </a:r>
            <a:r>
              <a:rPr lang="en-US" sz="1400" b="0">
                <a:solidFill>
                  <a:srgbClr val="D4D4D4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)</a:t>
            </a:r>
            <a:br>
              <a:rPr lang="en-US" sz="1400" b="0">
                <a:solidFill>
                  <a:srgbClr val="D4D4D4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</a:br>
            <a:r>
              <a:rPr lang="en-US" sz="1400" b="0">
                <a:solidFill>
                  <a:srgbClr val="D4D4D4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)</a:t>
            </a:r>
            <a:endParaRPr sz="1400" b="0">
              <a:solidFill>
                <a:srgbClr val="D4D4D4"/>
              </a:solidFill>
              <a:latin typeface="Consolas"/>
              <a:ea typeface="Consolas"/>
              <a:cs typeface="Calibri" panose="020F0502020204030204" pitchFamily="34" charset="0"/>
              <a:sym typeface="Consolas"/>
            </a:endParaRPr>
          </a:p>
        </p:txBody>
      </p:sp>
      <p:sp>
        <p:nvSpPr>
          <p:cNvPr id="560" name="Google Shape;560;p11"/>
          <p:cNvSpPr txBox="1"/>
          <p:nvPr/>
        </p:nvSpPr>
        <p:spPr>
          <a:xfrm>
            <a:off x="135566" y="4642562"/>
            <a:ext cx="986167" cy="341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2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</a:t>
            </a:r>
            <a:endParaRPr sz="16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560;p11">
            <a:extLst>
              <a:ext uri="{FF2B5EF4-FFF2-40B4-BE49-F238E27FC236}">
                <a16:creationId xmlns:a16="http://schemas.microsoft.com/office/drawing/2014/main" id="{BF834313-FCED-462C-9E8D-20024E9FAC0A}"/>
              </a:ext>
            </a:extLst>
          </p:cNvPr>
          <p:cNvSpPr txBox="1"/>
          <p:nvPr/>
        </p:nvSpPr>
        <p:spPr>
          <a:xfrm>
            <a:off x="628649" y="967437"/>
            <a:ext cx="3943351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</a:pPr>
            <a:r>
              <a:rPr lang="en-US" sz="2000" b="1" i="1">
                <a:solidFill>
                  <a:schemeClr val="accent2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Module instantiation</a:t>
            </a:r>
            <a:endParaRPr sz="2000" b="1" i="1">
              <a:solidFill>
                <a:schemeClr val="accent2">
                  <a:lumMod val="5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560;p11">
            <a:extLst>
              <a:ext uri="{FF2B5EF4-FFF2-40B4-BE49-F238E27FC236}">
                <a16:creationId xmlns:a16="http://schemas.microsoft.com/office/drawing/2014/main" id="{B57A4720-C2AB-4971-B41B-7F375C49D176}"/>
              </a:ext>
            </a:extLst>
          </p:cNvPr>
          <p:cNvSpPr txBox="1"/>
          <p:nvPr/>
        </p:nvSpPr>
        <p:spPr>
          <a:xfrm>
            <a:off x="628648" y="1309029"/>
            <a:ext cx="3943351" cy="341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</a:pPr>
            <a:r>
              <a:rPr lang="en-US" sz="1620" i="1">
                <a:solidFill>
                  <a:schemeClr val="accent2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1. The Template Definition</a:t>
            </a:r>
            <a:endParaRPr sz="1620" i="1">
              <a:solidFill>
                <a:schemeClr val="accent2">
                  <a:lumMod val="5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557;p11">
            <a:extLst>
              <a:ext uri="{FF2B5EF4-FFF2-40B4-BE49-F238E27FC236}">
                <a16:creationId xmlns:a16="http://schemas.microsoft.com/office/drawing/2014/main" id="{C9D10120-8737-487D-BC1B-134710040ECB}"/>
              </a:ext>
            </a:extLst>
          </p:cNvPr>
          <p:cNvSpPr txBox="1">
            <a:spLocks/>
          </p:cNvSpPr>
          <p:nvPr/>
        </p:nvSpPr>
        <p:spPr>
          <a:xfrm>
            <a:off x="628648" y="1691634"/>
            <a:ext cx="4054200" cy="2793373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spcBef>
                <a:spcPts val="0"/>
              </a:spcBef>
              <a:buClr>
                <a:srgbClr val="A8D08C"/>
              </a:buClr>
              <a:buSzPct val="100000"/>
              <a:buFont typeface="Arial"/>
              <a:buNone/>
            </a:pPr>
            <a:r>
              <a:rPr lang="en-US" altLang="zh-CN" sz="1600" b="1">
                <a:solidFill>
                  <a:srgbClr val="A8D08C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// </a:t>
            </a:r>
            <a:r>
              <a:rPr lang="en-US" altLang="zh-CN" sz="1600" b="1" err="1">
                <a:solidFill>
                  <a:srgbClr val="A8D08C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reg_arstn_en.v</a:t>
            </a:r>
            <a:endParaRPr lang="en-US" altLang="zh-CN" sz="1600" b="1">
              <a:solidFill>
                <a:srgbClr val="A8D08C"/>
              </a:solidFill>
              <a:latin typeface="Consolas"/>
              <a:ea typeface="Consolas"/>
              <a:cs typeface="Calibri" panose="020F0502020204030204" pitchFamily="34" charset="0"/>
              <a:sym typeface="Consolas"/>
            </a:endParaRPr>
          </a:p>
          <a:p>
            <a:pPr marL="0" indent="0">
              <a:spcBef>
                <a:spcPts val="0"/>
              </a:spcBef>
              <a:buClr>
                <a:srgbClr val="A8D08C"/>
              </a:buClr>
              <a:buSzPct val="100000"/>
              <a:buFont typeface="Arial"/>
              <a:buNone/>
            </a:pPr>
            <a:endParaRPr lang="en-US" b="1">
              <a:solidFill>
                <a:srgbClr val="A8D08C"/>
              </a:solidFill>
              <a:latin typeface="Consolas"/>
              <a:ea typeface="Consolas"/>
              <a:cs typeface="Calibri" panose="020F0502020204030204" pitchFamily="34" charset="0"/>
              <a:sym typeface="Consolas"/>
            </a:endParaRPr>
          </a:p>
          <a:p>
            <a:pPr marL="0" indent="0">
              <a:spcBef>
                <a:spcPts val="0"/>
              </a:spcBef>
              <a:buClr>
                <a:srgbClr val="A8D08C"/>
              </a:buClr>
              <a:buSzPct val="100000"/>
              <a:buFont typeface="Arial"/>
              <a:buNone/>
            </a:pPr>
            <a:r>
              <a:rPr lang="en-US" sz="1400" b="1">
                <a:solidFill>
                  <a:schemeClr val="accent1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module</a:t>
            </a:r>
            <a:r>
              <a:rPr lang="en-US" sz="1400" b="1">
                <a:solidFill>
                  <a:srgbClr val="A8D08C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 </a:t>
            </a:r>
            <a:r>
              <a:rPr lang="en-US" sz="1400" b="1" err="1">
                <a:solidFill>
                  <a:srgbClr val="BEBEBE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reg_arstn_en</a:t>
            </a:r>
            <a:r>
              <a:rPr lang="en-US" sz="1400" b="1">
                <a:solidFill>
                  <a:srgbClr val="BEBEBE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#(</a:t>
            </a:r>
          </a:p>
          <a:p>
            <a:pPr marL="0" indent="0">
              <a:spcBef>
                <a:spcPts val="0"/>
              </a:spcBef>
              <a:buClr>
                <a:srgbClr val="A8D08C"/>
              </a:buClr>
              <a:buSzPct val="100000"/>
              <a:buFont typeface="Arial"/>
              <a:buNone/>
            </a:pPr>
            <a:r>
              <a:rPr lang="en-US" sz="1400" b="1">
                <a:solidFill>
                  <a:schemeClr val="accent1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parameter integer </a:t>
            </a:r>
            <a:r>
              <a:rPr lang="en-US" sz="1400" b="1">
                <a:solidFill>
                  <a:srgbClr val="BEBEBE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DATA_W     = 20,</a:t>
            </a:r>
          </a:p>
          <a:p>
            <a:pPr marL="0" indent="0">
              <a:spcBef>
                <a:spcPts val="0"/>
              </a:spcBef>
              <a:buClr>
                <a:srgbClr val="A8D08C"/>
              </a:buClr>
              <a:buSzPct val="100000"/>
              <a:buFont typeface="Arial"/>
              <a:buNone/>
            </a:pPr>
            <a:r>
              <a:rPr lang="en-US" sz="1400" b="1">
                <a:solidFill>
                  <a:schemeClr val="accent1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parameter integer </a:t>
            </a:r>
            <a:r>
              <a:rPr lang="en-US" sz="1400" b="1">
                <a:solidFill>
                  <a:srgbClr val="BEBEBE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PRESET_VAL = 0</a:t>
            </a:r>
          </a:p>
          <a:p>
            <a:pPr marL="0" indent="0">
              <a:spcBef>
                <a:spcPts val="0"/>
              </a:spcBef>
              <a:buClr>
                <a:srgbClr val="A8D08C"/>
              </a:buClr>
              <a:buSzPct val="100000"/>
              <a:buFont typeface="Arial"/>
              <a:buNone/>
            </a:pPr>
            <a:r>
              <a:rPr lang="en-US" sz="1400" b="1">
                <a:solidFill>
                  <a:srgbClr val="BEBEBE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   )(</a:t>
            </a:r>
          </a:p>
          <a:p>
            <a:pPr marL="0" indent="0">
              <a:spcBef>
                <a:spcPts val="0"/>
              </a:spcBef>
              <a:buClr>
                <a:srgbClr val="A8D08C"/>
              </a:buClr>
              <a:buSzPct val="100000"/>
              <a:buFont typeface="Arial"/>
              <a:buNone/>
            </a:pPr>
            <a:r>
              <a:rPr lang="en-US" sz="1400" b="1">
                <a:solidFill>
                  <a:srgbClr val="A8D08C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      </a:t>
            </a:r>
            <a:r>
              <a:rPr lang="en-US" sz="1400" b="1">
                <a:solidFill>
                  <a:schemeClr val="accent1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input</a:t>
            </a:r>
            <a:r>
              <a:rPr lang="en-US" sz="1400" b="1">
                <a:solidFill>
                  <a:srgbClr val="A8D08C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                 </a:t>
            </a:r>
            <a:r>
              <a:rPr lang="en-US" sz="1400" b="1">
                <a:solidFill>
                  <a:schemeClr val="bg1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 </a:t>
            </a:r>
            <a:r>
              <a:rPr lang="en-US" sz="1400" b="1" err="1">
                <a:solidFill>
                  <a:srgbClr val="BEBEBE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clk</a:t>
            </a:r>
            <a:r>
              <a:rPr lang="en-US" sz="1400" b="1">
                <a:solidFill>
                  <a:srgbClr val="BEBEBE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,</a:t>
            </a:r>
          </a:p>
          <a:p>
            <a:pPr marL="0" indent="0">
              <a:spcBef>
                <a:spcPts val="0"/>
              </a:spcBef>
              <a:buClr>
                <a:srgbClr val="A8D08C"/>
              </a:buClr>
              <a:buSzPct val="100000"/>
              <a:buFont typeface="Arial"/>
              <a:buNone/>
            </a:pPr>
            <a:r>
              <a:rPr lang="en-US" sz="1400" b="1">
                <a:solidFill>
                  <a:srgbClr val="A8D08C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      </a:t>
            </a:r>
            <a:r>
              <a:rPr lang="en-US" sz="1400" b="1">
                <a:solidFill>
                  <a:schemeClr val="accent1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input</a:t>
            </a:r>
            <a:r>
              <a:rPr lang="en-US" sz="1400" b="1">
                <a:solidFill>
                  <a:srgbClr val="A8D08C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                  </a:t>
            </a:r>
            <a:r>
              <a:rPr lang="en-US" sz="1400" b="1" err="1">
                <a:solidFill>
                  <a:srgbClr val="BEBEBE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arst_n</a:t>
            </a:r>
            <a:r>
              <a:rPr lang="en-US" sz="1400" b="1">
                <a:solidFill>
                  <a:srgbClr val="BEBEBE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,</a:t>
            </a:r>
          </a:p>
          <a:p>
            <a:pPr marL="0" indent="0">
              <a:spcBef>
                <a:spcPts val="0"/>
              </a:spcBef>
              <a:buClr>
                <a:srgbClr val="A8D08C"/>
              </a:buClr>
              <a:buSzPct val="100000"/>
              <a:buFont typeface="Arial"/>
              <a:buNone/>
            </a:pPr>
            <a:r>
              <a:rPr lang="en-US" sz="1400" b="1">
                <a:solidFill>
                  <a:srgbClr val="A8D08C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      </a:t>
            </a:r>
            <a:r>
              <a:rPr lang="en-US" sz="1400" b="1">
                <a:solidFill>
                  <a:schemeClr val="accent1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input</a:t>
            </a:r>
            <a:r>
              <a:rPr lang="en-US" sz="1400" b="1">
                <a:solidFill>
                  <a:srgbClr val="A8D08C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                  </a:t>
            </a:r>
            <a:r>
              <a:rPr lang="en-US" sz="1400" b="1" err="1">
                <a:solidFill>
                  <a:srgbClr val="BEBEBE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en</a:t>
            </a:r>
            <a:r>
              <a:rPr lang="en-US" sz="1400" b="1">
                <a:solidFill>
                  <a:srgbClr val="BEBEBE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,</a:t>
            </a:r>
          </a:p>
          <a:p>
            <a:pPr marL="0" indent="0">
              <a:spcBef>
                <a:spcPts val="0"/>
              </a:spcBef>
              <a:buClr>
                <a:srgbClr val="A8D08C"/>
              </a:buClr>
              <a:buSzPct val="100000"/>
              <a:buFont typeface="Arial"/>
              <a:buNone/>
            </a:pPr>
            <a:r>
              <a:rPr lang="en-US" sz="1400" b="1">
                <a:solidFill>
                  <a:srgbClr val="A8D08C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      </a:t>
            </a:r>
            <a:r>
              <a:rPr lang="en-US" sz="1400" b="1">
                <a:solidFill>
                  <a:schemeClr val="accent1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input</a:t>
            </a:r>
            <a:r>
              <a:rPr lang="en-US" sz="1400" b="1">
                <a:solidFill>
                  <a:srgbClr val="A8D08C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  </a:t>
            </a:r>
            <a:r>
              <a:rPr lang="en-US" sz="1400" b="1">
                <a:solidFill>
                  <a:srgbClr val="BEBEBE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[ DATA_W-1:0]   din,</a:t>
            </a:r>
          </a:p>
          <a:p>
            <a:pPr marL="0" indent="0">
              <a:spcBef>
                <a:spcPts val="0"/>
              </a:spcBef>
              <a:buClr>
                <a:srgbClr val="A8D08C"/>
              </a:buClr>
              <a:buSzPct val="100000"/>
              <a:buFont typeface="Arial"/>
              <a:buNone/>
            </a:pPr>
            <a:r>
              <a:rPr lang="en-US" sz="1400" b="1">
                <a:solidFill>
                  <a:srgbClr val="A8D08C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      </a:t>
            </a:r>
            <a:r>
              <a:rPr lang="en-US" sz="1400" b="1">
                <a:solidFill>
                  <a:schemeClr val="accent1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output</a:t>
            </a:r>
            <a:r>
              <a:rPr lang="en-US" sz="1400" b="1">
                <a:solidFill>
                  <a:srgbClr val="A8D08C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 </a:t>
            </a:r>
            <a:r>
              <a:rPr lang="en-US" sz="1400" b="1">
                <a:solidFill>
                  <a:srgbClr val="BEBEBE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[ DATA_W-1:0]   </a:t>
            </a:r>
            <a:r>
              <a:rPr lang="en-US" sz="1400" b="1" err="1">
                <a:solidFill>
                  <a:srgbClr val="BEBEBE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dout</a:t>
            </a:r>
            <a:endParaRPr lang="en-US" sz="1400" b="1">
              <a:solidFill>
                <a:srgbClr val="BEBEBE"/>
              </a:solidFill>
              <a:latin typeface="Consolas"/>
              <a:ea typeface="Consolas"/>
              <a:cs typeface="Calibri" panose="020F0502020204030204" pitchFamily="34" charset="0"/>
              <a:sym typeface="Consolas"/>
            </a:endParaRPr>
          </a:p>
          <a:p>
            <a:pPr marL="0" indent="0">
              <a:spcBef>
                <a:spcPts val="0"/>
              </a:spcBef>
              <a:buClr>
                <a:srgbClr val="A8D08C"/>
              </a:buClr>
              <a:buSzPct val="100000"/>
              <a:buFont typeface="Arial"/>
              <a:buNone/>
            </a:pPr>
            <a:r>
              <a:rPr lang="en-US" sz="1400" b="1">
                <a:solidFill>
                  <a:srgbClr val="BEBEBE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);</a:t>
            </a:r>
            <a:endParaRPr lang="en-US" sz="1400">
              <a:solidFill>
                <a:srgbClr val="BEBEBE"/>
              </a:solidFill>
              <a:latin typeface="Consolas"/>
              <a:ea typeface="Consolas"/>
              <a:cs typeface="Calibri" panose="020F0502020204030204" pitchFamily="34" charset="0"/>
              <a:sym typeface="Consolas"/>
            </a:endParaRPr>
          </a:p>
        </p:txBody>
      </p:sp>
      <p:sp>
        <p:nvSpPr>
          <p:cNvPr id="16" name="Google Shape;560;p11">
            <a:extLst>
              <a:ext uri="{FF2B5EF4-FFF2-40B4-BE49-F238E27FC236}">
                <a16:creationId xmlns:a16="http://schemas.microsoft.com/office/drawing/2014/main" id="{BDEE0E11-081D-4992-901F-35CF0E60C055}"/>
              </a:ext>
            </a:extLst>
          </p:cNvPr>
          <p:cNvSpPr txBox="1"/>
          <p:nvPr/>
        </p:nvSpPr>
        <p:spPr>
          <a:xfrm>
            <a:off x="4988700" y="1245081"/>
            <a:ext cx="3943351" cy="341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</a:pPr>
            <a:r>
              <a:rPr lang="en-US" sz="1620" i="1">
                <a:solidFill>
                  <a:schemeClr val="accent2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2. The Instance Declaration</a:t>
            </a:r>
            <a:endParaRPr sz="1620" i="1">
              <a:solidFill>
                <a:schemeClr val="accent2">
                  <a:lumMod val="5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BD98E76F-7E28-498B-A824-8B62CE7EF99D}"/>
              </a:ext>
            </a:extLst>
          </p:cNvPr>
          <p:cNvCxnSpPr/>
          <p:nvPr/>
        </p:nvCxnSpPr>
        <p:spPr>
          <a:xfrm>
            <a:off x="2886323" y="2321781"/>
            <a:ext cx="2202512" cy="0"/>
          </a:xfrm>
          <a:prstGeom prst="straightConnector1">
            <a:avLst/>
          </a:prstGeom>
          <a:ln w="222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Google Shape;560;p11">
            <a:extLst>
              <a:ext uri="{FF2B5EF4-FFF2-40B4-BE49-F238E27FC236}">
                <a16:creationId xmlns:a16="http://schemas.microsoft.com/office/drawing/2014/main" id="{B1523A0E-A1D7-4C40-9F1F-A35424A16EBE}"/>
              </a:ext>
            </a:extLst>
          </p:cNvPr>
          <p:cNvSpPr txBox="1"/>
          <p:nvPr/>
        </p:nvSpPr>
        <p:spPr>
          <a:xfrm>
            <a:off x="6996047" y="2103934"/>
            <a:ext cx="1735977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Font typeface="Arial" panose="020B0604020202020204" pitchFamily="34" charset="0"/>
              <a:buChar char="•"/>
            </a:pPr>
            <a:r>
              <a:rPr lang="en-US" altLang="zh-CN" b="1" i="1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Template Name</a:t>
            </a:r>
            <a:endParaRPr b="1" i="1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560;p11">
            <a:extLst>
              <a:ext uri="{FF2B5EF4-FFF2-40B4-BE49-F238E27FC236}">
                <a16:creationId xmlns:a16="http://schemas.microsoft.com/office/drawing/2014/main" id="{C8AF18C5-3DAF-4D18-9AE7-5E5F624CA848}"/>
              </a:ext>
            </a:extLst>
          </p:cNvPr>
          <p:cNvSpPr txBox="1"/>
          <p:nvPr/>
        </p:nvSpPr>
        <p:spPr>
          <a:xfrm>
            <a:off x="6996047" y="2551354"/>
            <a:ext cx="1735977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Font typeface="Arial" panose="020B0604020202020204" pitchFamily="34" charset="0"/>
              <a:buChar char="•"/>
            </a:pPr>
            <a:r>
              <a:rPr lang="en-US" altLang="zh-CN" b="1" i="1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Instance Name</a:t>
            </a:r>
            <a:endParaRPr b="1" i="1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560;p11">
            <a:extLst>
              <a:ext uri="{FF2B5EF4-FFF2-40B4-BE49-F238E27FC236}">
                <a16:creationId xmlns:a16="http://schemas.microsoft.com/office/drawing/2014/main" id="{10BDAE5C-6D54-45F6-AF7F-06514E0E062B}"/>
              </a:ext>
            </a:extLst>
          </p:cNvPr>
          <p:cNvSpPr txBox="1"/>
          <p:nvPr/>
        </p:nvSpPr>
        <p:spPr>
          <a:xfrm>
            <a:off x="5378812" y="3817213"/>
            <a:ext cx="146925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</a:pPr>
            <a:r>
              <a:rPr lang="en-US" altLang="zh-CN" b="1" i="1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Port </a:t>
            </a:r>
          </a:p>
          <a:p>
            <a:pPr marR="0" lvl="0" algn="l" rtl="0">
              <a:spcBef>
                <a:spcPts val="0"/>
              </a:spcBef>
              <a:spcAft>
                <a:spcPts val="0"/>
              </a:spcAft>
            </a:pPr>
            <a:r>
              <a:rPr lang="en-US" altLang="zh-CN" b="1" i="1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Name</a:t>
            </a:r>
            <a:endParaRPr b="1" i="1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560;p11">
            <a:extLst>
              <a:ext uri="{FF2B5EF4-FFF2-40B4-BE49-F238E27FC236}">
                <a16:creationId xmlns:a16="http://schemas.microsoft.com/office/drawing/2014/main" id="{54E6A401-E995-4EBF-992F-01BA7B84F879}"/>
              </a:ext>
            </a:extLst>
          </p:cNvPr>
          <p:cNvSpPr txBox="1"/>
          <p:nvPr/>
        </p:nvSpPr>
        <p:spPr>
          <a:xfrm>
            <a:off x="6281175" y="3817213"/>
            <a:ext cx="146925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</a:pPr>
            <a:r>
              <a:rPr lang="en-US" altLang="zh-CN" b="1" i="1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Signal</a:t>
            </a:r>
          </a:p>
          <a:p>
            <a:pPr marR="0" lvl="0" algn="l" rtl="0">
              <a:spcBef>
                <a:spcPts val="0"/>
              </a:spcBef>
              <a:spcAft>
                <a:spcPts val="0"/>
              </a:spcAft>
            </a:pPr>
            <a:r>
              <a:rPr lang="en-US" altLang="zh-CN" b="1" i="1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Connection</a:t>
            </a:r>
            <a:endParaRPr b="1" i="1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8254918B-F2FF-4759-AC1D-C6B4AEA97AFB}"/>
              </a:ext>
            </a:extLst>
          </p:cNvPr>
          <p:cNvCxnSpPr/>
          <p:nvPr/>
        </p:nvCxnSpPr>
        <p:spPr>
          <a:xfrm>
            <a:off x="6170212" y="2790908"/>
            <a:ext cx="0" cy="1637969"/>
          </a:xfrm>
          <a:prstGeom prst="line">
            <a:avLst/>
          </a:prstGeom>
          <a:ln w="28575">
            <a:solidFill>
              <a:srgbClr val="FFFF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9FB152E5-D089-41A0-B6D9-18007A3F6BB1}"/>
              </a:ext>
            </a:extLst>
          </p:cNvPr>
          <p:cNvCxnSpPr>
            <a:cxnSpLocks/>
          </p:cNvCxnSpPr>
          <p:nvPr/>
        </p:nvCxnSpPr>
        <p:spPr>
          <a:xfrm>
            <a:off x="4078663" y="2491037"/>
            <a:ext cx="1240760" cy="0"/>
          </a:xfrm>
          <a:prstGeom prst="straightConnector1">
            <a:avLst/>
          </a:prstGeom>
          <a:ln w="222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Google Shape;560;p11">
            <a:extLst>
              <a:ext uri="{FF2B5EF4-FFF2-40B4-BE49-F238E27FC236}">
                <a16:creationId xmlns:a16="http://schemas.microsoft.com/office/drawing/2014/main" id="{0C1732E3-85B7-4105-B2C1-22A48CE8461F}"/>
              </a:ext>
            </a:extLst>
          </p:cNvPr>
          <p:cNvSpPr txBox="1"/>
          <p:nvPr/>
        </p:nvSpPr>
        <p:spPr>
          <a:xfrm>
            <a:off x="6996047" y="2337169"/>
            <a:ext cx="2097353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Font typeface="Arial" panose="020B0604020202020204" pitchFamily="34" charset="0"/>
              <a:buChar char="•"/>
            </a:pPr>
            <a:r>
              <a:rPr lang="en-US" altLang="zh-CN" b="1" i="1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Parameterization</a:t>
            </a:r>
            <a:endParaRPr b="1" i="1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7189AE0A-F171-4B1D-987A-A2432CF88795}"/>
              </a:ext>
            </a:extLst>
          </p:cNvPr>
          <p:cNvGrpSpPr/>
          <p:nvPr/>
        </p:nvGrpSpPr>
        <p:grpSpPr>
          <a:xfrm>
            <a:off x="4310851" y="2951928"/>
            <a:ext cx="1008572" cy="999867"/>
            <a:chOff x="4310851" y="2951928"/>
            <a:chExt cx="1008572" cy="999867"/>
          </a:xfrm>
        </p:grpSpPr>
        <p:cxnSp>
          <p:nvCxnSpPr>
            <p:cNvPr id="28" name="直接箭头连接符 27">
              <a:extLst>
                <a:ext uri="{FF2B5EF4-FFF2-40B4-BE49-F238E27FC236}">
                  <a16:creationId xmlns:a16="http://schemas.microsoft.com/office/drawing/2014/main" id="{55E3993A-815B-4534-8F9B-F4753E41B78F}"/>
                </a:ext>
              </a:extLst>
            </p:cNvPr>
            <p:cNvCxnSpPr>
              <a:cxnSpLocks/>
            </p:cNvCxnSpPr>
            <p:nvPr/>
          </p:nvCxnSpPr>
          <p:spPr>
            <a:xfrm>
              <a:off x="4468455" y="3453144"/>
              <a:ext cx="850968" cy="0"/>
            </a:xfrm>
            <a:prstGeom prst="straightConnector1">
              <a:avLst/>
            </a:prstGeom>
            <a:ln w="22225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右大括号 7">
              <a:extLst>
                <a:ext uri="{FF2B5EF4-FFF2-40B4-BE49-F238E27FC236}">
                  <a16:creationId xmlns:a16="http://schemas.microsoft.com/office/drawing/2014/main" id="{97DD5AF3-A1F3-4241-BF00-020E6B7663D0}"/>
                </a:ext>
              </a:extLst>
            </p:cNvPr>
            <p:cNvSpPr/>
            <p:nvPr/>
          </p:nvSpPr>
          <p:spPr>
            <a:xfrm>
              <a:off x="4310851" y="2951928"/>
              <a:ext cx="168970" cy="999867"/>
            </a:xfrm>
            <a:prstGeom prst="rightBrace">
              <a:avLst/>
            </a:prstGeom>
            <a:ln w="22225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6" name="Google Shape;539;p10">
            <a:extLst>
              <a:ext uri="{FF2B5EF4-FFF2-40B4-BE49-F238E27FC236}">
                <a16:creationId xmlns:a16="http://schemas.microsoft.com/office/drawing/2014/main" id="{09FFB6A5-02DE-1A9F-0FF6-56873583A4C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5419" y="89216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Implementation Method</a:t>
            </a:r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Google Shape;550;p10">
            <a:extLst>
              <a:ext uri="{FF2B5EF4-FFF2-40B4-BE49-F238E27FC236}">
                <a16:creationId xmlns:a16="http://schemas.microsoft.com/office/drawing/2014/main" id="{2DD93930-6BCB-FAFD-F8B0-2CA047A7989E}"/>
              </a:ext>
            </a:extLst>
          </p:cNvPr>
          <p:cNvSpPr txBox="1"/>
          <p:nvPr/>
        </p:nvSpPr>
        <p:spPr>
          <a:xfrm>
            <a:off x="1193130" y="4506606"/>
            <a:ext cx="7011825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  <a:sym typeface="Calibri"/>
              </a:rPr>
              <a:t>If you need a customized module, you should also follow this approach.</a:t>
            </a:r>
            <a:endParaRPr b="1" i="1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613807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1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15</a:t>
            </a:fld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558" name="Google Shape;558;p11"/>
          <p:cNvGraphicFramePr/>
          <p:nvPr>
            <p:extLst>
              <p:ext uri="{D42A27DB-BD31-4B8C-83A1-F6EECF244321}">
                <p14:modId xmlns:p14="http://schemas.microsoft.com/office/powerpoint/2010/main" val="3200369884"/>
              </p:ext>
            </p:extLst>
          </p:nvPr>
        </p:nvGraphicFramePr>
        <p:xfrm>
          <a:off x="934804" y="1350121"/>
          <a:ext cx="6102102" cy="1143236"/>
        </p:xfrm>
        <a:graphic>
          <a:graphicData uri="http://schemas.openxmlformats.org/drawingml/2006/table">
            <a:tbl>
              <a:tblPr firstRow="1" bandRow="1">
                <a:noFill/>
                <a:tableStyleId>{040938F7-9763-481F-BBCA-995C50FC980A}</a:tableStyleId>
              </a:tblPr>
              <a:tblGrid>
                <a:gridCol w="10170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70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70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70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70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70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1226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/>
                        <a:t>Stage</a:t>
                      </a:r>
                      <a:endParaRPr sz="135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/>
                        <a:t>IF</a:t>
                      </a:r>
                      <a:endParaRPr sz="135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/>
                        <a:t>ID</a:t>
                      </a:r>
                      <a:endParaRPr sz="135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/>
                        <a:t>EXE</a:t>
                      </a:r>
                      <a:endParaRPr sz="135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/>
                        <a:t>MEM</a:t>
                      </a:r>
                      <a:endParaRPr sz="135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/>
                        <a:t>WB</a:t>
                      </a:r>
                      <a:endParaRPr sz="135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2648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Data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Path resources</a:t>
                      </a:r>
                      <a:endParaRPr sz="10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200" b="1">
                          <a:solidFill>
                            <a:schemeClr val="accen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IMEM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endParaRPr lang="en-US" sz="1200" b="1">
                        <a:solidFill>
                          <a:schemeClr val="accent1"/>
                        </a:solidFill>
                        <a:latin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200" b="1">
                          <a:solidFill>
                            <a:schemeClr val="accent1"/>
                          </a:solidFill>
                          <a:latin typeface="Calibri"/>
                          <a:cs typeface="Calibri"/>
                          <a:sym typeface="Calibri"/>
                        </a:rPr>
                        <a:t>PC</a:t>
                      </a:r>
                      <a:endParaRPr sz="2400">
                        <a:solidFill>
                          <a:schemeClr val="accent1"/>
                        </a:solidFill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>
                          <a:solidFill>
                            <a:schemeClr val="accent1"/>
                          </a:solidFill>
                        </a:rPr>
                        <a:t>Control Unit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100" b="1">
                        <a:solidFill>
                          <a:schemeClr val="accent1"/>
                        </a:solidFill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>
                          <a:solidFill>
                            <a:schemeClr val="accent1"/>
                          </a:solidFill>
                        </a:rPr>
                        <a:t>Register File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>
                          <a:solidFill>
                            <a:schemeClr val="accent1"/>
                          </a:solidFill>
                        </a:rPr>
                        <a:t>…</a:t>
                      </a:r>
                      <a:endParaRPr sz="1100" b="1">
                        <a:solidFill>
                          <a:schemeClr val="accent1"/>
                        </a:solidFill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>
                          <a:solidFill>
                            <a:schemeClr val="accent1"/>
                          </a:solidFill>
                        </a:rPr>
                        <a:t>ALU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chemeClr val="accent1"/>
                          </a:solidFill>
                        </a:rPr>
                        <a:t>…</a:t>
                      </a:r>
                      <a:endParaRPr sz="2000">
                        <a:solidFill>
                          <a:schemeClr val="accent1"/>
                        </a:solidFill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chemeClr val="accent1"/>
                          </a:solidFill>
                        </a:rPr>
                        <a:t>…</a:t>
                      </a:r>
                      <a:endParaRPr sz="2000">
                        <a:solidFill>
                          <a:schemeClr val="accent1"/>
                        </a:solidFill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chemeClr val="accent1"/>
                          </a:solidFill>
                        </a:rPr>
                        <a:t>…</a:t>
                      </a:r>
                      <a:endParaRPr sz="2000">
                        <a:solidFill>
                          <a:schemeClr val="accent1"/>
                        </a:solidFill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59" name="Google Shape;559;p11"/>
          <p:cNvGraphicFramePr/>
          <p:nvPr>
            <p:extLst>
              <p:ext uri="{D42A27DB-BD31-4B8C-83A1-F6EECF244321}">
                <p14:modId xmlns:p14="http://schemas.microsoft.com/office/powerpoint/2010/main" val="312964350"/>
              </p:ext>
            </p:extLst>
          </p:nvPr>
        </p:nvGraphicFramePr>
        <p:xfrm>
          <a:off x="934804" y="2617372"/>
          <a:ext cx="6102101" cy="1356380"/>
        </p:xfrm>
        <a:graphic>
          <a:graphicData uri="http://schemas.openxmlformats.org/drawingml/2006/table">
            <a:tbl>
              <a:tblPr firstRow="1" bandRow="1">
                <a:noFill/>
                <a:tableStyleId>{040938F7-9763-481F-BBCA-995C50FC980A}</a:tableStyleId>
              </a:tblPr>
              <a:tblGrid>
                <a:gridCol w="9122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84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361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426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26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8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/>
                        <a:t>Pipe. Reg.</a:t>
                      </a:r>
                      <a:endParaRPr sz="135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/>
                        <a:t>IF/ID</a:t>
                      </a:r>
                      <a:endParaRPr sz="135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/>
                        <a:t>ID/EXE</a:t>
                      </a:r>
                      <a:endParaRPr sz="135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50"/>
                        <a:buFont typeface="Calibri"/>
                        <a:buNone/>
                      </a:pPr>
                      <a:r>
                        <a:rPr lang="en-US" sz="1350"/>
                        <a:t>EXE/MEM</a:t>
                      </a:r>
                      <a:endParaRPr sz="135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5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/>
                        <a:t>MEM/WB</a:t>
                      </a:r>
                      <a:endParaRPr sz="135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3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Signals</a:t>
                      </a:r>
                      <a:endParaRPr sz="10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1" err="1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Instruction_IF_ID</a:t>
                      </a:r>
                      <a:endParaRPr lang="en-US" sz="1000" b="1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000"/>
                        <a:buFont typeface="Calibri"/>
                        <a:buNone/>
                      </a:pPr>
                      <a:endParaRPr lang="en-US" sz="1000" b="1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5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u="none" strike="noStrike" cap="none" err="1">
                          <a:solidFill>
                            <a:srgbClr val="FF0000"/>
                          </a:solidFill>
                          <a:latin typeface="Calibri"/>
                          <a:cs typeface="Calibri"/>
                          <a:sym typeface="Arial"/>
                        </a:rPr>
                        <a:t>ControlSignals_ID_EX</a:t>
                      </a:r>
                      <a:endParaRPr lang="en-US" sz="1000" b="1" i="0" u="none" strike="noStrike" cap="none">
                        <a:solidFill>
                          <a:srgbClr val="FF0000"/>
                        </a:solidFill>
                        <a:latin typeface="Calibri"/>
                        <a:cs typeface="Calibri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b="1" i="0" u="none" strike="noStrike" cap="none">
                        <a:solidFill>
                          <a:srgbClr val="FF0000"/>
                        </a:solidFill>
                        <a:latin typeface="Calibri"/>
                        <a:cs typeface="Calibri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FF0000"/>
                          </a:solidFill>
                          <a:latin typeface="Calibri"/>
                          <a:cs typeface="Calibri"/>
                          <a:sym typeface="Arial"/>
                        </a:rPr>
                        <a:t>RegFile_data_1_ID_EX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b="1" i="0" u="none" strike="noStrike" cap="none">
                        <a:solidFill>
                          <a:srgbClr val="FF0000"/>
                        </a:solidFill>
                        <a:latin typeface="Calibri"/>
                        <a:cs typeface="Calibri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FF0000"/>
                          </a:solidFill>
                          <a:latin typeface="Calibri"/>
                          <a:cs typeface="Calibri"/>
                          <a:sym typeface="Arial"/>
                        </a:rPr>
                        <a:t>…</a:t>
                      </a:r>
                      <a:endParaRPr sz="1000" b="1" i="0" u="none" strike="noStrike" cap="none">
                        <a:solidFill>
                          <a:srgbClr val="FF0000"/>
                        </a:solidFill>
                        <a:latin typeface="Calibri"/>
                        <a:cs typeface="Calibri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FF0000"/>
                          </a:solidFill>
                        </a:rPr>
                        <a:t>…</a:t>
                      </a:r>
                      <a:endParaRPr sz="1350">
                        <a:solidFill>
                          <a:srgbClr val="FF0000"/>
                        </a:solidFill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FF0000"/>
                          </a:solidFill>
                        </a:rPr>
                        <a:t>…</a:t>
                      </a:r>
                      <a:endParaRPr sz="1350">
                        <a:solidFill>
                          <a:srgbClr val="FF0000"/>
                        </a:solidFill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60" name="Google Shape;560;p11"/>
          <p:cNvSpPr txBox="1"/>
          <p:nvPr/>
        </p:nvSpPr>
        <p:spPr>
          <a:xfrm>
            <a:off x="135566" y="4642562"/>
            <a:ext cx="986167" cy="341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2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EXAMPLE</a:t>
            </a:r>
            <a:endParaRPr sz="1620">
              <a:solidFill>
                <a:schemeClr val="dk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563" name="Google Shape;563;p11"/>
          <p:cNvSpPr txBox="1"/>
          <p:nvPr/>
        </p:nvSpPr>
        <p:spPr>
          <a:xfrm>
            <a:off x="7216075" y="466950"/>
            <a:ext cx="192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i="1">
                <a:solidFill>
                  <a:schemeClr val="l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Sample Code Snippet</a:t>
            </a:r>
            <a:endParaRPr sz="1700" i="1">
              <a:solidFill>
                <a:schemeClr val="l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Google Shape;560;p11">
            <a:extLst>
              <a:ext uri="{FF2B5EF4-FFF2-40B4-BE49-F238E27FC236}">
                <a16:creationId xmlns:a16="http://schemas.microsoft.com/office/drawing/2014/main" id="{BF834313-FCED-462C-9E8D-20024E9FAC0A}"/>
              </a:ext>
            </a:extLst>
          </p:cNvPr>
          <p:cNvSpPr txBox="1"/>
          <p:nvPr/>
        </p:nvSpPr>
        <p:spPr>
          <a:xfrm>
            <a:off x="628649" y="967437"/>
            <a:ext cx="3943351" cy="341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20" i="1">
                <a:solidFill>
                  <a:schemeClr val="accent2">
                    <a:lumMod val="50000"/>
                  </a:schemeClr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What </a:t>
            </a:r>
            <a:r>
              <a:rPr lang="en-US" altLang="zh-CN" sz="1620" i="1">
                <a:solidFill>
                  <a:schemeClr val="accent2">
                    <a:lumMod val="50000"/>
                  </a:schemeClr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should the</a:t>
            </a:r>
            <a:r>
              <a:rPr lang="en-US" sz="1620" i="1">
                <a:solidFill>
                  <a:schemeClr val="accent2">
                    <a:lumMod val="50000"/>
                  </a:schemeClr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 final table be like?</a:t>
            </a:r>
            <a:endParaRPr sz="1620" i="1">
              <a:solidFill>
                <a:schemeClr val="accent2">
                  <a:lumMod val="50000"/>
                </a:schemeClr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2" name="Google Shape;560;p11">
            <a:extLst>
              <a:ext uri="{FF2B5EF4-FFF2-40B4-BE49-F238E27FC236}">
                <a16:creationId xmlns:a16="http://schemas.microsoft.com/office/drawing/2014/main" id="{A3CF13D2-4C3B-4E5B-ACDD-A78D6A9D31BD}"/>
              </a:ext>
            </a:extLst>
          </p:cNvPr>
          <p:cNvSpPr txBox="1"/>
          <p:nvPr/>
        </p:nvSpPr>
        <p:spPr>
          <a:xfrm>
            <a:off x="628649" y="4097767"/>
            <a:ext cx="5079424" cy="341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20" i="1">
                <a:solidFill>
                  <a:schemeClr val="accent2">
                    <a:lumMod val="50000"/>
                  </a:schemeClr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Use it as a checklist to save the debugging time!</a:t>
            </a:r>
            <a:endParaRPr sz="1620" i="1">
              <a:solidFill>
                <a:schemeClr val="accent2">
                  <a:lumMod val="50000"/>
                </a:schemeClr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0" name="Google Shape;557;p11">
            <a:extLst>
              <a:ext uri="{FF2B5EF4-FFF2-40B4-BE49-F238E27FC236}">
                <a16:creationId xmlns:a16="http://schemas.microsoft.com/office/drawing/2014/main" id="{791EF06D-9D55-4FA6-B8CF-C7DEE9E2C3A2}"/>
              </a:ext>
            </a:extLst>
          </p:cNvPr>
          <p:cNvSpPr txBox="1">
            <a:spLocks/>
          </p:cNvSpPr>
          <p:nvPr/>
        </p:nvSpPr>
        <p:spPr>
          <a:xfrm>
            <a:off x="7130902" y="263400"/>
            <a:ext cx="1635552" cy="488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 fontScale="47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spcBef>
                <a:spcPts val="0"/>
              </a:spcBef>
              <a:buClr>
                <a:srgbClr val="A8D08C"/>
              </a:buClr>
              <a:buSzPct val="100000"/>
              <a:buNone/>
            </a:pPr>
            <a:r>
              <a:rPr lang="en-US" b="1">
                <a:solidFill>
                  <a:srgbClr val="A8D08C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// IF STAGE BEGIN</a:t>
            </a:r>
          </a:p>
          <a:p>
            <a:pPr marL="0" indent="0">
              <a:spcBef>
                <a:spcPts val="0"/>
              </a:spcBef>
              <a:buClr>
                <a:srgbClr val="A8D08C"/>
              </a:buClr>
              <a:buSzPct val="100000"/>
              <a:buNone/>
            </a:pPr>
            <a:r>
              <a:rPr lang="en-US" b="1">
                <a:solidFill>
                  <a:srgbClr val="569CD6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...</a:t>
            </a:r>
            <a:br>
              <a:rPr lang="en-US" b="1">
                <a:solidFill>
                  <a:srgbClr val="FF0000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</a:br>
            <a:r>
              <a:rPr lang="en-US" altLang="zh-CN" b="1">
                <a:solidFill>
                  <a:srgbClr val="A8D08C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// IF STAGE END</a:t>
            </a:r>
          </a:p>
          <a:p>
            <a:pPr marL="0" indent="0">
              <a:spcBef>
                <a:spcPts val="0"/>
              </a:spcBef>
              <a:buClr>
                <a:srgbClr val="A8D08C"/>
              </a:buClr>
              <a:buSzPct val="100000"/>
              <a:buNone/>
            </a:pPr>
            <a:endParaRPr lang="en-US" altLang="zh-CN">
              <a:solidFill>
                <a:srgbClr val="D4D4D4"/>
              </a:solidFill>
              <a:latin typeface="Consolas" panose="020B0609020204030204" pitchFamily="49" charset="0"/>
              <a:ea typeface="Consolas"/>
              <a:cs typeface="Consolas"/>
              <a:sym typeface="Consolas"/>
            </a:endParaRPr>
          </a:p>
          <a:p>
            <a:pPr marL="0" indent="0">
              <a:spcBef>
                <a:spcPts val="0"/>
              </a:spcBef>
              <a:buClr>
                <a:srgbClr val="A8D08C"/>
              </a:buClr>
              <a:buSzPct val="100000"/>
              <a:buNone/>
            </a:pPr>
            <a:endParaRPr lang="en-US" altLang="zh-CN">
              <a:solidFill>
                <a:srgbClr val="D4D4D4"/>
              </a:solidFill>
              <a:latin typeface="Consolas" panose="020B0609020204030204" pitchFamily="49" charset="0"/>
              <a:ea typeface="Consolas"/>
              <a:cs typeface="Consolas"/>
              <a:sym typeface="Consolas"/>
            </a:endParaRPr>
          </a:p>
          <a:p>
            <a:pPr marL="0" indent="0">
              <a:spcBef>
                <a:spcPts val="0"/>
              </a:spcBef>
              <a:buClr>
                <a:srgbClr val="A8D08C"/>
              </a:buClr>
              <a:buSzPct val="100000"/>
              <a:buNone/>
            </a:pPr>
            <a:r>
              <a:rPr lang="en-US" altLang="zh-CN" b="1">
                <a:solidFill>
                  <a:srgbClr val="A8D08C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// IF_ID REG BEGIN</a:t>
            </a:r>
          </a:p>
          <a:p>
            <a:pPr marL="0" indent="0">
              <a:spcBef>
                <a:spcPts val="0"/>
              </a:spcBef>
              <a:buClr>
                <a:srgbClr val="A8D08C"/>
              </a:buClr>
              <a:buSzPct val="100000"/>
              <a:buNone/>
            </a:pPr>
            <a:r>
              <a:rPr lang="en-US" altLang="zh-CN" b="1">
                <a:solidFill>
                  <a:srgbClr val="569CD6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...</a:t>
            </a:r>
            <a:br>
              <a:rPr lang="en-US" altLang="zh-CN" b="1">
                <a:solidFill>
                  <a:srgbClr val="FF0000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</a:br>
            <a:r>
              <a:rPr lang="en-US" altLang="zh-CN" b="1">
                <a:solidFill>
                  <a:srgbClr val="A8D08C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// IF_ID REG END</a:t>
            </a:r>
          </a:p>
          <a:p>
            <a:pPr marL="0" indent="0">
              <a:spcBef>
                <a:spcPts val="0"/>
              </a:spcBef>
              <a:buClr>
                <a:srgbClr val="A8D08C"/>
              </a:buClr>
              <a:buSzPct val="100000"/>
              <a:buNone/>
            </a:pPr>
            <a:endParaRPr lang="en-US" altLang="zh-CN">
              <a:solidFill>
                <a:srgbClr val="D4D4D4"/>
              </a:solidFill>
              <a:latin typeface="Consolas" panose="020B0609020204030204" pitchFamily="49" charset="0"/>
              <a:ea typeface="Consolas"/>
              <a:cs typeface="Consolas"/>
              <a:sym typeface="Consolas"/>
            </a:endParaRPr>
          </a:p>
          <a:p>
            <a:pPr marL="0" indent="0">
              <a:spcBef>
                <a:spcPts val="0"/>
              </a:spcBef>
              <a:buClr>
                <a:srgbClr val="A8D08C"/>
              </a:buClr>
              <a:buSzPct val="100000"/>
              <a:buNone/>
            </a:pPr>
            <a:endParaRPr lang="en-US" altLang="zh-CN">
              <a:solidFill>
                <a:srgbClr val="D4D4D4"/>
              </a:solidFill>
              <a:latin typeface="Consolas" panose="020B0609020204030204" pitchFamily="49" charset="0"/>
              <a:ea typeface="Consolas"/>
              <a:cs typeface="Consolas"/>
              <a:sym typeface="Consolas"/>
            </a:endParaRPr>
          </a:p>
          <a:p>
            <a:pPr marL="0" indent="0">
              <a:spcBef>
                <a:spcPts val="0"/>
              </a:spcBef>
              <a:buClr>
                <a:srgbClr val="A8D08C"/>
              </a:buClr>
              <a:buSzPct val="100000"/>
              <a:buNone/>
            </a:pPr>
            <a:r>
              <a:rPr lang="en-US" altLang="zh-CN" b="1">
                <a:solidFill>
                  <a:srgbClr val="A8D08C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// ID STAGE BEGIN</a:t>
            </a:r>
          </a:p>
          <a:p>
            <a:pPr marL="0" indent="0">
              <a:spcBef>
                <a:spcPts val="0"/>
              </a:spcBef>
              <a:buClr>
                <a:srgbClr val="A8D08C"/>
              </a:buClr>
              <a:buSzPct val="100000"/>
              <a:buNone/>
            </a:pPr>
            <a:r>
              <a:rPr lang="en-US" altLang="zh-CN" b="1">
                <a:solidFill>
                  <a:srgbClr val="569CD6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...</a:t>
            </a:r>
            <a:br>
              <a:rPr lang="en-US" altLang="zh-CN" b="1">
                <a:solidFill>
                  <a:srgbClr val="FF0000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</a:br>
            <a:r>
              <a:rPr lang="en-US" altLang="zh-CN" b="1">
                <a:solidFill>
                  <a:srgbClr val="A8D08C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// ID STAGE END</a:t>
            </a:r>
          </a:p>
          <a:p>
            <a:pPr marL="0" indent="0">
              <a:spcBef>
                <a:spcPts val="0"/>
              </a:spcBef>
              <a:buClr>
                <a:srgbClr val="A8D08C"/>
              </a:buClr>
              <a:buSzPct val="100000"/>
              <a:buNone/>
            </a:pPr>
            <a:endParaRPr lang="en-US" altLang="zh-CN">
              <a:solidFill>
                <a:srgbClr val="D4D4D4"/>
              </a:solidFill>
              <a:latin typeface="Consolas" panose="020B0609020204030204" pitchFamily="49" charset="0"/>
              <a:ea typeface="Consolas"/>
              <a:cs typeface="Consolas"/>
              <a:sym typeface="Consolas"/>
            </a:endParaRPr>
          </a:p>
          <a:p>
            <a:pPr marL="0" indent="0">
              <a:spcBef>
                <a:spcPts val="0"/>
              </a:spcBef>
              <a:buClr>
                <a:srgbClr val="A8D08C"/>
              </a:buClr>
              <a:buSzPct val="100000"/>
              <a:buNone/>
            </a:pPr>
            <a:endParaRPr lang="en-US" altLang="zh-CN">
              <a:solidFill>
                <a:srgbClr val="D4D4D4"/>
              </a:solidFill>
              <a:latin typeface="Consolas" panose="020B0609020204030204" pitchFamily="49" charset="0"/>
              <a:ea typeface="Consolas"/>
              <a:cs typeface="Consolas"/>
              <a:sym typeface="Consolas"/>
            </a:endParaRPr>
          </a:p>
          <a:p>
            <a:pPr marL="0" indent="0">
              <a:spcBef>
                <a:spcPts val="0"/>
              </a:spcBef>
              <a:buClr>
                <a:srgbClr val="A8D08C"/>
              </a:buClr>
              <a:buSzPct val="100000"/>
              <a:buNone/>
            </a:pPr>
            <a:r>
              <a:rPr lang="en-US" altLang="zh-CN" b="1">
                <a:solidFill>
                  <a:srgbClr val="A8D08C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// ID_EX REG BEGIN</a:t>
            </a:r>
          </a:p>
          <a:p>
            <a:pPr marL="0" indent="0">
              <a:spcBef>
                <a:spcPts val="0"/>
              </a:spcBef>
              <a:buClr>
                <a:srgbClr val="A8D08C"/>
              </a:buClr>
              <a:buSzPct val="100000"/>
              <a:buNone/>
            </a:pPr>
            <a:r>
              <a:rPr lang="en-US" altLang="zh-CN" b="1">
                <a:solidFill>
                  <a:srgbClr val="569CD6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...</a:t>
            </a:r>
            <a:br>
              <a:rPr lang="en-US" altLang="zh-CN" b="1">
                <a:solidFill>
                  <a:srgbClr val="FF0000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</a:br>
            <a:r>
              <a:rPr lang="en-US" altLang="zh-CN" b="1">
                <a:solidFill>
                  <a:srgbClr val="A8D08C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// ID_EX REG END</a:t>
            </a:r>
          </a:p>
          <a:p>
            <a:pPr marL="0" indent="0">
              <a:spcBef>
                <a:spcPts val="0"/>
              </a:spcBef>
              <a:buClr>
                <a:srgbClr val="A8D08C"/>
              </a:buClr>
              <a:buSzPct val="100000"/>
              <a:buNone/>
            </a:pPr>
            <a:endParaRPr lang="en-US" altLang="zh-CN">
              <a:solidFill>
                <a:srgbClr val="D4D4D4"/>
              </a:solidFill>
              <a:latin typeface="Consolas" panose="020B0609020204030204" pitchFamily="49" charset="0"/>
              <a:ea typeface="Consolas"/>
              <a:cs typeface="Consolas"/>
              <a:sym typeface="Consolas"/>
            </a:endParaRPr>
          </a:p>
          <a:p>
            <a:pPr marL="0" indent="0">
              <a:spcBef>
                <a:spcPts val="0"/>
              </a:spcBef>
              <a:buClr>
                <a:srgbClr val="A8D08C"/>
              </a:buClr>
              <a:buSzPct val="100000"/>
              <a:buNone/>
            </a:pPr>
            <a:endParaRPr lang="en-US" altLang="zh-CN">
              <a:solidFill>
                <a:srgbClr val="D4D4D4"/>
              </a:solidFill>
              <a:latin typeface="Consolas" panose="020B0609020204030204" pitchFamily="49" charset="0"/>
              <a:ea typeface="Consolas"/>
              <a:cs typeface="Consolas"/>
              <a:sym typeface="Consolas"/>
            </a:endParaRPr>
          </a:p>
          <a:p>
            <a:pPr marL="0" indent="0">
              <a:spcBef>
                <a:spcPts val="0"/>
              </a:spcBef>
              <a:buClr>
                <a:srgbClr val="A8D08C"/>
              </a:buClr>
              <a:buSzPct val="100000"/>
              <a:buNone/>
            </a:pPr>
            <a:r>
              <a:rPr lang="en-US" altLang="zh-CN" b="1">
                <a:solidFill>
                  <a:srgbClr val="A8D08C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// EX STAGE BEGIN</a:t>
            </a:r>
          </a:p>
          <a:p>
            <a:pPr marL="0" indent="0">
              <a:spcBef>
                <a:spcPts val="0"/>
              </a:spcBef>
              <a:buClr>
                <a:srgbClr val="A8D08C"/>
              </a:buClr>
              <a:buSzPct val="100000"/>
              <a:buNone/>
            </a:pPr>
            <a:r>
              <a:rPr lang="en-US" altLang="zh-CN" b="1">
                <a:solidFill>
                  <a:srgbClr val="569CD6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...</a:t>
            </a:r>
            <a:br>
              <a:rPr lang="en-US" altLang="zh-CN" b="1">
                <a:solidFill>
                  <a:srgbClr val="FF0000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</a:br>
            <a:r>
              <a:rPr lang="en-US" altLang="zh-CN" b="1">
                <a:solidFill>
                  <a:srgbClr val="A8D08C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// EX STAGE END</a:t>
            </a:r>
          </a:p>
          <a:p>
            <a:pPr marL="0" indent="0">
              <a:spcBef>
                <a:spcPts val="0"/>
              </a:spcBef>
              <a:buClr>
                <a:srgbClr val="A8D08C"/>
              </a:buClr>
              <a:buSzPct val="100000"/>
              <a:buNone/>
            </a:pPr>
            <a:endParaRPr lang="en-US" altLang="zh-CN">
              <a:solidFill>
                <a:srgbClr val="D4D4D4"/>
              </a:solidFill>
              <a:latin typeface="Consolas" panose="020B0609020204030204" pitchFamily="49" charset="0"/>
              <a:ea typeface="Consolas"/>
              <a:cs typeface="Consolas"/>
              <a:sym typeface="Consolas"/>
            </a:endParaRPr>
          </a:p>
          <a:p>
            <a:pPr marL="0" indent="0">
              <a:spcBef>
                <a:spcPts val="0"/>
              </a:spcBef>
              <a:buClr>
                <a:srgbClr val="A8D08C"/>
              </a:buClr>
              <a:buSzPct val="100000"/>
              <a:buNone/>
            </a:pPr>
            <a:endParaRPr lang="en-US" altLang="zh-CN">
              <a:solidFill>
                <a:srgbClr val="D4D4D4"/>
              </a:solidFill>
              <a:latin typeface="Consolas" panose="020B0609020204030204" pitchFamily="49" charset="0"/>
              <a:ea typeface="Consolas"/>
              <a:cs typeface="Consolas"/>
              <a:sym typeface="Consolas"/>
            </a:endParaRPr>
          </a:p>
          <a:p>
            <a:pPr marL="0" indent="0">
              <a:spcBef>
                <a:spcPts val="0"/>
              </a:spcBef>
              <a:buClr>
                <a:srgbClr val="A8D08C"/>
              </a:buClr>
              <a:buSzPct val="100000"/>
              <a:buNone/>
            </a:pPr>
            <a:r>
              <a:rPr lang="en-US" altLang="zh-CN" b="1">
                <a:solidFill>
                  <a:srgbClr val="A8D08C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// EX_MEM REG BEGIN</a:t>
            </a:r>
          </a:p>
          <a:p>
            <a:pPr marL="0" indent="0">
              <a:spcBef>
                <a:spcPts val="0"/>
              </a:spcBef>
              <a:buClr>
                <a:srgbClr val="A8D08C"/>
              </a:buClr>
              <a:buSzPct val="100000"/>
              <a:buNone/>
            </a:pPr>
            <a:r>
              <a:rPr lang="en-US" altLang="zh-CN" b="1">
                <a:solidFill>
                  <a:srgbClr val="569CD6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...</a:t>
            </a:r>
            <a:br>
              <a:rPr lang="en-US" altLang="zh-CN" b="1">
                <a:solidFill>
                  <a:srgbClr val="FF0000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</a:br>
            <a:r>
              <a:rPr lang="en-US" altLang="zh-CN" b="1">
                <a:solidFill>
                  <a:srgbClr val="A8D08C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// EX_MEM REG END</a:t>
            </a:r>
          </a:p>
          <a:p>
            <a:pPr marL="0" indent="0">
              <a:spcBef>
                <a:spcPts val="0"/>
              </a:spcBef>
              <a:buClr>
                <a:srgbClr val="A8D08C"/>
              </a:buClr>
              <a:buSzPct val="100000"/>
              <a:buNone/>
            </a:pPr>
            <a:endParaRPr lang="en-US" altLang="zh-CN">
              <a:solidFill>
                <a:srgbClr val="D4D4D4"/>
              </a:solidFill>
              <a:latin typeface="Consolas" panose="020B0609020204030204" pitchFamily="49" charset="0"/>
              <a:ea typeface="Consolas"/>
              <a:cs typeface="Consolas"/>
              <a:sym typeface="Consolas"/>
            </a:endParaRPr>
          </a:p>
          <a:p>
            <a:pPr marL="0" indent="0">
              <a:spcBef>
                <a:spcPts val="0"/>
              </a:spcBef>
              <a:buClr>
                <a:srgbClr val="A8D08C"/>
              </a:buClr>
              <a:buSzPct val="100000"/>
              <a:buNone/>
            </a:pPr>
            <a:endParaRPr lang="en-US" altLang="zh-CN">
              <a:solidFill>
                <a:srgbClr val="D4D4D4"/>
              </a:solidFill>
              <a:latin typeface="Consolas" panose="020B0609020204030204" pitchFamily="49" charset="0"/>
              <a:ea typeface="Consolas"/>
              <a:cs typeface="Consolas"/>
              <a:sym typeface="Consolas"/>
            </a:endParaRPr>
          </a:p>
          <a:p>
            <a:pPr marL="0" indent="0">
              <a:spcBef>
                <a:spcPts val="0"/>
              </a:spcBef>
              <a:buClr>
                <a:srgbClr val="A8D08C"/>
              </a:buClr>
              <a:buSzPct val="100000"/>
              <a:buNone/>
            </a:pPr>
            <a:r>
              <a:rPr lang="en-US" altLang="zh-CN" b="1">
                <a:solidFill>
                  <a:srgbClr val="A8D08C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// MEM STAGE BEGIN</a:t>
            </a:r>
          </a:p>
          <a:p>
            <a:pPr marL="0" indent="0">
              <a:spcBef>
                <a:spcPts val="0"/>
              </a:spcBef>
              <a:buClr>
                <a:srgbClr val="A8D08C"/>
              </a:buClr>
              <a:buSzPct val="100000"/>
              <a:buNone/>
            </a:pPr>
            <a:r>
              <a:rPr lang="en-US" altLang="zh-CN" b="1">
                <a:solidFill>
                  <a:srgbClr val="569CD6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...</a:t>
            </a:r>
            <a:br>
              <a:rPr lang="en-US" altLang="zh-CN" b="1">
                <a:solidFill>
                  <a:srgbClr val="FF0000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</a:br>
            <a:r>
              <a:rPr lang="en-US" altLang="zh-CN" b="1">
                <a:solidFill>
                  <a:srgbClr val="A8D08C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// MEM STAGE END</a:t>
            </a:r>
          </a:p>
          <a:p>
            <a:pPr marL="0" indent="0">
              <a:spcBef>
                <a:spcPts val="0"/>
              </a:spcBef>
              <a:buClr>
                <a:srgbClr val="A8D08C"/>
              </a:buClr>
              <a:buSzPct val="100000"/>
              <a:buNone/>
            </a:pPr>
            <a:endParaRPr lang="en-US" altLang="zh-CN">
              <a:solidFill>
                <a:srgbClr val="D4D4D4"/>
              </a:solidFill>
              <a:latin typeface="Consolas" panose="020B0609020204030204" pitchFamily="49" charset="0"/>
              <a:ea typeface="Consolas"/>
              <a:cs typeface="Consolas"/>
              <a:sym typeface="Consolas"/>
            </a:endParaRPr>
          </a:p>
          <a:p>
            <a:pPr marL="0" indent="0">
              <a:spcBef>
                <a:spcPts val="0"/>
              </a:spcBef>
              <a:buClr>
                <a:srgbClr val="A8D08C"/>
              </a:buClr>
              <a:buSzPct val="100000"/>
              <a:buNone/>
            </a:pPr>
            <a:endParaRPr lang="en-US" altLang="zh-CN">
              <a:solidFill>
                <a:srgbClr val="D4D4D4"/>
              </a:solidFill>
              <a:latin typeface="Consolas" panose="020B0609020204030204" pitchFamily="49" charset="0"/>
              <a:ea typeface="Consolas"/>
              <a:cs typeface="Consolas"/>
              <a:sym typeface="Consolas"/>
            </a:endParaRPr>
          </a:p>
          <a:p>
            <a:pPr marL="0" indent="0">
              <a:spcBef>
                <a:spcPts val="0"/>
              </a:spcBef>
              <a:buClr>
                <a:srgbClr val="A8D08C"/>
              </a:buClr>
              <a:buSzPct val="100000"/>
              <a:buNone/>
            </a:pPr>
            <a:r>
              <a:rPr lang="en-US" altLang="zh-CN" b="1">
                <a:solidFill>
                  <a:srgbClr val="A8D08C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// MEM_WB REG BEGIN</a:t>
            </a:r>
          </a:p>
          <a:p>
            <a:pPr marL="0" indent="0">
              <a:spcBef>
                <a:spcPts val="0"/>
              </a:spcBef>
              <a:buClr>
                <a:srgbClr val="A8D08C"/>
              </a:buClr>
              <a:buSzPct val="100000"/>
              <a:buNone/>
            </a:pPr>
            <a:r>
              <a:rPr lang="en-US" altLang="zh-CN" b="1">
                <a:solidFill>
                  <a:srgbClr val="569CD6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...</a:t>
            </a:r>
            <a:br>
              <a:rPr lang="en-US" altLang="zh-CN" b="1">
                <a:solidFill>
                  <a:srgbClr val="FF0000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</a:br>
            <a:r>
              <a:rPr lang="en-US" altLang="zh-CN" b="1">
                <a:solidFill>
                  <a:srgbClr val="A8D08C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// MEM_WB REG END</a:t>
            </a:r>
          </a:p>
          <a:p>
            <a:pPr marL="0" indent="0">
              <a:spcBef>
                <a:spcPts val="0"/>
              </a:spcBef>
              <a:buClr>
                <a:srgbClr val="A8D08C"/>
              </a:buClr>
              <a:buSzPct val="100000"/>
              <a:buNone/>
            </a:pPr>
            <a:endParaRPr lang="en-US" altLang="zh-CN" b="1">
              <a:solidFill>
                <a:srgbClr val="A8D08C"/>
              </a:solidFill>
              <a:latin typeface="Consolas" panose="020B0609020204030204" pitchFamily="49" charset="0"/>
              <a:ea typeface="Consolas"/>
              <a:cs typeface="Consolas"/>
              <a:sym typeface="Consolas"/>
            </a:endParaRPr>
          </a:p>
          <a:p>
            <a:pPr marL="0" indent="0">
              <a:spcBef>
                <a:spcPts val="0"/>
              </a:spcBef>
              <a:buClr>
                <a:srgbClr val="A8D08C"/>
              </a:buClr>
              <a:buSzPct val="100000"/>
              <a:buNone/>
            </a:pPr>
            <a:endParaRPr lang="en-US" altLang="zh-CN" b="1">
              <a:solidFill>
                <a:srgbClr val="A8D08C"/>
              </a:solidFill>
              <a:latin typeface="Consolas" panose="020B0609020204030204" pitchFamily="49" charset="0"/>
              <a:ea typeface="Consolas"/>
              <a:cs typeface="Consolas"/>
              <a:sym typeface="Consolas"/>
            </a:endParaRPr>
          </a:p>
          <a:p>
            <a:pPr marL="0" indent="0">
              <a:spcBef>
                <a:spcPts val="0"/>
              </a:spcBef>
              <a:buClr>
                <a:srgbClr val="A8D08C"/>
              </a:buClr>
              <a:buSzPct val="100000"/>
              <a:buNone/>
            </a:pPr>
            <a:r>
              <a:rPr lang="en-US" altLang="zh-CN" b="1">
                <a:solidFill>
                  <a:srgbClr val="A8D08C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// WB STAGE BEGIN</a:t>
            </a:r>
          </a:p>
          <a:p>
            <a:pPr marL="0" indent="0">
              <a:spcBef>
                <a:spcPts val="0"/>
              </a:spcBef>
              <a:buClr>
                <a:srgbClr val="A8D08C"/>
              </a:buClr>
              <a:buSzPct val="100000"/>
              <a:buNone/>
            </a:pPr>
            <a:r>
              <a:rPr lang="en-US" altLang="zh-CN" b="1">
                <a:solidFill>
                  <a:srgbClr val="569CD6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...</a:t>
            </a:r>
            <a:br>
              <a:rPr lang="en-US" altLang="zh-CN" b="1">
                <a:solidFill>
                  <a:srgbClr val="FF0000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</a:br>
            <a:r>
              <a:rPr lang="en-US" altLang="zh-CN" b="1">
                <a:solidFill>
                  <a:srgbClr val="A8D08C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// WB STAGE END</a:t>
            </a:r>
            <a:endParaRPr lang="en-US" altLang="zh-CN">
              <a:solidFill>
                <a:srgbClr val="D4D4D4"/>
              </a:solidFill>
              <a:latin typeface="Consolas" panose="020B0609020204030204" pitchFamily="49" charset="0"/>
              <a:ea typeface="Consolas"/>
              <a:cs typeface="Consolas"/>
              <a:sym typeface="Consolas"/>
            </a:endParaRPr>
          </a:p>
          <a:p>
            <a:pPr marL="0" indent="0">
              <a:spcBef>
                <a:spcPts val="0"/>
              </a:spcBef>
              <a:buClr>
                <a:srgbClr val="A8D08C"/>
              </a:buClr>
              <a:buSzPct val="100000"/>
              <a:buNone/>
            </a:pPr>
            <a:endParaRPr lang="en-US" altLang="zh-CN">
              <a:solidFill>
                <a:srgbClr val="D4D4D4"/>
              </a:solidFill>
              <a:latin typeface="Consolas" panose="020B0609020204030204" pitchFamily="49" charset="0"/>
              <a:ea typeface="Consolas"/>
              <a:cs typeface="Consolas"/>
              <a:sym typeface="Consolas"/>
            </a:endParaRPr>
          </a:p>
          <a:p>
            <a:pPr marL="0" indent="0">
              <a:spcBef>
                <a:spcPts val="0"/>
              </a:spcBef>
              <a:buClr>
                <a:srgbClr val="A8D08C"/>
              </a:buClr>
              <a:buSzPct val="100000"/>
              <a:buFont typeface="Arial"/>
              <a:buNone/>
            </a:pPr>
            <a:endParaRPr lang="en-US">
              <a:solidFill>
                <a:srgbClr val="D4D4D4"/>
              </a:solidFill>
              <a:latin typeface="Consolas" panose="020B0609020204030204" pitchFamily="49" charset="0"/>
              <a:ea typeface="Consolas"/>
              <a:cs typeface="Consolas"/>
              <a:sym typeface="Consolas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98D4E4E-D68C-4807-B775-FA005D534EBE}"/>
              </a:ext>
            </a:extLst>
          </p:cNvPr>
          <p:cNvSpPr txBox="1"/>
          <p:nvPr/>
        </p:nvSpPr>
        <p:spPr>
          <a:xfrm>
            <a:off x="7130902" y="0"/>
            <a:ext cx="163555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i="1">
                <a:solidFill>
                  <a:schemeClr val="accent2">
                    <a:lumMod val="50000"/>
                  </a:schemeClr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Linting your code.</a:t>
            </a:r>
            <a:endParaRPr lang="zh-CN" altLang="en-US"/>
          </a:p>
        </p:txBody>
      </p:sp>
      <p:sp>
        <p:nvSpPr>
          <p:cNvPr id="2" name="TextBox 8">
            <a:extLst>
              <a:ext uri="{FF2B5EF4-FFF2-40B4-BE49-F238E27FC236}">
                <a16:creationId xmlns:a16="http://schemas.microsoft.com/office/drawing/2014/main" id="{B33F40F2-1B6B-A96D-EB0B-F80FDAA22BDF}"/>
              </a:ext>
            </a:extLst>
          </p:cNvPr>
          <p:cNvSpPr txBox="1"/>
          <p:nvPr/>
        </p:nvSpPr>
        <p:spPr>
          <a:xfrm>
            <a:off x="1481179" y="3936854"/>
            <a:ext cx="54500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b="1" i="1">
                <a:solidFill>
                  <a:srgbClr val="FF0000"/>
                </a:solidFill>
                <a:highlight>
                  <a:srgbClr val="FFFF00"/>
                </a:highlight>
                <a:latin typeface="Cambria" panose="02040503050406030204" pitchFamily="18" charset="0"/>
                <a:ea typeface="Cambria" panose="02040503050406030204" pitchFamily="18" charset="0"/>
              </a:rPr>
              <a:t>These should be the wire names (instances) you choose in your design.</a:t>
            </a:r>
            <a:endParaRPr lang="en-US" sz="1200" b="1" i="1">
              <a:highlight>
                <a:srgbClr val="FFFF00"/>
              </a:highlight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Google Shape;539;p10">
            <a:extLst>
              <a:ext uri="{FF2B5EF4-FFF2-40B4-BE49-F238E27FC236}">
                <a16:creationId xmlns:a16="http://schemas.microsoft.com/office/drawing/2014/main" id="{0E1B4F86-D03D-C4EC-E515-0709028D066D}"/>
              </a:ext>
            </a:extLst>
          </p:cNvPr>
          <p:cNvSpPr txBox="1">
            <a:spLocks/>
          </p:cNvSpPr>
          <p:nvPr/>
        </p:nvSpPr>
        <p:spPr>
          <a:xfrm>
            <a:off x="185419" y="89216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3300"/>
            </a:pPr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Implementation Method</a:t>
            </a:r>
          </a:p>
        </p:txBody>
      </p:sp>
    </p:spTree>
    <p:extLst>
      <p:ext uri="{BB962C8B-B14F-4D97-AF65-F5344CB8AC3E}">
        <p14:creationId xmlns:p14="http://schemas.microsoft.com/office/powerpoint/2010/main" val="36977392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Google Shape;118;p4">
            <a:extLst>
              <a:ext uri="{FF2B5EF4-FFF2-40B4-BE49-F238E27FC236}">
                <a16:creationId xmlns:a16="http://schemas.microsoft.com/office/drawing/2014/main" id="{2B727E9D-C2C9-FCDB-0AEC-2010FFD45BBE}"/>
              </a:ext>
            </a:extLst>
          </p:cNvPr>
          <p:cNvCxnSpPr>
            <a:cxnSpLocks/>
          </p:cNvCxnSpPr>
          <p:nvPr/>
        </p:nvCxnSpPr>
        <p:spPr>
          <a:xfrm>
            <a:off x="5330198" y="3355892"/>
            <a:ext cx="0" cy="649796"/>
          </a:xfrm>
          <a:prstGeom prst="straightConnector1">
            <a:avLst/>
          </a:prstGeom>
          <a:noFill/>
          <a:ln w="571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4" name="Google Shape;168;p4">
            <a:extLst>
              <a:ext uri="{FF2B5EF4-FFF2-40B4-BE49-F238E27FC236}">
                <a16:creationId xmlns:a16="http://schemas.microsoft.com/office/drawing/2014/main" id="{DF4D94DA-38A4-2FAB-A699-4D81AF4B20E9}"/>
              </a:ext>
            </a:extLst>
          </p:cNvPr>
          <p:cNvCxnSpPr>
            <a:cxnSpLocks/>
          </p:cNvCxnSpPr>
          <p:nvPr/>
        </p:nvCxnSpPr>
        <p:spPr>
          <a:xfrm>
            <a:off x="5138406" y="3669306"/>
            <a:ext cx="0" cy="324000"/>
          </a:xfrm>
          <a:prstGeom prst="straightConnector1">
            <a:avLst/>
          </a:prstGeom>
          <a:noFill/>
          <a:ln w="57150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9" name="Google Shape;155;p4">
            <a:extLst>
              <a:ext uri="{FF2B5EF4-FFF2-40B4-BE49-F238E27FC236}">
                <a16:creationId xmlns:a16="http://schemas.microsoft.com/office/drawing/2014/main" id="{88BBAF96-C2BC-51DB-D813-6D036B11652B}"/>
              </a:ext>
            </a:extLst>
          </p:cNvPr>
          <p:cNvCxnSpPr>
            <a:cxnSpLocks/>
          </p:cNvCxnSpPr>
          <p:nvPr/>
        </p:nvCxnSpPr>
        <p:spPr>
          <a:xfrm>
            <a:off x="4020407" y="3333226"/>
            <a:ext cx="0" cy="659825"/>
          </a:xfrm>
          <a:prstGeom prst="straightConnector1">
            <a:avLst/>
          </a:prstGeom>
          <a:noFill/>
          <a:ln w="571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0" name="Google Shape;168;p4">
            <a:extLst>
              <a:ext uri="{FF2B5EF4-FFF2-40B4-BE49-F238E27FC236}">
                <a16:creationId xmlns:a16="http://schemas.microsoft.com/office/drawing/2014/main" id="{02494D52-AA22-2073-50F0-8EE692E15461}"/>
              </a:ext>
            </a:extLst>
          </p:cNvPr>
          <p:cNvCxnSpPr>
            <a:cxnSpLocks/>
          </p:cNvCxnSpPr>
          <p:nvPr/>
        </p:nvCxnSpPr>
        <p:spPr>
          <a:xfrm>
            <a:off x="3839339" y="3660371"/>
            <a:ext cx="0" cy="324000"/>
          </a:xfrm>
          <a:prstGeom prst="straightConnector1">
            <a:avLst/>
          </a:prstGeom>
          <a:noFill/>
          <a:ln w="57150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1" name="Google Shape;118;p4">
            <a:extLst>
              <a:ext uri="{FF2B5EF4-FFF2-40B4-BE49-F238E27FC236}">
                <a16:creationId xmlns:a16="http://schemas.microsoft.com/office/drawing/2014/main" id="{D0F4864D-BB27-DADB-60AA-3A338CBACB9E}"/>
              </a:ext>
            </a:extLst>
          </p:cNvPr>
          <p:cNvCxnSpPr>
            <a:cxnSpLocks/>
          </p:cNvCxnSpPr>
          <p:nvPr/>
        </p:nvCxnSpPr>
        <p:spPr>
          <a:xfrm>
            <a:off x="6789851" y="3343255"/>
            <a:ext cx="0" cy="649796"/>
          </a:xfrm>
          <a:prstGeom prst="straightConnector1">
            <a:avLst/>
          </a:prstGeom>
          <a:noFill/>
          <a:ln w="571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2" name="Google Shape;119;p4">
            <a:extLst>
              <a:ext uri="{FF2B5EF4-FFF2-40B4-BE49-F238E27FC236}">
                <a16:creationId xmlns:a16="http://schemas.microsoft.com/office/drawing/2014/main" id="{97457FF3-BABD-BD1F-8827-C3D0CA0A7986}"/>
              </a:ext>
            </a:extLst>
          </p:cNvPr>
          <p:cNvCxnSpPr>
            <a:cxnSpLocks/>
          </p:cNvCxnSpPr>
          <p:nvPr/>
        </p:nvCxnSpPr>
        <p:spPr>
          <a:xfrm>
            <a:off x="8181490" y="3355892"/>
            <a:ext cx="11886" cy="637158"/>
          </a:xfrm>
          <a:prstGeom prst="straightConnector1">
            <a:avLst/>
          </a:prstGeom>
          <a:noFill/>
          <a:ln w="571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3" name="Google Shape;155;p4">
            <a:extLst>
              <a:ext uri="{FF2B5EF4-FFF2-40B4-BE49-F238E27FC236}">
                <a16:creationId xmlns:a16="http://schemas.microsoft.com/office/drawing/2014/main" id="{64C46789-7C96-BFFE-3EE2-65F7C3C417E7}"/>
              </a:ext>
            </a:extLst>
          </p:cNvPr>
          <p:cNvCxnSpPr>
            <a:cxnSpLocks/>
          </p:cNvCxnSpPr>
          <p:nvPr/>
        </p:nvCxnSpPr>
        <p:spPr>
          <a:xfrm>
            <a:off x="2553838" y="3333332"/>
            <a:ext cx="0" cy="659825"/>
          </a:xfrm>
          <a:prstGeom prst="straightConnector1">
            <a:avLst/>
          </a:prstGeom>
          <a:noFill/>
          <a:ln w="571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4" name="Google Shape;168;p4">
            <a:extLst>
              <a:ext uri="{FF2B5EF4-FFF2-40B4-BE49-F238E27FC236}">
                <a16:creationId xmlns:a16="http://schemas.microsoft.com/office/drawing/2014/main" id="{31AA6BF2-0690-F947-D977-953DCB23CD43}"/>
              </a:ext>
            </a:extLst>
          </p:cNvPr>
          <p:cNvCxnSpPr>
            <a:cxnSpLocks/>
          </p:cNvCxnSpPr>
          <p:nvPr/>
        </p:nvCxnSpPr>
        <p:spPr>
          <a:xfrm>
            <a:off x="6598059" y="3656669"/>
            <a:ext cx="0" cy="324000"/>
          </a:xfrm>
          <a:prstGeom prst="straightConnector1">
            <a:avLst/>
          </a:prstGeom>
          <a:noFill/>
          <a:ln w="57150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5" name="Google Shape;169;p4">
            <a:extLst>
              <a:ext uri="{FF2B5EF4-FFF2-40B4-BE49-F238E27FC236}">
                <a16:creationId xmlns:a16="http://schemas.microsoft.com/office/drawing/2014/main" id="{A6EED7C7-3BCC-7170-0051-CC7458DADC6F}"/>
              </a:ext>
            </a:extLst>
          </p:cNvPr>
          <p:cNvCxnSpPr>
            <a:cxnSpLocks/>
          </p:cNvCxnSpPr>
          <p:nvPr/>
        </p:nvCxnSpPr>
        <p:spPr>
          <a:xfrm>
            <a:off x="7989698" y="3669307"/>
            <a:ext cx="0" cy="324000"/>
          </a:xfrm>
          <a:prstGeom prst="straightConnector1">
            <a:avLst/>
          </a:prstGeom>
          <a:noFill/>
          <a:ln w="57150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6" name="Google Shape;168;p4">
            <a:extLst>
              <a:ext uri="{FF2B5EF4-FFF2-40B4-BE49-F238E27FC236}">
                <a16:creationId xmlns:a16="http://schemas.microsoft.com/office/drawing/2014/main" id="{82DC78EA-BC53-6870-490D-020E5B4CB541}"/>
              </a:ext>
            </a:extLst>
          </p:cNvPr>
          <p:cNvCxnSpPr>
            <a:cxnSpLocks/>
          </p:cNvCxnSpPr>
          <p:nvPr/>
        </p:nvCxnSpPr>
        <p:spPr>
          <a:xfrm>
            <a:off x="2372769" y="3660478"/>
            <a:ext cx="0" cy="324000"/>
          </a:xfrm>
          <a:prstGeom prst="straightConnector1">
            <a:avLst/>
          </a:prstGeom>
          <a:noFill/>
          <a:ln w="57150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45" name="Google Shape;145;p4"/>
          <p:cNvCxnSpPr>
            <a:cxnSpLocks/>
          </p:cNvCxnSpPr>
          <p:nvPr/>
        </p:nvCxnSpPr>
        <p:spPr>
          <a:xfrm>
            <a:off x="1803953" y="1040240"/>
            <a:ext cx="0" cy="3807000"/>
          </a:xfrm>
          <a:prstGeom prst="straightConnector1">
            <a:avLst/>
          </a:prstGeom>
          <a:noFill/>
          <a:ln w="57150" cap="flat" cmpd="sng">
            <a:solidFill>
              <a:srgbClr val="FB9937"/>
            </a:solidFill>
            <a:prstDash val="dash"/>
            <a:miter lim="800000"/>
            <a:headEnd type="none" w="sm" len="sm"/>
            <a:tailEnd type="none" w="sm" len="sm"/>
          </a:ln>
        </p:spPr>
      </p:cxnSp>
      <p:cxnSp>
        <p:nvCxnSpPr>
          <p:cNvPr id="146" name="Google Shape;146;p4"/>
          <p:cNvCxnSpPr>
            <a:cxnSpLocks/>
          </p:cNvCxnSpPr>
          <p:nvPr/>
        </p:nvCxnSpPr>
        <p:spPr>
          <a:xfrm>
            <a:off x="4546565" y="1040240"/>
            <a:ext cx="0" cy="3807000"/>
          </a:xfrm>
          <a:prstGeom prst="straightConnector1">
            <a:avLst/>
          </a:prstGeom>
          <a:noFill/>
          <a:ln w="57150" cap="flat" cmpd="sng">
            <a:solidFill>
              <a:srgbClr val="FB9937"/>
            </a:solidFill>
            <a:prstDash val="dash"/>
            <a:miter lim="800000"/>
            <a:headEnd type="none" w="sm" len="sm"/>
            <a:tailEnd type="none" w="sm" len="sm"/>
          </a:ln>
        </p:spPr>
      </p:cxnSp>
      <p:cxnSp>
        <p:nvCxnSpPr>
          <p:cNvPr id="147" name="Google Shape;147;p4"/>
          <p:cNvCxnSpPr>
            <a:cxnSpLocks/>
          </p:cNvCxnSpPr>
          <p:nvPr/>
        </p:nvCxnSpPr>
        <p:spPr>
          <a:xfrm>
            <a:off x="7338259" y="1024642"/>
            <a:ext cx="0" cy="3807000"/>
          </a:xfrm>
          <a:prstGeom prst="straightConnector1">
            <a:avLst/>
          </a:prstGeom>
          <a:noFill/>
          <a:ln w="57150" cap="flat" cmpd="sng">
            <a:solidFill>
              <a:srgbClr val="FB9937"/>
            </a:solidFill>
            <a:prstDash val="dash"/>
            <a:miter lim="800000"/>
            <a:headEnd type="none" w="sm" len="sm"/>
            <a:tailEnd type="none" w="sm" len="sm"/>
          </a:ln>
        </p:spPr>
      </p:cxnSp>
      <p:pic>
        <p:nvPicPr>
          <p:cNvPr id="151" name="Google Shape;151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85137" y="4124038"/>
            <a:ext cx="590220" cy="5902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83859" y="4124038"/>
            <a:ext cx="590220" cy="59022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9" name="Google Shape;159;p4"/>
          <p:cNvCxnSpPr/>
          <p:nvPr/>
        </p:nvCxnSpPr>
        <p:spPr>
          <a:xfrm>
            <a:off x="2522349" y="2554149"/>
            <a:ext cx="0" cy="373996"/>
          </a:xfrm>
          <a:prstGeom prst="straightConnector1">
            <a:avLst/>
          </a:prstGeom>
          <a:noFill/>
          <a:ln w="5715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60" name="Google Shape;160;p4"/>
          <p:cNvCxnSpPr/>
          <p:nvPr/>
        </p:nvCxnSpPr>
        <p:spPr>
          <a:xfrm>
            <a:off x="3865025" y="2554148"/>
            <a:ext cx="0" cy="373996"/>
          </a:xfrm>
          <a:prstGeom prst="straightConnector1">
            <a:avLst/>
          </a:prstGeom>
          <a:noFill/>
          <a:ln w="5715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61" name="Google Shape;161;p4"/>
          <p:cNvCxnSpPr/>
          <p:nvPr/>
        </p:nvCxnSpPr>
        <p:spPr>
          <a:xfrm>
            <a:off x="5266518" y="2554147"/>
            <a:ext cx="0" cy="373996"/>
          </a:xfrm>
          <a:prstGeom prst="straightConnector1">
            <a:avLst/>
          </a:prstGeom>
          <a:noFill/>
          <a:ln w="57150" cap="flat" cmpd="sng">
            <a:solidFill>
              <a:srgbClr val="B3C6E7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62" name="Google Shape;162;p4"/>
          <p:cNvCxnSpPr/>
          <p:nvPr/>
        </p:nvCxnSpPr>
        <p:spPr>
          <a:xfrm>
            <a:off x="6652511" y="2554147"/>
            <a:ext cx="0" cy="373996"/>
          </a:xfrm>
          <a:prstGeom prst="straightConnector1">
            <a:avLst/>
          </a:prstGeom>
          <a:noFill/>
          <a:ln w="57150" cap="flat" cmpd="sng">
            <a:solidFill>
              <a:srgbClr val="B3C6E7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63" name="Google Shape;163;p4"/>
          <p:cNvCxnSpPr/>
          <p:nvPr/>
        </p:nvCxnSpPr>
        <p:spPr>
          <a:xfrm>
            <a:off x="8078435" y="2554146"/>
            <a:ext cx="0" cy="373996"/>
          </a:xfrm>
          <a:prstGeom prst="straightConnector1">
            <a:avLst/>
          </a:prstGeom>
          <a:noFill/>
          <a:ln w="57150" cap="flat" cmpd="sng">
            <a:solidFill>
              <a:srgbClr val="B3C6E7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pSp>
        <p:nvGrpSpPr>
          <p:cNvPr id="121" name="Google Shape;121;p4"/>
          <p:cNvGrpSpPr/>
          <p:nvPr/>
        </p:nvGrpSpPr>
        <p:grpSpPr>
          <a:xfrm>
            <a:off x="628650" y="1603991"/>
            <a:ext cx="7886699" cy="951949"/>
            <a:chOff x="0" y="1053293"/>
            <a:chExt cx="10515598" cy="1269265"/>
          </a:xfrm>
        </p:grpSpPr>
        <p:sp>
          <p:nvSpPr>
            <p:cNvPr id="122" name="Google Shape;122;p4"/>
            <p:cNvSpPr/>
            <p:nvPr/>
          </p:nvSpPr>
          <p:spPr>
            <a:xfrm>
              <a:off x="0" y="1053293"/>
              <a:ext cx="1314449" cy="1269265"/>
            </a:xfrm>
            <a:prstGeom prst="roundRect">
              <a:avLst>
                <a:gd name="adj" fmla="val 10000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23" name="Google Shape;123;p4"/>
            <p:cNvSpPr txBox="1"/>
            <p:nvPr/>
          </p:nvSpPr>
          <p:spPr>
            <a:xfrm>
              <a:off x="37176" y="1090469"/>
              <a:ext cx="1240097" cy="11949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2863" tIns="42863" rIns="42863" bIns="42863" anchor="ctr" anchorCtr="0">
              <a:noAutofit/>
            </a:bodyPr>
            <a:lstStyle/>
            <a:p>
              <a:pPr algn="ctr">
                <a:lnSpc>
                  <a:spcPct val="90000"/>
                </a:lnSpc>
                <a:buClr>
                  <a:schemeClr val="lt1"/>
                </a:buClr>
                <a:buSzPts val="1500"/>
              </a:pPr>
              <a:r>
                <a:rPr lang="en-GB" sz="1125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Single cycle processor skeleton</a:t>
              </a:r>
              <a:endParaRPr sz="1125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" name="Google Shape;124;p4"/>
            <p:cNvSpPr/>
            <p:nvPr/>
          </p:nvSpPr>
          <p:spPr>
            <a:xfrm>
              <a:off x="1445895" y="1524934"/>
              <a:ext cx="278663" cy="325983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ABBADE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25" name="Google Shape;125;p4"/>
            <p:cNvSpPr txBox="1"/>
            <p:nvPr/>
          </p:nvSpPr>
          <p:spPr>
            <a:xfrm>
              <a:off x="1445895" y="1590131"/>
              <a:ext cx="195064" cy="1955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  <a:buClr>
                  <a:schemeClr val="dk1"/>
                </a:buClr>
                <a:buSzPts val="1200"/>
              </a:pPr>
              <a:endParaRPr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" name="Google Shape;126;p4"/>
            <p:cNvSpPr/>
            <p:nvPr/>
          </p:nvSpPr>
          <p:spPr>
            <a:xfrm>
              <a:off x="1840230" y="1053293"/>
              <a:ext cx="1314449" cy="1269265"/>
            </a:xfrm>
            <a:prstGeom prst="roundRect">
              <a:avLst>
                <a:gd name="adj" fmla="val 10000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27" name="Google Shape;127;p4"/>
            <p:cNvSpPr txBox="1"/>
            <p:nvPr/>
          </p:nvSpPr>
          <p:spPr>
            <a:xfrm>
              <a:off x="1877406" y="1090469"/>
              <a:ext cx="1240097" cy="11949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2863" tIns="42863" rIns="42863" bIns="42863" anchor="ctr" anchorCtr="0">
              <a:noAutofit/>
            </a:bodyPr>
            <a:lstStyle/>
            <a:p>
              <a:pPr algn="ctr">
                <a:lnSpc>
                  <a:spcPct val="90000"/>
                </a:lnSpc>
                <a:buClr>
                  <a:schemeClr val="lt1"/>
                </a:buClr>
                <a:buSzPts val="1500"/>
              </a:pPr>
              <a:r>
                <a:rPr lang="en-GB" sz="1125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Functional single cycle processor</a:t>
              </a:r>
              <a:endParaRPr sz="1125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" name="Google Shape;128;p4"/>
            <p:cNvSpPr/>
            <p:nvPr/>
          </p:nvSpPr>
          <p:spPr>
            <a:xfrm>
              <a:off x="3286125" y="1524934"/>
              <a:ext cx="278663" cy="325983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ABBADE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29" name="Google Shape;129;p4"/>
            <p:cNvSpPr txBox="1"/>
            <p:nvPr/>
          </p:nvSpPr>
          <p:spPr>
            <a:xfrm>
              <a:off x="3286125" y="1590131"/>
              <a:ext cx="195064" cy="1955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  <a:buClr>
                  <a:schemeClr val="dk1"/>
                </a:buClr>
                <a:buSzPts val="1200"/>
              </a:pPr>
              <a:endParaRPr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" name="Google Shape;130;p4"/>
            <p:cNvSpPr/>
            <p:nvPr/>
          </p:nvSpPr>
          <p:spPr>
            <a:xfrm>
              <a:off x="3680460" y="1053293"/>
              <a:ext cx="1314449" cy="1269265"/>
            </a:xfrm>
            <a:prstGeom prst="roundRect">
              <a:avLst>
                <a:gd name="adj" fmla="val 10000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31" name="Google Shape;131;p4"/>
            <p:cNvSpPr txBox="1"/>
            <p:nvPr/>
          </p:nvSpPr>
          <p:spPr>
            <a:xfrm>
              <a:off x="3717636" y="1090469"/>
              <a:ext cx="1240097" cy="11949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2863" tIns="42863" rIns="42863" bIns="42863" anchor="ctr" anchorCtr="0">
              <a:noAutofit/>
            </a:bodyPr>
            <a:lstStyle/>
            <a:p>
              <a:pPr algn="ctr">
                <a:lnSpc>
                  <a:spcPct val="90000"/>
                </a:lnSpc>
                <a:buClr>
                  <a:schemeClr val="lt1"/>
                </a:buClr>
                <a:buSzPts val="1500"/>
              </a:pPr>
              <a:r>
                <a:rPr lang="en-GB" sz="1125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Single cycle processor with multiplication</a:t>
              </a:r>
              <a:endParaRPr sz="1125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" name="Google Shape;132;p4"/>
            <p:cNvSpPr/>
            <p:nvPr/>
          </p:nvSpPr>
          <p:spPr>
            <a:xfrm>
              <a:off x="5126355" y="1524934"/>
              <a:ext cx="278663" cy="325983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ABBADE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33" name="Google Shape;133;p4"/>
            <p:cNvSpPr txBox="1"/>
            <p:nvPr/>
          </p:nvSpPr>
          <p:spPr>
            <a:xfrm>
              <a:off x="5126355" y="1590131"/>
              <a:ext cx="195064" cy="1955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  <a:buClr>
                  <a:schemeClr val="dk1"/>
                </a:buClr>
                <a:buSzPts val="1200"/>
              </a:pPr>
              <a:endParaRPr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" name="Google Shape;134;p4"/>
            <p:cNvSpPr/>
            <p:nvPr/>
          </p:nvSpPr>
          <p:spPr>
            <a:xfrm>
              <a:off x="5520690" y="1053293"/>
              <a:ext cx="1314449" cy="1269265"/>
            </a:xfrm>
            <a:prstGeom prst="roundRect">
              <a:avLst>
                <a:gd name="adj" fmla="val 10000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35" name="Google Shape;135;p4"/>
            <p:cNvSpPr txBox="1"/>
            <p:nvPr/>
          </p:nvSpPr>
          <p:spPr>
            <a:xfrm>
              <a:off x="5557866" y="1090469"/>
              <a:ext cx="1240097" cy="11949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2863" tIns="42863" rIns="42863" bIns="42863" anchor="ctr" anchorCtr="0">
              <a:noAutofit/>
            </a:bodyPr>
            <a:lstStyle/>
            <a:p>
              <a:pPr algn="ctr">
                <a:lnSpc>
                  <a:spcPct val="90000"/>
                </a:lnSpc>
                <a:buClr>
                  <a:schemeClr val="lt1"/>
                </a:buClr>
                <a:buSzPts val="1500"/>
              </a:pPr>
              <a:r>
                <a:rPr lang="en-GB" sz="1125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Pipelined processor</a:t>
              </a:r>
              <a:endParaRPr sz="1125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" name="Google Shape;136;p4"/>
            <p:cNvSpPr/>
            <p:nvPr/>
          </p:nvSpPr>
          <p:spPr>
            <a:xfrm>
              <a:off x="6966585" y="1524934"/>
              <a:ext cx="278663" cy="325983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ABBADE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37" name="Google Shape;137;p4"/>
            <p:cNvSpPr txBox="1"/>
            <p:nvPr/>
          </p:nvSpPr>
          <p:spPr>
            <a:xfrm>
              <a:off x="6966585" y="1590131"/>
              <a:ext cx="195064" cy="1955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  <a:buClr>
                  <a:schemeClr val="dk1"/>
                </a:buClr>
                <a:buSzPts val="1200"/>
              </a:pPr>
              <a:endParaRPr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" name="Google Shape;138;p4"/>
            <p:cNvSpPr/>
            <p:nvPr/>
          </p:nvSpPr>
          <p:spPr>
            <a:xfrm>
              <a:off x="7360920" y="1053293"/>
              <a:ext cx="1314449" cy="1269265"/>
            </a:xfrm>
            <a:prstGeom prst="roundRect">
              <a:avLst>
                <a:gd name="adj" fmla="val 10000"/>
              </a:avLst>
            </a:prstGeom>
            <a:solidFill>
              <a:schemeClr val="accent1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39" name="Google Shape;139;p4"/>
            <p:cNvSpPr txBox="1"/>
            <p:nvPr/>
          </p:nvSpPr>
          <p:spPr>
            <a:xfrm>
              <a:off x="7398096" y="1090469"/>
              <a:ext cx="1240097" cy="11949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2863" tIns="42863" rIns="42863" bIns="42863" anchor="ctr" anchorCtr="0">
              <a:noAutofit/>
            </a:bodyPr>
            <a:lstStyle/>
            <a:p>
              <a:pPr algn="ctr">
                <a:lnSpc>
                  <a:spcPct val="90000"/>
                </a:lnSpc>
                <a:buClr>
                  <a:schemeClr val="lt1"/>
                </a:buClr>
                <a:buSzPts val="1500"/>
              </a:pPr>
              <a:r>
                <a:rPr lang="en-GB" sz="1125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Pipelined processor with data hazard resolution</a:t>
              </a:r>
              <a:endParaRPr sz="1125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" name="Google Shape;140;p4"/>
            <p:cNvSpPr/>
            <p:nvPr/>
          </p:nvSpPr>
          <p:spPr>
            <a:xfrm>
              <a:off x="8806814" y="1524934"/>
              <a:ext cx="278663" cy="325983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ABBADE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41" name="Google Shape;141;p4"/>
            <p:cNvSpPr txBox="1"/>
            <p:nvPr/>
          </p:nvSpPr>
          <p:spPr>
            <a:xfrm>
              <a:off x="8806814" y="1590131"/>
              <a:ext cx="195064" cy="1955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  <a:buClr>
                  <a:schemeClr val="dk1"/>
                </a:buClr>
                <a:buSzPts val="1200"/>
              </a:pPr>
              <a:endParaRPr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" name="Google Shape;142;p4"/>
            <p:cNvSpPr/>
            <p:nvPr/>
          </p:nvSpPr>
          <p:spPr>
            <a:xfrm>
              <a:off x="9201149" y="1053293"/>
              <a:ext cx="1314449" cy="1269265"/>
            </a:xfrm>
            <a:prstGeom prst="roundRect">
              <a:avLst>
                <a:gd name="adj" fmla="val 10000"/>
              </a:avLst>
            </a:prstGeom>
            <a:solidFill>
              <a:srgbClr val="B3C6E7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43" name="Google Shape;143;p4"/>
            <p:cNvSpPr txBox="1"/>
            <p:nvPr/>
          </p:nvSpPr>
          <p:spPr>
            <a:xfrm>
              <a:off x="9238325" y="1090469"/>
              <a:ext cx="1240097" cy="11949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2863" tIns="42863" rIns="42863" bIns="42863" anchor="ctr" anchorCtr="0">
              <a:noAutofit/>
            </a:bodyPr>
            <a:lstStyle/>
            <a:p>
              <a:pPr algn="ctr">
                <a:lnSpc>
                  <a:spcPct val="90000"/>
                </a:lnSpc>
                <a:buClr>
                  <a:schemeClr val="lt1"/>
                </a:buClr>
                <a:buSzPts val="1500"/>
              </a:pPr>
              <a:r>
                <a:rPr lang="en-GB" sz="1125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Advanced acceleration </a:t>
              </a:r>
              <a:endParaRPr sz="1125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5" name="Google Shape;305;p13">
            <a:extLst>
              <a:ext uri="{FF2B5EF4-FFF2-40B4-BE49-F238E27FC236}">
                <a16:creationId xmlns:a16="http://schemas.microsoft.com/office/drawing/2014/main" id="{197E8DEF-9710-D971-1995-10DA669C5CE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52467" y="4118148"/>
            <a:ext cx="590220" cy="59022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306;p13">
            <a:extLst>
              <a:ext uri="{FF2B5EF4-FFF2-40B4-BE49-F238E27FC236}">
                <a16:creationId xmlns:a16="http://schemas.microsoft.com/office/drawing/2014/main" id="{4BF32D45-9167-5D5F-1260-3B8DA0CD516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28409" y="4118147"/>
            <a:ext cx="590220" cy="59022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308;p13">
            <a:extLst>
              <a:ext uri="{FF2B5EF4-FFF2-40B4-BE49-F238E27FC236}">
                <a16:creationId xmlns:a16="http://schemas.microsoft.com/office/drawing/2014/main" id="{3FCA85AD-39A2-B9D7-0ADF-B77FA25BEB4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26221" y="4169905"/>
            <a:ext cx="590220" cy="59022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57;p4">
            <a:extLst>
              <a:ext uri="{FF2B5EF4-FFF2-40B4-BE49-F238E27FC236}">
                <a16:creationId xmlns:a16="http://schemas.microsoft.com/office/drawing/2014/main" id="{92D95964-2695-06ED-21BE-7F5B3EF4F22D}"/>
              </a:ext>
            </a:extLst>
          </p:cNvPr>
          <p:cNvSpPr/>
          <p:nvPr/>
        </p:nvSpPr>
        <p:spPr>
          <a:xfrm>
            <a:off x="2129689" y="2938126"/>
            <a:ext cx="6494467" cy="395207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r>
              <a:rPr lang="en-GB"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Simulation</a:t>
            </a: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158;p4">
            <a:extLst>
              <a:ext uri="{FF2B5EF4-FFF2-40B4-BE49-F238E27FC236}">
                <a16:creationId xmlns:a16="http://schemas.microsoft.com/office/drawing/2014/main" id="{4DBD5539-C596-FFCD-C097-314A1AB05036}"/>
              </a:ext>
            </a:extLst>
          </p:cNvPr>
          <p:cNvSpPr/>
          <p:nvPr/>
        </p:nvSpPr>
        <p:spPr>
          <a:xfrm>
            <a:off x="2135180" y="3274100"/>
            <a:ext cx="6488978" cy="391397"/>
          </a:xfrm>
          <a:prstGeom prst="roundRect">
            <a:avLst>
              <a:gd name="adj" fmla="val 16667"/>
            </a:avLst>
          </a:prstGeom>
          <a:solidFill>
            <a:schemeClr val="accent6">
              <a:lumMod val="40000"/>
              <a:lumOff val="60000"/>
            </a:schemeClr>
          </a:solidFill>
          <a:ln w="12700" cap="flat" cmpd="sng">
            <a:solidFill>
              <a:srgbClr val="517E3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r>
              <a:rPr lang="en-GB" sz="135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Backend flow (synthesis-only)</a:t>
            </a:r>
            <a:endParaRPr lang="en-US" sz="135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" name="Google Shape;158;p4">
            <a:extLst>
              <a:ext uri="{FF2B5EF4-FFF2-40B4-BE49-F238E27FC236}">
                <a16:creationId xmlns:a16="http://schemas.microsoft.com/office/drawing/2014/main" id="{C3EE7B30-53EA-7CE5-949F-278E82E15B63}"/>
              </a:ext>
            </a:extLst>
          </p:cNvPr>
          <p:cNvSpPr/>
          <p:nvPr/>
        </p:nvSpPr>
        <p:spPr>
          <a:xfrm>
            <a:off x="4845930" y="3712957"/>
            <a:ext cx="2218125" cy="391397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 w="12700" cap="flat" cmpd="sng">
            <a:solidFill>
              <a:srgbClr val="517E3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r>
              <a:rPr lang="en-GB"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Backend flow (complete)</a:t>
            </a: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20;p4">
            <a:extLst>
              <a:ext uri="{FF2B5EF4-FFF2-40B4-BE49-F238E27FC236}">
                <a16:creationId xmlns:a16="http://schemas.microsoft.com/office/drawing/2014/main" id="{85A3CFCF-E8C0-C042-308D-E4D0D6936E9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19" y="52864"/>
            <a:ext cx="8866293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rmAutofit/>
          </a:bodyPr>
          <a:lstStyle/>
          <a:p>
            <a:pPr>
              <a:buSzPts val="4400"/>
            </a:pPr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Today’s session: Pipelined processor w/ hazard</a:t>
            </a:r>
            <a:endParaRPr/>
          </a:p>
        </p:txBody>
      </p:sp>
      <p:sp>
        <p:nvSpPr>
          <p:cNvPr id="19" name="Google Shape;148;p4">
            <a:extLst>
              <a:ext uri="{FF2B5EF4-FFF2-40B4-BE49-F238E27FC236}">
                <a16:creationId xmlns:a16="http://schemas.microsoft.com/office/drawing/2014/main" id="{3080C2C2-2259-8268-98ED-A7384F9CEAF8}"/>
              </a:ext>
            </a:extLst>
          </p:cNvPr>
          <p:cNvSpPr txBox="1"/>
          <p:nvPr/>
        </p:nvSpPr>
        <p:spPr>
          <a:xfrm>
            <a:off x="2277283" y="869989"/>
            <a:ext cx="1785838" cy="346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algn="ctr"/>
            <a:r>
              <a:rPr lang="en-GB" sz="1800" b="1">
                <a:solidFill>
                  <a:schemeClr val="bg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Session 1</a:t>
            </a:r>
            <a:endParaRPr sz="1800" b="1">
              <a:solidFill>
                <a:schemeClr val="bg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149;p4">
            <a:extLst>
              <a:ext uri="{FF2B5EF4-FFF2-40B4-BE49-F238E27FC236}">
                <a16:creationId xmlns:a16="http://schemas.microsoft.com/office/drawing/2014/main" id="{9E570D9A-E84D-F24B-E27B-BD613148DF83}"/>
              </a:ext>
            </a:extLst>
          </p:cNvPr>
          <p:cNvSpPr txBox="1"/>
          <p:nvPr/>
        </p:nvSpPr>
        <p:spPr>
          <a:xfrm>
            <a:off x="5065168" y="889783"/>
            <a:ext cx="1785838" cy="346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algn="ctr"/>
            <a:r>
              <a:rPr lang="en-GB" sz="1800" b="1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Session 2</a:t>
            </a:r>
            <a:endParaRPr sz="1800" b="1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150;p4">
            <a:extLst>
              <a:ext uri="{FF2B5EF4-FFF2-40B4-BE49-F238E27FC236}">
                <a16:creationId xmlns:a16="http://schemas.microsoft.com/office/drawing/2014/main" id="{732F8727-CB54-3C6D-23A1-34CD8B91EF71}"/>
              </a:ext>
            </a:extLst>
          </p:cNvPr>
          <p:cNvSpPr txBox="1"/>
          <p:nvPr/>
        </p:nvSpPr>
        <p:spPr>
          <a:xfrm>
            <a:off x="7115701" y="889783"/>
            <a:ext cx="1785838" cy="346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algn="ctr"/>
            <a:r>
              <a:rPr lang="en-GB" sz="1800" b="1">
                <a:solidFill>
                  <a:schemeClr val="bg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Session 3</a:t>
            </a:r>
            <a:endParaRPr sz="1800" b="1">
              <a:solidFill>
                <a:schemeClr val="bg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1F76498-4EE9-2874-1A0B-23066A0B500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smtClean="0"/>
              <a:pPr/>
              <a:t>16</a:t>
            </a:fld>
            <a:endParaRPr lang="en-GB"/>
          </a:p>
        </p:txBody>
      </p:sp>
      <p:sp>
        <p:nvSpPr>
          <p:cNvPr id="22" name="TextBox 8">
            <a:extLst>
              <a:ext uri="{FF2B5EF4-FFF2-40B4-BE49-F238E27FC236}">
                <a16:creationId xmlns:a16="http://schemas.microsoft.com/office/drawing/2014/main" id="{2FF847B5-95B7-A955-4E87-D016069F8027}"/>
              </a:ext>
            </a:extLst>
          </p:cNvPr>
          <p:cNvSpPr txBox="1"/>
          <p:nvPr/>
        </p:nvSpPr>
        <p:spPr>
          <a:xfrm>
            <a:off x="5289368" y="1118713"/>
            <a:ext cx="126953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[Apr-01/02]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29EDDED-1F5E-8957-980C-1217CAC3DF68}"/>
              </a:ext>
            </a:extLst>
          </p:cNvPr>
          <p:cNvSpPr txBox="1"/>
          <p:nvPr/>
        </p:nvSpPr>
        <p:spPr>
          <a:xfrm>
            <a:off x="4578306" y="2954230"/>
            <a:ext cx="3500129" cy="73866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2100" b="1">
                <a:solidFill>
                  <a:schemeClr val="bg1">
                    <a:lumMod val="65000"/>
                  </a:schemeClr>
                </a:solidFill>
              </a:rPr>
              <a:t>Obj-1: mult2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2100" b="1"/>
              <a:t>Obj-2: mult3</a:t>
            </a:r>
          </a:p>
        </p:txBody>
      </p:sp>
    </p:spTree>
    <p:extLst>
      <p:ext uri="{BB962C8B-B14F-4D97-AF65-F5344CB8AC3E}">
        <p14:creationId xmlns:p14="http://schemas.microsoft.com/office/powerpoint/2010/main" val="12413674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1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/>
              <a:t>Data Hazard Resolution</a:t>
            </a:r>
            <a:endParaRPr/>
          </a:p>
        </p:txBody>
      </p:sp>
      <p:sp>
        <p:nvSpPr>
          <p:cNvPr id="647" name="Google Shape;647;p1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sp>
        <p:nvSpPr>
          <p:cNvPr id="648" name="Google Shape;648;p13"/>
          <p:cNvSpPr txBox="1">
            <a:spLocks noGrp="1"/>
          </p:cNvSpPr>
          <p:nvPr>
            <p:ph type="body" idx="1"/>
          </p:nvPr>
        </p:nvSpPr>
        <p:spPr>
          <a:xfrm>
            <a:off x="628650" y="1370013"/>
            <a:ext cx="3886200" cy="3262312"/>
          </a:xfrm>
          <a:prstGeom prst="rect">
            <a:avLst/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</a:pPr>
            <a:r>
              <a:rPr lang="en-US" sz="7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# load operands </a:t>
            </a:r>
            <a:br>
              <a:rPr lang="en-US" sz="7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50" err="1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ld</a:t>
            </a:r>
            <a:r>
              <a:rPr lang="en-US" sz="7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x8, 0(x0)</a:t>
            </a:r>
            <a:br>
              <a:rPr lang="en-US" sz="7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50" err="1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ld</a:t>
            </a:r>
            <a:r>
              <a:rPr lang="en-US" sz="7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x9, 8(x0)</a:t>
            </a:r>
            <a:br>
              <a:rPr lang="en-US" sz="7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50" err="1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ld</a:t>
            </a:r>
            <a:r>
              <a:rPr lang="en-US" sz="7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x10, 16(x0)</a:t>
            </a:r>
            <a:br>
              <a:rPr lang="en-US" sz="7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50" err="1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ld</a:t>
            </a:r>
            <a:r>
              <a:rPr lang="en-US" sz="7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x11, 24(x0)</a:t>
            </a:r>
            <a:br>
              <a:rPr lang="en-US" sz="7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50" err="1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ld</a:t>
            </a:r>
            <a:r>
              <a:rPr lang="en-US" sz="7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x12, 32(x0)</a:t>
            </a:r>
            <a:br>
              <a:rPr lang="en-US" sz="7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50" err="1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ld</a:t>
            </a:r>
            <a:r>
              <a:rPr lang="en-US" sz="7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x13, 40(x0)</a:t>
            </a:r>
            <a:br>
              <a:rPr lang="en-US" sz="7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50" err="1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ld</a:t>
            </a:r>
            <a:r>
              <a:rPr lang="en-US" sz="7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x14, 48(x0)</a:t>
            </a:r>
            <a:br>
              <a:rPr lang="en-US" sz="7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50" err="1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ld</a:t>
            </a:r>
            <a:r>
              <a:rPr lang="en-US" sz="7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x15, 56(x0)</a:t>
            </a:r>
            <a:br>
              <a:rPr lang="en-US" sz="7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50" err="1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ld</a:t>
            </a:r>
            <a:r>
              <a:rPr lang="en-US" sz="7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x16, 64(x0)</a:t>
            </a:r>
            <a:br>
              <a:rPr lang="en-US" sz="7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50" err="1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ld</a:t>
            </a:r>
            <a:r>
              <a:rPr lang="en-US" sz="7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x17, 72(x0)</a:t>
            </a:r>
            <a:br>
              <a:rPr lang="en-US" sz="7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-US" sz="7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# multiplication</a:t>
            </a:r>
            <a:br>
              <a:rPr lang="en-US" sz="7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50" err="1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mul</a:t>
            </a:r>
            <a:r>
              <a:rPr lang="en-US" sz="7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x18, x8, x9</a:t>
            </a:r>
            <a:br>
              <a:rPr lang="en-US" sz="7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50" err="1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mul</a:t>
            </a:r>
            <a:r>
              <a:rPr lang="en-US" sz="7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x19, x10, x11</a:t>
            </a:r>
            <a:br>
              <a:rPr lang="en-US" sz="7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50" err="1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mul</a:t>
            </a:r>
            <a:r>
              <a:rPr lang="en-US" sz="7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x20, x12, x13</a:t>
            </a:r>
            <a:br>
              <a:rPr lang="en-US" sz="7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50" err="1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mul</a:t>
            </a:r>
            <a:r>
              <a:rPr lang="en-US" sz="7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x21, x14, x15</a:t>
            </a:r>
            <a:br>
              <a:rPr lang="en-US" sz="7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50" err="1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mul</a:t>
            </a:r>
            <a:r>
              <a:rPr lang="en-US" sz="7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x22, x16, x17</a:t>
            </a:r>
            <a:br>
              <a:rPr lang="en-US" sz="7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-US" sz="7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#sums</a:t>
            </a:r>
            <a:br>
              <a:rPr lang="en-US" sz="7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50" err="1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addi</a:t>
            </a:r>
            <a:r>
              <a:rPr lang="en-US" sz="7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x23, x0, 0</a:t>
            </a:r>
            <a:br>
              <a:rPr lang="en-US" sz="7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50" b="1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nop</a:t>
            </a:r>
            <a:br>
              <a:rPr lang="en-US" sz="75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50" b="1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nop</a:t>
            </a:r>
            <a:br>
              <a:rPr lang="en-US" sz="75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50" b="1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nop</a:t>
            </a:r>
            <a:br>
              <a:rPr lang="en-US" sz="7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add x23, x23, x18</a:t>
            </a:r>
            <a:endParaRPr/>
          </a:p>
        </p:txBody>
      </p:sp>
      <p:sp>
        <p:nvSpPr>
          <p:cNvPr id="649" name="Google Shape;649;p13"/>
          <p:cNvSpPr/>
          <p:nvPr/>
        </p:nvSpPr>
        <p:spPr>
          <a:xfrm>
            <a:off x="2618166" y="1538013"/>
            <a:ext cx="1573076" cy="2925916"/>
          </a:xfrm>
          <a:prstGeom prst="rect">
            <a:avLst/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5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1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nop</a:t>
            </a:r>
            <a:endParaRPr sz="750" b="1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1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nop</a:t>
            </a:r>
            <a:endParaRPr sz="750" b="1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1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nop</a:t>
            </a:r>
            <a:endParaRPr sz="750" b="1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add x23, x23, x19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1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nop</a:t>
            </a:r>
            <a:endParaRPr sz="750" b="1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1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nop</a:t>
            </a:r>
            <a:endParaRPr sz="750" b="1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1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nop</a:t>
            </a:r>
            <a:endParaRPr sz="750" b="1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add x23, x23, x20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1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nop</a:t>
            </a:r>
            <a:endParaRPr sz="750" b="1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1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nop</a:t>
            </a:r>
            <a:endParaRPr sz="750" b="1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1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nop</a:t>
            </a:r>
            <a:endParaRPr sz="750" b="1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add x23, x23, x21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1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nop</a:t>
            </a:r>
            <a:endParaRPr sz="750" b="1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1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nop</a:t>
            </a:r>
            <a:endParaRPr sz="750" b="1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1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nop</a:t>
            </a:r>
            <a:endParaRPr sz="750" b="1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add x23, x23, x22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1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nop</a:t>
            </a:r>
            <a:endParaRPr sz="750" b="1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1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nop</a:t>
            </a:r>
            <a:endParaRPr sz="750" b="1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1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nop</a:t>
            </a:r>
            <a:endParaRPr sz="750" b="1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1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nop</a:t>
            </a:r>
            <a:endParaRPr sz="750" b="1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50" name="Google Shape;650;p13"/>
          <p:cNvSpPr/>
          <p:nvPr/>
        </p:nvSpPr>
        <p:spPr>
          <a:xfrm>
            <a:off x="1845267" y="1779373"/>
            <a:ext cx="675511" cy="2559836"/>
          </a:xfrm>
          <a:custGeom>
            <a:avLst/>
            <a:gdLst/>
            <a:ahLst/>
            <a:cxnLst/>
            <a:rect l="l" t="t" r="r" b="b"/>
            <a:pathLst>
              <a:path w="968644" h="2892495" extrusionOk="0">
                <a:moveTo>
                  <a:pt x="0" y="2890434"/>
                </a:moveTo>
                <a:cubicBezTo>
                  <a:pt x="667073" y="2913035"/>
                  <a:pt x="719381" y="2750949"/>
                  <a:pt x="759418" y="2347993"/>
                </a:cubicBezTo>
                <a:cubicBezTo>
                  <a:pt x="799455" y="1945037"/>
                  <a:pt x="215685" y="951854"/>
                  <a:pt x="240224" y="472698"/>
                </a:cubicBezTo>
                <a:cubicBezTo>
                  <a:pt x="264763" y="-6458"/>
                  <a:pt x="774915" y="73617"/>
                  <a:pt x="968644" y="0"/>
                </a:cubicBezTo>
              </a:path>
            </a:pathLst>
          </a:custGeom>
          <a:noFill/>
          <a:ln w="28575" cap="flat" cmpd="sng">
            <a:solidFill>
              <a:srgbClr val="31538F"/>
            </a:solidFill>
            <a:prstDash val="solid"/>
            <a:miter lim="800000"/>
            <a:headEnd type="none" w="sm" len="sm"/>
            <a:tailEnd type="arrow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15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13"/>
          <p:cNvSpPr txBox="1"/>
          <p:nvPr/>
        </p:nvSpPr>
        <p:spPr>
          <a:xfrm>
            <a:off x="552063" y="1027587"/>
            <a:ext cx="987236" cy="341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20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MULT2</a:t>
            </a:r>
            <a:endParaRPr sz="1620">
              <a:solidFill>
                <a:schemeClr val="dk1"/>
              </a:solidFill>
              <a:highlight>
                <a:srgbClr val="FFFF0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13"/>
          <p:cNvSpPr txBox="1"/>
          <p:nvPr/>
        </p:nvSpPr>
        <p:spPr>
          <a:xfrm>
            <a:off x="4842471" y="1370013"/>
            <a:ext cx="3886200" cy="3262312"/>
          </a:xfrm>
          <a:prstGeom prst="rect">
            <a:avLst/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Font typeface="Arial"/>
              <a:buNone/>
            </a:pPr>
            <a:r>
              <a:rPr lang="en-US" sz="7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# load operands</a:t>
            </a:r>
            <a:br>
              <a:rPr lang="en-US" sz="7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50" err="1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ld</a:t>
            </a:r>
            <a:r>
              <a:rPr lang="en-US" sz="7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x8, 0(x0)</a:t>
            </a:r>
            <a:br>
              <a:rPr lang="en-US" sz="7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50" err="1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ld</a:t>
            </a:r>
            <a:r>
              <a:rPr lang="en-US" sz="7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x9, 8(x0)</a:t>
            </a:r>
            <a:br>
              <a:rPr lang="en-US" sz="7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50" err="1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ld</a:t>
            </a:r>
            <a:r>
              <a:rPr lang="en-US" sz="7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x10, 16(x0)</a:t>
            </a:r>
            <a:br>
              <a:rPr lang="en-US" sz="7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50" err="1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ld</a:t>
            </a:r>
            <a:r>
              <a:rPr lang="en-US" sz="7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x11, 24(x0)</a:t>
            </a:r>
            <a:br>
              <a:rPr lang="en-US" sz="7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50" err="1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ld</a:t>
            </a:r>
            <a:r>
              <a:rPr lang="en-US" sz="7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x12, 32(x0)</a:t>
            </a:r>
            <a:br>
              <a:rPr lang="en-US" sz="7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50" err="1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ld</a:t>
            </a:r>
            <a:r>
              <a:rPr lang="en-US" sz="7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x13, 40(x0)</a:t>
            </a:r>
            <a:br>
              <a:rPr lang="en-US" sz="7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50" err="1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ld</a:t>
            </a:r>
            <a:r>
              <a:rPr lang="en-US" sz="7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x14, 48(x0)</a:t>
            </a:r>
            <a:br>
              <a:rPr lang="en-US" sz="7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50" err="1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ld</a:t>
            </a:r>
            <a:r>
              <a:rPr lang="en-US" sz="7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x15, 56(x0)</a:t>
            </a:r>
            <a:br>
              <a:rPr lang="en-US" sz="7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50" err="1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ld</a:t>
            </a:r>
            <a:r>
              <a:rPr lang="en-US" sz="7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x16, 64(x0)</a:t>
            </a:r>
            <a:br>
              <a:rPr lang="en-US" sz="7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50" err="1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ld</a:t>
            </a:r>
            <a:r>
              <a:rPr lang="en-US" sz="7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x17, 72(x0)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750"/>
              <a:buFont typeface="Arial"/>
              <a:buNone/>
            </a:pPr>
            <a:br>
              <a:rPr lang="en-US" sz="7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# multiplication </a:t>
            </a:r>
            <a:br>
              <a:rPr lang="en-US" sz="7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50" err="1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mul</a:t>
            </a:r>
            <a:r>
              <a:rPr lang="en-US" sz="7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x18, x8,x9</a:t>
            </a:r>
            <a:br>
              <a:rPr lang="en-US" sz="7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50" err="1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mul</a:t>
            </a:r>
            <a:r>
              <a:rPr lang="en-US" sz="7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x19, x10, x11</a:t>
            </a:r>
            <a:br>
              <a:rPr lang="en-US" sz="7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50" err="1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mul</a:t>
            </a:r>
            <a:r>
              <a:rPr lang="en-US" sz="7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x20, x12, x13</a:t>
            </a:r>
            <a:br>
              <a:rPr lang="en-US" sz="7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50" err="1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mul</a:t>
            </a:r>
            <a:r>
              <a:rPr lang="en-US" sz="7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x21, x14, x15</a:t>
            </a:r>
            <a:br>
              <a:rPr lang="en-US" sz="7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50" err="1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mul</a:t>
            </a:r>
            <a:r>
              <a:rPr lang="en-US" sz="7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x22, x16, x17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750"/>
              <a:buFont typeface="Arial"/>
              <a:buNone/>
            </a:pPr>
            <a:r>
              <a:rPr lang="en-US" sz="7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#sums</a:t>
            </a:r>
            <a:br>
              <a:rPr lang="en-US" sz="7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50" err="1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addi</a:t>
            </a:r>
            <a:r>
              <a:rPr lang="en-US" sz="7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x23, x0, 0</a:t>
            </a:r>
            <a:br>
              <a:rPr lang="en-US" sz="7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add x23, x23, x18</a:t>
            </a:r>
            <a:br>
              <a:rPr lang="en-US" sz="7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add x23, x23, x19</a:t>
            </a:r>
            <a:br>
              <a:rPr lang="en-US" sz="7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add x23, x23, x20</a:t>
            </a:r>
            <a:br>
              <a:rPr lang="en-US" sz="7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add x23, x23, x21</a:t>
            </a:r>
            <a:br>
              <a:rPr lang="en-US" sz="7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add x23, x23, x22</a:t>
            </a:r>
            <a:endParaRPr/>
          </a:p>
        </p:txBody>
      </p:sp>
      <p:sp>
        <p:nvSpPr>
          <p:cNvPr id="653" name="Google Shape;653;p13"/>
          <p:cNvSpPr txBox="1"/>
          <p:nvPr/>
        </p:nvSpPr>
        <p:spPr>
          <a:xfrm>
            <a:off x="4807165" y="1015496"/>
            <a:ext cx="898125" cy="341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20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MULT3</a:t>
            </a:r>
            <a:endParaRPr sz="1620">
              <a:solidFill>
                <a:schemeClr val="dk1"/>
              </a:solidFill>
              <a:highlight>
                <a:srgbClr val="FFFF0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13"/>
          <p:cNvSpPr/>
          <p:nvPr/>
        </p:nvSpPr>
        <p:spPr>
          <a:xfrm>
            <a:off x="2628625" y="3082688"/>
            <a:ext cx="315900" cy="341700"/>
          </a:xfrm>
          <a:prstGeom prst="rect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6" name="Google Shape;656;p13"/>
          <p:cNvSpPr/>
          <p:nvPr/>
        </p:nvSpPr>
        <p:spPr>
          <a:xfrm>
            <a:off x="2628625" y="3525030"/>
            <a:ext cx="315900" cy="481200"/>
          </a:xfrm>
          <a:prstGeom prst="rect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7" name="Google Shape;657;p13"/>
          <p:cNvSpPr txBox="1"/>
          <p:nvPr/>
        </p:nvSpPr>
        <p:spPr>
          <a:xfrm>
            <a:off x="2960718" y="3113445"/>
            <a:ext cx="1492800" cy="28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2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x23 dependency</a:t>
            </a:r>
            <a:endParaRPr sz="1220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13"/>
          <p:cNvSpPr txBox="1"/>
          <p:nvPr/>
        </p:nvSpPr>
        <p:spPr>
          <a:xfrm>
            <a:off x="2960718" y="3625520"/>
            <a:ext cx="1492800" cy="28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2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Pipeline clean up</a:t>
            </a:r>
            <a:endParaRPr sz="1220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13"/>
          <p:cNvSpPr/>
          <p:nvPr/>
        </p:nvSpPr>
        <p:spPr>
          <a:xfrm>
            <a:off x="6599016" y="1662713"/>
            <a:ext cx="1573200" cy="2925900"/>
          </a:xfrm>
          <a:prstGeom prst="rect">
            <a:avLst/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1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nop</a:t>
            </a:r>
            <a:endParaRPr sz="750" b="1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1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nop</a:t>
            </a:r>
            <a:endParaRPr sz="750" b="1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1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nop</a:t>
            </a:r>
            <a:endParaRPr sz="750" b="1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1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nop</a:t>
            </a:r>
            <a:endParaRPr sz="750" b="1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50" b="1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60" name="Google Shape;660;p13"/>
          <p:cNvSpPr txBox="1"/>
          <p:nvPr/>
        </p:nvSpPr>
        <p:spPr>
          <a:xfrm>
            <a:off x="4965151" y="4339200"/>
            <a:ext cx="1633800" cy="28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2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Data Hazard resolved!</a:t>
            </a:r>
            <a:endParaRPr sz="1220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13"/>
          <p:cNvSpPr txBox="1"/>
          <p:nvPr/>
        </p:nvSpPr>
        <p:spPr>
          <a:xfrm>
            <a:off x="7022551" y="1711725"/>
            <a:ext cx="1334147" cy="467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122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Pipeline clean up is still required!</a:t>
            </a:r>
            <a:endParaRPr sz="1220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628;p14">
            <a:extLst>
              <a:ext uri="{FF2B5EF4-FFF2-40B4-BE49-F238E27FC236}">
                <a16:creationId xmlns:a16="http://schemas.microsoft.com/office/drawing/2014/main" id="{4F327363-2563-FF96-5C02-DF213E29EFDF}"/>
              </a:ext>
            </a:extLst>
          </p:cNvPr>
          <p:cNvSpPr txBox="1"/>
          <p:nvPr/>
        </p:nvSpPr>
        <p:spPr>
          <a:xfrm>
            <a:off x="514675" y="4618234"/>
            <a:ext cx="4266456" cy="341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20" b="1" i="1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  <a:sym typeface="Calibri"/>
              </a:rPr>
              <a:t>Software: Insert ‘</a:t>
            </a:r>
            <a:r>
              <a:rPr lang="en-US" sz="1620" b="1" i="1" err="1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  <a:sym typeface="Calibri"/>
              </a:rPr>
              <a:t>nop</a:t>
            </a:r>
            <a:r>
              <a:rPr lang="en-US" sz="1620" b="1" i="1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  <a:sym typeface="Calibri"/>
              </a:rPr>
              <a:t>’ to delay the pipeline.</a:t>
            </a:r>
          </a:p>
        </p:txBody>
      </p:sp>
      <p:sp>
        <p:nvSpPr>
          <p:cNvPr id="3" name="Google Shape;628;p14">
            <a:extLst>
              <a:ext uri="{FF2B5EF4-FFF2-40B4-BE49-F238E27FC236}">
                <a16:creationId xmlns:a16="http://schemas.microsoft.com/office/drawing/2014/main" id="{0CD83D24-4B10-DF0B-5131-C32AD3C17E7A}"/>
              </a:ext>
            </a:extLst>
          </p:cNvPr>
          <p:cNvSpPr txBox="1"/>
          <p:nvPr/>
        </p:nvSpPr>
        <p:spPr>
          <a:xfrm>
            <a:off x="4693078" y="4602909"/>
            <a:ext cx="4406896" cy="341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20" b="1" i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  <a:sym typeface="Calibri"/>
              </a:rPr>
              <a:t>Hardware: forwarding mechanism required.</a:t>
            </a:r>
          </a:p>
        </p:txBody>
      </p:sp>
    </p:spTree>
    <p:extLst>
      <p:ext uri="{BB962C8B-B14F-4D97-AF65-F5344CB8AC3E}">
        <p14:creationId xmlns:p14="http://schemas.microsoft.com/office/powerpoint/2010/main" val="42032281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1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/>
              <a:t>Data Hazard Example</a:t>
            </a:r>
            <a:endParaRPr/>
          </a:p>
        </p:txBody>
      </p:sp>
      <p:sp>
        <p:nvSpPr>
          <p:cNvPr id="626" name="Google Shape;626;p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pic>
        <p:nvPicPr>
          <p:cNvPr id="627" name="Google Shape;627;p14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593764" y="1025527"/>
            <a:ext cx="5956472" cy="3741736"/>
          </a:xfrm>
          <a:prstGeom prst="rect">
            <a:avLst/>
          </a:prstGeom>
          <a:noFill/>
          <a:ln>
            <a:noFill/>
          </a:ln>
        </p:spPr>
      </p:pic>
      <p:sp>
        <p:nvSpPr>
          <p:cNvPr id="628" name="Google Shape;628;p14"/>
          <p:cNvSpPr txBox="1"/>
          <p:nvPr/>
        </p:nvSpPr>
        <p:spPr>
          <a:xfrm>
            <a:off x="2614508" y="3388784"/>
            <a:ext cx="1777999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20" b="1" i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  <a:sym typeface="Calibri"/>
              </a:rPr>
              <a:t>Data is sent from the future.</a:t>
            </a:r>
            <a:endParaRPr sz="1620" b="1" i="1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  <a:cs typeface="Calibri"/>
              <a:sym typeface="Calibri"/>
            </a:endParaRPr>
          </a:p>
        </p:txBody>
      </p:sp>
      <p:sp>
        <p:nvSpPr>
          <p:cNvPr id="629" name="Google Shape;629;p14"/>
          <p:cNvSpPr txBox="1"/>
          <p:nvPr/>
        </p:nvSpPr>
        <p:spPr>
          <a:xfrm>
            <a:off x="1593772" y="4813900"/>
            <a:ext cx="3360000" cy="28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20" i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Patterson Book. FIGURE 4.50</a:t>
            </a:r>
            <a:endParaRPr sz="1220" i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" name="Google Shape;146;p4">
            <a:extLst>
              <a:ext uri="{FF2B5EF4-FFF2-40B4-BE49-F238E27FC236}">
                <a16:creationId xmlns:a16="http://schemas.microsoft.com/office/drawing/2014/main" id="{48F54FD1-5529-4AC6-6F91-92FFE1F4A989}"/>
              </a:ext>
            </a:extLst>
          </p:cNvPr>
          <p:cNvCxnSpPr>
            <a:cxnSpLocks/>
          </p:cNvCxnSpPr>
          <p:nvPr/>
        </p:nvCxnSpPr>
        <p:spPr>
          <a:xfrm>
            <a:off x="4892005" y="960263"/>
            <a:ext cx="0" cy="3807000"/>
          </a:xfrm>
          <a:prstGeom prst="straightConnector1">
            <a:avLst/>
          </a:prstGeom>
          <a:noFill/>
          <a:ln w="57150" cap="flat" cmpd="sng">
            <a:solidFill>
              <a:srgbClr val="FF0000"/>
            </a:solidFill>
            <a:prstDash val="dash"/>
            <a:miter lim="800000"/>
            <a:headEnd type="none" w="sm" len="sm"/>
            <a:tailEnd type="none" w="sm" len="sm"/>
          </a:ln>
        </p:spPr>
      </p:cxnSp>
      <p:sp>
        <p:nvSpPr>
          <p:cNvPr id="3" name="矩形 7">
            <a:extLst>
              <a:ext uri="{FF2B5EF4-FFF2-40B4-BE49-F238E27FC236}">
                <a16:creationId xmlns:a16="http://schemas.microsoft.com/office/drawing/2014/main" id="{8D55B529-1135-95A1-FFAA-8925F9D54DD9}"/>
              </a:ext>
            </a:extLst>
          </p:cNvPr>
          <p:cNvSpPr/>
          <p:nvPr/>
        </p:nvSpPr>
        <p:spPr>
          <a:xfrm>
            <a:off x="3602199" y="2192373"/>
            <a:ext cx="1206865" cy="114977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44003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17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/>
              <a:t>Data Hazard Resolution: Hardware</a:t>
            </a:r>
            <a:endParaRPr/>
          </a:p>
        </p:txBody>
      </p:sp>
      <p:sp>
        <p:nvSpPr>
          <p:cNvPr id="635" name="Google Shape;635;p1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pic>
        <p:nvPicPr>
          <p:cNvPr id="636" name="Google Shape;636;p17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593764" y="1025527"/>
            <a:ext cx="5956500" cy="37416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37" name="Google Shape;637;p17"/>
          <p:cNvCxnSpPr>
            <a:cxnSpLocks/>
          </p:cNvCxnSpPr>
          <p:nvPr/>
        </p:nvCxnSpPr>
        <p:spPr>
          <a:xfrm>
            <a:off x="4412075" y="1895650"/>
            <a:ext cx="17843" cy="534019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638" name="Google Shape;638;p17"/>
          <p:cNvCxnSpPr>
            <a:cxnSpLocks/>
          </p:cNvCxnSpPr>
          <p:nvPr/>
        </p:nvCxnSpPr>
        <p:spPr>
          <a:xfrm flipH="1">
            <a:off x="4948957" y="1898015"/>
            <a:ext cx="14626" cy="1372235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639" name="Google Shape;639;p17"/>
          <p:cNvCxnSpPr/>
          <p:nvPr/>
        </p:nvCxnSpPr>
        <p:spPr>
          <a:xfrm>
            <a:off x="5092700" y="1968500"/>
            <a:ext cx="146050" cy="17780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ysDash"/>
            <a:miter lim="800000"/>
            <a:headEnd type="none" w="sm" len="sm"/>
            <a:tailEnd type="triangle" w="med" len="med"/>
          </a:ln>
        </p:spPr>
      </p:cxnSp>
      <p:sp>
        <p:nvSpPr>
          <p:cNvPr id="641" name="Google Shape;641;p17"/>
          <p:cNvSpPr txBox="1"/>
          <p:nvPr/>
        </p:nvSpPr>
        <p:spPr>
          <a:xfrm>
            <a:off x="1593772" y="4813900"/>
            <a:ext cx="3360000" cy="28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20" i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Patterson Book. FIGURE 4.51</a:t>
            </a:r>
            <a:endParaRPr sz="1220" i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628;p14">
            <a:extLst>
              <a:ext uri="{FF2B5EF4-FFF2-40B4-BE49-F238E27FC236}">
                <a16:creationId xmlns:a16="http://schemas.microsoft.com/office/drawing/2014/main" id="{DFADADF1-2111-0653-28F6-CF28C0EDBEEB}"/>
              </a:ext>
            </a:extLst>
          </p:cNvPr>
          <p:cNvSpPr txBox="1"/>
          <p:nvPr/>
        </p:nvSpPr>
        <p:spPr>
          <a:xfrm>
            <a:off x="5374640" y="1724854"/>
            <a:ext cx="3705013" cy="341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20" b="1" i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  <a:sym typeface="Calibri"/>
              </a:rPr>
              <a:t>Forwarding from pipeline “shortcuts”</a:t>
            </a:r>
          </a:p>
        </p:txBody>
      </p:sp>
    </p:spTree>
    <p:extLst>
      <p:ext uri="{BB962C8B-B14F-4D97-AF65-F5344CB8AC3E}">
        <p14:creationId xmlns:p14="http://schemas.microsoft.com/office/powerpoint/2010/main" val="3548498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16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/>
              <a:t>Data Hazard Resolution – MULT3</a:t>
            </a:r>
            <a:endParaRPr/>
          </a:p>
        </p:txBody>
      </p:sp>
      <p:sp>
        <p:nvSpPr>
          <p:cNvPr id="674" name="Google Shape;674;p1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  <p:pic>
        <p:nvPicPr>
          <p:cNvPr id="675" name="Google Shape;675;p16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596611" y="1028700"/>
            <a:ext cx="5946365" cy="373538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76" name="Google Shape;676;p16"/>
          <p:cNvCxnSpPr>
            <a:cxnSpLocks/>
          </p:cNvCxnSpPr>
          <p:nvPr/>
        </p:nvCxnSpPr>
        <p:spPr>
          <a:xfrm>
            <a:off x="4378854" y="1847269"/>
            <a:ext cx="15346" cy="597481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" name="Google Shape;628;p14">
            <a:extLst>
              <a:ext uri="{FF2B5EF4-FFF2-40B4-BE49-F238E27FC236}">
                <a16:creationId xmlns:a16="http://schemas.microsoft.com/office/drawing/2014/main" id="{B9D1BC68-07CB-4D26-F0EB-44A19AFF61F8}"/>
              </a:ext>
            </a:extLst>
          </p:cNvPr>
          <p:cNvSpPr txBox="1"/>
          <p:nvPr/>
        </p:nvSpPr>
        <p:spPr>
          <a:xfrm>
            <a:off x="5389033" y="1681521"/>
            <a:ext cx="3705013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20" b="1" i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  <a:sym typeface="Calibri"/>
              </a:rPr>
              <a:t>Implement this MEM-&gt;EX forwarding at least.</a:t>
            </a:r>
          </a:p>
        </p:txBody>
      </p:sp>
      <p:cxnSp>
        <p:nvCxnSpPr>
          <p:cNvPr id="4" name="Google Shape;676;p16">
            <a:extLst>
              <a:ext uri="{FF2B5EF4-FFF2-40B4-BE49-F238E27FC236}">
                <a16:creationId xmlns:a16="http://schemas.microsoft.com/office/drawing/2014/main" id="{F1795B3C-49EE-A05A-C4C4-0DFB3AB6437E}"/>
              </a:ext>
            </a:extLst>
          </p:cNvPr>
          <p:cNvCxnSpPr>
            <a:cxnSpLocks/>
          </p:cNvCxnSpPr>
          <p:nvPr/>
        </p:nvCxnSpPr>
        <p:spPr>
          <a:xfrm>
            <a:off x="4965118" y="2497139"/>
            <a:ext cx="8202" cy="604625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" name="Google Shape;676;p16">
            <a:extLst>
              <a:ext uri="{FF2B5EF4-FFF2-40B4-BE49-F238E27FC236}">
                <a16:creationId xmlns:a16="http://schemas.microsoft.com/office/drawing/2014/main" id="{52A91B0D-71BF-6E96-4CB0-3C027E39DA60}"/>
              </a:ext>
            </a:extLst>
          </p:cNvPr>
          <p:cNvCxnSpPr>
            <a:cxnSpLocks/>
          </p:cNvCxnSpPr>
          <p:nvPr/>
        </p:nvCxnSpPr>
        <p:spPr>
          <a:xfrm>
            <a:off x="5524764" y="3195108"/>
            <a:ext cx="8202" cy="533188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6" name="Google Shape;676;p16">
            <a:extLst>
              <a:ext uri="{FF2B5EF4-FFF2-40B4-BE49-F238E27FC236}">
                <a16:creationId xmlns:a16="http://schemas.microsoft.com/office/drawing/2014/main" id="{7EE3A3D9-F0A9-8C91-4F26-43E79F87E07B}"/>
              </a:ext>
            </a:extLst>
          </p:cNvPr>
          <p:cNvCxnSpPr>
            <a:cxnSpLocks/>
          </p:cNvCxnSpPr>
          <p:nvPr/>
        </p:nvCxnSpPr>
        <p:spPr>
          <a:xfrm>
            <a:off x="6111028" y="3816404"/>
            <a:ext cx="1058" cy="568906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15921583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18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/>
              <a:t>Implementation: Forwarding unit</a:t>
            </a:r>
            <a:endParaRPr/>
          </a:p>
        </p:txBody>
      </p:sp>
      <p:pic>
        <p:nvPicPr>
          <p:cNvPr id="686" name="Google Shape;686;p18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61148" y="1307253"/>
            <a:ext cx="5952462" cy="3294756"/>
          </a:xfrm>
          <a:prstGeom prst="rect">
            <a:avLst/>
          </a:prstGeom>
          <a:noFill/>
          <a:ln>
            <a:noFill/>
          </a:ln>
        </p:spPr>
      </p:pic>
      <p:sp>
        <p:nvSpPr>
          <p:cNvPr id="687" name="Google Shape;687;p1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  <p:sp>
        <p:nvSpPr>
          <p:cNvPr id="689" name="Google Shape;689;p18"/>
          <p:cNvSpPr/>
          <p:nvPr/>
        </p:nvSpPr>
        <p:spPr>
          <a:xfrm>
            <a:off x="3686098" y="3890318"/>
            <a:ext cx="593835" cy="450238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2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18"/>
          <p:cNvSpPr/>
          <p:nvPr/>
        </p:nvSpPr>
        <p:spPr>
          <a:xfrm>
            <a:off x="3171325" y="1932082"/>
            <a:ext cx="356877" cy="138666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2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557;p11">
            <a:extLst>
              <a:ext uri="{FF2B5EF4-FFF2-40B4-BE49-F238E27FC236}">
                <a16:creationId xmlns:a16="http://schemas.microsoft.com/office/drawing/2014/main" id="{2EE3048A-20B5-2D2F-863C-CBB1C711CC77}"/>
              </a:ext>
            </a:extLst>
          </p:cNvPr>
          <p:cNvSpPr txBox="1">
            <a:spLocks/>
          </p:cNvSpPr>
          <p:nvPr/>
        </p:nvSpPr>
        <p:spPr>
          <a:xfrm>
            <a:off x="6204373" y="1646659"/>
            <a:ext cx="2878479" cy="2366541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spcBef>
                <a:spcPts val="0"/>
              </a:spcBef>
              <a:buClr>
                <a:srgbClr val="A8D08C"/>
              </a:buClr>
              <a:buSzPct val="100000"/>
              <a:buFont typeface="Arial"/>
              <a:buNone/>
            </a:pPr>
            <a:r>
              <a:rPr lang="en-US" altLang="zh-CN" sz="1100" b="1">
                <a:solidFill>
                  <a:srgbClr val="A8D08C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// </a:t>
            </a:r>
            <a:r>
              <a:rPr lang="en-US" altLang="zh-CN" sz="1100" b="1" err="1">
                <a:solidFill>
                  <a:srgbClr val="A8D08C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your_fw_fname.v</a:t>
            </a:r>
            <a:r>
              <a:rPr lang="en-US" altLang="zh-CN" sz="1100" b="1">
                <a:solidFill>
                  <a:srgbClr val="A8D08C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 or an/existing/Verilog/file</a:t>
            </a:r>
          </a:p>
          <a:p>
            <a:pPr marL="0" indent="0">
              <a:spcBef>
                <a:spcPts val="0"/>
              </a:spcBef>
              <a:buClr>
                <a:srgbClr val="A8D08C"/>
              </a:buClr>
              <a:buSzPct val="100000"/>
              <a:buFont typeface="Arial"/>
              <a:buNone/>
            </a:pPr>
            <a:endParaRPr lang="en-US" sz="1400" b="1">
              <a:solidFill>
                <a:srgbClr val="A8D08C"/>
              </a:solidFill>
              <a:latin typeface="Consolas"/>
              <a:ea typeface="Consolas"/>
              <a:cs typeface="Calibri" panose="020F0502020204030204" pitchFamily="34" charset="0"/>
              <a:sym typeface="Consolas"/>
            </a:endParaRPr>
          </a:p>
          <a:p>
            <a:pPr marL="0" indent="0">
              <a:spcBef>
                <a:spcPts val="0"/>
              </a:spcBef>
              <a:buClr>
                <a:srgbClr val="A8D08C"/>
              </a:buClr>
              <a:buSzPct val="100000"/>
              <a:buFont typeface="Arial"/>
              <a:buNone/>
            </a:pPr>
            <a:r>
              <a:rPr lang="en-US" sz="1050" b="1">
                <a:solidFill>
                  <a:schemeClr val="accent1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module</a:t>
            </a:r>
            <a:r>
              <a:rPr lang="en-US" sz="1050" b="1">
                <a:solidFill>
                  <a:srgbClr val="A8D08C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 </a:t>
            </a:r>
            <a:r>
              <a:rPr lang="en-US" sz="1050" b="1">
                <a:solidFill>
                  <a:srgbClr val="BEBEBE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YOUR_FW_UNIT_NAME#(</a:t>
            </a:r>
          </a:p>
          <a:p>
            <a:pPr marL="0" indent="0">
              <a:spcBef>
                <a:spcPts val="0"/>
              </a:spcBef>
              <a:buClr>
                <a:srgbClr val="A8D08C"/>
              </a:buClr>
              <a:buSzPct val="100000"/>
              <a:buFont typeface="Arial"/>
              <a:buNone/>
            </a:pPr>
            <a:r>
              <a:rPr lang="en-US" sz="1050" b="1">
                <a:solidFill>
                  <a:schemeClr val="accent1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parameter integer </a:t>
            </a:r>
            <a:r>
              <a:rPr lang="en-US" sz="1050" b="1">
                <a:solidFill>
                  <a:srgbClr val="BEBEBE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… (if needed)</a:t>
            </a:r>
          </a:p>
          <a:p>
            <a:pPr marL="0" indent="0">
              <a:spcBef>
                <a:spcPts val="0"/>
              </a:spcBef>
              <a:buClr>
                <a:srgbClr val="A8D08C"/>
              </a:buClr>
              <a:buSzPct val="100000"/>
              <a:buFont typeface="Arial"/>
              <a:buNone/>
            </a:pPr>
            <a:r>
              <a:rPr lang="en-US" sz="1050" b="1">
                <a:solidFill>
                  <a:srgbClr val="BEBEBE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   )(</a:t>
            </a:r>
          </a:p>
          <a:p>
            <a:pPr marL="0" indent="0">
              <a:spcBef>
                <a:spcPts val="0"/>
              </a:spcBef>
              <a:buClr>
                <a:srgbClr val="A8D08C"/>
              </a:buClr>
              <a:buSzPct val="100000"/>
              <a:buFont typeface="Arial"/>
              <a:buNone/>
            </a:pPr>
            <a:r>
              <a:rPr lang="en-US" sz="1050" b="1">
                <a:solidFill>
                  <a:srgbClr val="A8D08C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      </a:t>
            </a:r>
            <a:r>
              <a:rPr lang="en-US" sz="1050" b="1">
                <a:solidFill>
                  <a:schemeClr val="accent1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input</a:t>
            </a:r>
            <a:r>
              <a:rPr lang="en-US" sz="1050" b="1">
                <a:solidFill>
                  <a:srgbClr val="A8D08C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                 </a:t>
            </a:r>
            <a:r>
              <a:rPr lang="en-US" sz="1050" b="1">
                <a:solidFill>
                  <a:schemeClr val="bg1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 </a:t>
            </a:r>
            <a:r>
              <a:rPr lang="en-US" sz="1050" b="1">
                <a:solidFill>
                  <a:srgbClr val="BEBEBE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…,</a:t>
            </a:r>
          </a:p>
          <a:p>
            <a:pPr marL="0" indent="0">
              <a:spcBef>
                <a:spcPts val="0"/>
              </a:spcBef>
              <a:buClr>
                <a:srgbClr val="A8D08C"/>
              </a:buClr>
              <a:buSzPct val="100000"/>
              <a:buFont typeface="Arial"/>
              <a:buNone/>
            </a:pPr>
            <a:r>
              <a:rPr lang="en-US" sz="1050" b="1">
                <a:solidFill>
                  <a:schemeClr val="accent1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      input</a:t>
            </a:r>
            <a:r>
              <a:rPr lang="en-US" sz="1050" b="1">
                <a:solidFill>
                  <a:srgbClr val="A8D08C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  </a:t>
            </a:r>
            <a:r>
              <a:rPr lang="en-US" sz="1050" b="1">
                <a:solidFill>
                  <a:srgbClr val="BEBEBE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[ ?:0]          …,</a:t>
            </a:r>
          </a:p>
          <a:p>
            <a:pPr marL="0" indent="0">
              <a:spcBef>
                <a:spcPts val="0"/>
              </a:spcBef>
              <a:buClr>
                <a:srgbClr val="A8D08C"/>
              </a:buClr>
              <a:buSzPct val="100000"/>
              <a:buFont typeface="Arial"/>
              <a:buNone/>
            </a:pPr>
            <a:r>
              <a:rPr lang="en-US" sz="1050" b="1">
                <a:solidFill>
                  <a:srgbClr val="A8D08C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      </a:t>
            </a:r>
            <a:r>
              <a:rPr lang="en-US" sz="1050" b="1">
                <a:solidFill>
                  <a:schemeClr val="accent1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output</a:t>
            </a:r>
            <a:r>
              <a:rPr lang="en-US" sz="1050" b="1">
                <a:solidFill>
                  <a:srgbClr val="A8D08C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 </a:t>
            </a:r>
            <a:r>
              <a:rPr lang="en-US" sz="1050" b="1">
                <a:solidFill>
                  <a:srgbClr val="BEBEBE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[ ?:0]          …</a:t>
            </a:r>
          </a:p>
          <a:p>
            <a:pPr marL="0" indent="0">
              <a:spcBef>
                <a:spcPts val="0"/>
              </a:spcBef>
              <a:buClr>
                <a:srgbClr val="A8D08C"/>
              </a:buClr>
              <a:buSzPct val="100000"/>
              <a:buFont typeface="Arial"/>
              <a:buNone/>
            </a:pPr>
            <a:r>
              <a:rPr lang="en-US" sz="1050" b="1">
                <a:solidFill>
                  <a:srgbClr val="BEBEBE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);</a:t>
            </a:r>
          </a:p>
          <a:p>
            <a:pPr marL="0" indent="0">
              <a:spcBef>
                <a:spcPts val="0"/>
              </a:spcBef>
              <a:buClr>
                <a:srgbClr val="A8D08C"/>
              </a:buClr>
              <a:buSzPct val="100000"/>
              <a:buFont typeface="Arial"/>
              <a:buNone/>
            </a:pPr>
            <a:r>
              <a:rPr lang="en-US" sz="1050" b="1">
                <a:solidFill>
                  <a:srgbClr val="BEBEBE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    </a:t>
            </a:r>
          </a:p>
          <a:p>
            <a:pPr marL="0" indent="0">
              <a:spcBef>
                <a:spcPts val="0"/>
              </a:spcBef>
              <a:buClr>
                <a:srgbClr val="A8D08C"/>
              </a:buClr>
              <a:buSzPct val="100000"/>
              <a:buFont typeface="Arial"/>
              <a:buNone/>
            </a:pPr>
            <a:r>
              <a:rPr lang="en-US" sz="1050" b="1">
                <a:solidFill>
                  <a:srgbClr val="BEBEBE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    YOUR_FW_UNIT_LOGIC;</a:t>
            </a:r>
          </a:p>
          <a:p>
            <a:pPr marL="0" indent="0">
              <a:spcBef>
                <a:spcPts val="0"/>
              </a:spcBef>
              <a:buClr>
                <a:srgbClr val="A8D08C"/>
              </a:buClr>
              <a:buSzPct val="100000"/>
              <a:buFont typeface="Arial"/>
              <a:buNone/>
            </a:pPr>
            <a:endParaRPr lang="en-US" sz="1050" b="1">
              <a:solidFill>
                <a:srgbClr val="BEBEBE"/>
              </a:solidFill>
              <a:latin typeface="Consolas"/>
              <a:ea typeface="Consolas"/>
              <a:cs typeface="Calibri" panose="020F0502020204030204" pitchFamily="34" charset="0"/>
              <a:sym typeface="Consolas"/>
            </a:endParaRPr>
          </a:p>
          <a:p>
            <a:pPr marL="0" indent="0">
              <a:spcBef>
                <a:spcPts val="0"/>
              </a:spcBef>
              <a:buClr>
                <a:srgbClr val="A8D08C"/>
              </a:buClr>
              <a:buSzPct val="100000"/>
              <a:buFont typeface="Arial"/>
              <a:buNone/>
            </a:pPr>
            <a:r>
              <a:rPr lang="en-US" sz="1050" b="1" err="1">
                <a:solidFill>
                  <a:schemeClr val="accent1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endmodule</a:t>
            </a:r>
            <a:endParaRPr lang="en-US" sz="1050">
              <a:solidFill>
                <a:srgbClr val="BEBEBE"/>
              </a:solidFill>
              <a:latin typeface="Consolas"/>
              <a:ea typeface="Consolas"/>
              <a:cs typeface="Calibri" panose="020F0502020204030204" pitchFamily="34" charset="0"/>
              <a:sym typeface="Consolas"/>
            </a:endParaRPr>
          </a:p>
        </p:txBody>
      </p:sp>
      <p:sp>
        <p:nvSpPr>
          <p:cNvPr id="3" name="Google Shape;550;p10">
            <a:extLst>
              <a:ext uri="{FF2B5EF4-FFF2-40B4-BE49-F238E27FC236}">
                <a16:creationId xmlns:a16="http://schemas.microsoft.com/office/drawing/2014/main" id="{AA04F5F3-DE8A-7B19-E083-28DA593B9F63}"/>
              </a:ext>
            </a:extLst>
          </p:cNvPr>
          <p:cNvSpPr txBox="1"/>
          <p:nvPr/>
        </p:nvSpPr>
        <p:spPr>
          <a:xfrm>
            <a:off x="6204373" y="4013200"/>
            <a:ext cx="3036902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  <a:sym typeface="Calibri"/>
              </a:rPr>
              <a:t>Refer to slides: Implementation Method</a:t>
            </a:r>
            <a:endParaRPr sz="1200" b="1" i="1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915936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1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/>
              <a:t>Obj-2: mult3</a:t>
            </a:r>
            <a:endParaRPr/>
          </a:p>
        </p:txBody>
      </p:sp>
      <p:sp>
        <p:nvSpPr>
          <p:cNvPr id="697" name="Google Shape;697;p19"/>
          <p:cNvSpPr txBox="1">
            <a:spLocks noGrp="1"/>
          </p:cNvSpPr>
          <p:nvPr>
            <p:ph type="body" idx="1"/>
          </p:nvPr>
        </p:nvSpPr>
        <p:spPr>
          <a:xfrm>
            <a:off x="348712" y="1369219"/>
            <a:ext cx="4166138" cy="36464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17145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US"/>
              <a:t>Pipelined processor with data hazard resolution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/>
          </a:p>
          <a:p>
            <a:pPr marL="514350" lvl="1" indent="-1714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Implement a forwarding unit to resolve the data hazard</a:t>
            </a:r>
            <a:endParaRPr/>
          </a:p>
          <a:p>
            <a:pPr marL="514350" lvl="1" indent="-571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>
              <a:solidFill>
                <a:srgbClr val="00000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14350" lvl="1" indent="-1714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000A"/>
              </a:buClr>
              <a:buSzPts val="1800"/>
              <a:buChar char="•"/>
            </a:pPr>
            <a:r>
              <a:rPr lang="en-US">
                <a:solidFill>
                  <a:srgbClr val="00000A"/>
                </a:solidFill>
                <a:latin typeface="Calibri"/>
                <a:ea typeface="Calibri"/>
                <a:cs typeface="Calibri"/>
                <a:sym typeface="Calibri"/>
              </a:rPr>
              <a:t>Run </a:t>
            </a:r>
            <a:r>
              <a:rPr lang="en-US">
                <a:solidFill>
                  <a:srgbClr val="00000A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MULT3</a:t>
            </a:r>
            <a:endParaRPr>
              <a:highlight>
                <a:srgbClr val="FFFF00"/>
              </a:highlight>
            </a:endParaRPr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/>
          </a:p>
          <a:p>
            <a:pPr marL="514350" lvl="1" indent="-1714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000A"/>
              </a:buClr>
              <a:buSzPts val="1800"/>
              <a:buChar char="•"/>
            </a:pPr>
            <a:r>
              <a:rPr lang="en-US">
                <a:solidFill>
                  <a:srgbClr val="00000A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/>
              </a:rPr>
              <a:t>Run backend flow</a:t>
            </a:r>
            <a:endParaRPr lang="en-US">
              <a:solidFill>
                <a:srgbClr val="00000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71550" lvl="2" indent="-171450">
              <a:buClr>
                <a:srgbClr val="00000A"/>
              </a:buClr>
            </a:pPr>
            <a:r>
              <a:rPr lang="en-US">
                <a:solidFill>
                  <a:srgbClr val="00000A"/>
                </a:solidFill>
                <a:latin typeface="Calibri"/>
                <a:ea typeface="Calibri"/>
                <a:cs typeface="Calibri"/>
                <a:sym typeface="Calibri"/>
              </a:rPr>
              <a:t>Synthesize</a:t>
            </a:r>
          </a:p>
          <a:p>
            <a:pPr marL="971550" lvl="2" indent="-171450">
              <a:buClr>
                <a:srgbClr val="00000A"/>
              </a:buClr>
            </a:pPr>
            <a:endParaRPr lang="en-US">
              <a:solidFill>
                <a:srgbClr val="00000A"/>
              </a:solidFill>
            </a:endParaRPr>
          </a:p>
          <a:p>
            <a:pPr marL="514350" lvl="1" indent="-171450">
              <a:buClr>
                <a:srgbClr val="00000A"/>
              </a:buClr>
            </a:pPr>
            <a:r>
              <a:rPr lang="en-US">
                <a:solidFill>
                  <a:srgbClr val="00000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Complete the report</a:t>
            </a:r>
          </a:p>
          <a:p>
            <a:pPr marL="514350" lvl="1" indent="-171450">
              <a:buClr>
                <a:srgbClr val="00000A"/>
              </a:buClr>
            </a:pPr>
            <a:endParaRPr/>
          </a:p>
        </p:txBody>
      </p:sp>
      <p:sp>
        <p:nvSpPr>
          <p:cNvPr id="698" name="Google Shape;698;p19"/>
          <p:cNvSpPr txBox="1"/>
          <p:nvPr/>
        </p:nvSpPr>
        <p:spPr>
          <a:xfrm>
            <a:off x="4572000" y="1027587"/>
            <a:ext cx="1026450" cy="341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20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MULT3</a:t>
            </a:r>
            <a:endParaRPr sz="1620">
              <a:solidFill>
                <a:schemeClr val="dk1"/>
              </a:solidFill>
              <a:highlight>
                <a:srgbClr val="FFFF0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19"/>
          <p:cNvSpPr txBox="1">
            <a:spLocks noGrp="1"/>
          </p:cNvSpPr>
          <p:nvPr>
            <p:ph type="body" idx="2"/>
          </p:nvPr>
        </p:nvSpPr>
        <p:spPr>
          <a:xfrm>
            <a:off x="4629150" y="1370013"/>
            <a:ext cx="3886200" cy="3262312"/>
          </a:xfrm>
          <a:prstGeom prst="rect">
            <a:avLst/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Font typeface="Arial"/>
              <a:buNone/>
            </a:pPr>
            <a:r>
              <a:rPr lang="en-US" sz="75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# load operands</a:t>
            </a:r>
            <a:br>
              <a:rPr lang="en-US" sz="75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5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ld x8, 0(x0)</a:t>
            </a:r>
            <a:br>
              <a:rPr lang="en-US" sz="75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5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ld x9, 8(x0)</a:t>
            </a:r>
            <a:br>
              <a:rPr lang="en-US" sz="75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5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ld x10, 16(x0)</a:t>
            </a:r>
            <a:br>
              <a:rPr lang="en-US" sz="75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5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ld x11, 24(x0)</a:t>
            </a:r>
            <a:br>
              <a:rPr lang="en-US" sz="75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5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ld x12, 32(x0)</a:t>
            </a:r>
            <a:br>
              <a:rPr lang="en-US" sz="75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5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ld x13, 40(x0)</a:t>
            </a:r>
            <a:br>
              <a:rPr lang="en-US" sz="75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5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ld x14, 48(x0)</a:t>
            </a:r>
            <a:br>
              <a:rPr lang="en-US" sz="75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5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ld x15, 56(x0)</a:t>
            </a:r>
            <a:br>
              <a:rPr lang="en-US" sz="75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5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ld x16, 64(x0)</a:t>
            </a:r>
            <a:br>
              <a:rPr lang="en-US" sz="75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5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ld x17, 72(x0)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750"/>
              <a:buFont typeface="Arial"/>
              <a:buNone/>
            </a:pPr>
            <a:br>
              <a:rPr lang="en-US" sz="75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5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# multiplication </a:t>
            </a:r>
            <a:br>
              <a:rPr lang="en-US" sz="75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5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mul x18, x8,x9</a:t>
            </a:r>
            <a:br>
              <a:rPr lang="en-US" sz="75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5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mul x19, x10, x11</a:t>
            </a:r>
            <a:br>
              <a:rPr lang="en-US" sz="75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5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mul x20, x12, x13</a:t>
            </a:r>
            <a:br>
              <a:rPr lang="en-US" sz="75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5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mul x21, x14, x15</a:t>
            </a:r>
            <a:br>
              <a:rPr lang="en-US" sz="75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5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mul x22, x16, x17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750"/>
              <a:buFont typeface="Arial"/>
              <a:buNone/>
            </a:pPr>
            <a:r>
              <a:rPr lang="en-US" sz="75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#sums</a:t>
            </a:r>
            <a:br>
              <a:rPr lang="en-US" sz="75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5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addi x23, x0, 0</a:t>
            </a:r>
            <a:br>
              <a:rPr lang="en-US" sz="75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5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add x23, x23, x18</a:t>
            </a:r>
            <a:br>
              <a:rPr lang="en-US" sz="75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5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add x23, x23, x19</a:t>
            </a:r>
            <a:br>
              <a:rPr lang="en-US" sz="75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5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add x23, x23, x20</a:t>
            </a:r>
            <a:br>
              <a:rPr lang="en-US" sz="75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5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add x23, x23, x21</a:t>
            </a:r>
            <a:br>
              <a:rPr lang="en-US" sz="75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5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add x23, x23, x22</a:t>
            </a:r>
            <a:endParaRPr/>
          </a:p>
        </p:txBody>
      </p:sp>
      <p:sp>
        <p:nvSpPr>
          <p:cNvPr id="700" name="Google Shape;700;p19"/>
          <p:cNvSpPr txBox="1"/>
          <p:nvPr/>
        </p:nvSpPr>
        <p:spPr>
          <a:xfrm>
            <a:off x="5598450" y="2123850"/>
            <a:ext cx="2856300" cy="2388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20" b="1" i="1">
                <a:solidFill>
                  <a:schemeClr val="accent4"/>
                </a:solidFill>
                <a:latin typeface="+mj-lt"/>
                <a:ea typeface="Calibri"/>
                <a:cs typeface="Calibri"/>
                <a:sym typeface="Calibri"/>
              </a:rPr>
              <a:t>Note:</a:t>
            </a:r>
            <a:endParaRPr sz="1620" b="1" i="1">
              <a:solidFill>
                <a:schemeClr val="accent4"/>
              </a:solidFill>
              <a:latin typeface="+mj-lt"/>
              <a:ea typeface="Calibri"/>
              <a:cs typeface="Calibri"/>
              <a:sym typeface="Calibri"/>
            </a:endParaRPr>
          </a:p>
          <a:p>
            <a:pPr marL="457200" marR="0" lvl="0" indent="-304800" algn="l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Char char="●"/>
            </a:pPr>
            <a:r>
              <a:rPr lang="en-US" sz="1200">
                <a:solidFill>
                  <a:schemeClr val="accent4"/>
                </a:solidFill>
                <a:latin typeface="+mj-lt"/>
              </a:rPr>
              <a:t>Do not forget to update </a:t>
            </a:r>
            <a:r>
              <a:rPr lang="en-US" sz="1200" err="1">
                <a:solidFill>
                  <a:schemeClr val="accent4"/>
                </a:solidFill>
                <a:latin typeface="+mj-lt"/>
              </a:rPr>
              <a:t>files_verilog.f</a:t>
            </a:r>
            <a:r>
              <a:rPr lang="en-US" sz="1200">
                <a:solidFill>
                  <a:schemeClr val="accent4"/>
                </a:solidFill>
                <a:latin typeface="+mj-lt"/>
              </a:rPr>
              <a:t> in /SIM folder, if you add new RTL source file,</a:t>
            </a:r>
            <a:r>
              <a:rPr lang="zh-CN" altLang="en-US" sz="1200">
                <a:solidFill>
                  <a:schemeClr val="accent4"/>
                </a:solidFill>
                <a:latin typeface="+mj-lt"/>
              </a:rPr>
              <a:t> </a:t>
            </a:r>
            <a:r>
              <a:rPr lang="en-US" altLang="zh-CN" sz="1200">
                <a:solidFill>
                  <a:schemeClr val="accent4"/>
                </a:solidFill>
                <a:latin typeface="+mj-lt"/>
              </a:rPr>
              <a:t>or</a:t>
            </a:r>
            <a:r>
              <a:rPr lang="zh-CN" altLang="en-US" sz="1200">
                <a:solidFill>
                  <a:schemeClr val="accent4"/>
                </a:solidFill>
                <a:latin typeface="+mj-lt"/>
              </a:rPr>
              <a:t> </a:t>
            </a:r>
            <a:r>
              <a:rPr lang="en-US" altLang="zh-CN" sz="1200">
                <a:solidFill>
                  <a:schemeClr val="accent4"/>
                </a:solidFill>
                <a:latin typeface="+mj-lt"/>
              </a:rPr>
              <a:t>change</a:t>
            </a:r>
            <a:r>
              <a:rPr lang="zh-CN" altLang="en-US" sz="1200">
                <a:solidFill>
                  <a:schemeClr val="accent4"/>
                </a:solidFill>
                <a:latin typeface="+mj-lt"/>
              </a:rPr>
              <a:t> </a:t>
            </a:r>
            <a:r>
              <a:rPr lang="en-US" altLang="zh-CN" sz="1200">
                <a:solidFill>
                  <a:schemeClr val="accent4"/>
                </a:solidFill>
                <a:latin typeface="+mj-lt"/>
              </a:rPr>
              <a:t>the</a:t>
            </a:r>
            <a:r>
              <a:rPr lang="zh-CN" altLang="en-US" sz="1200">
                <a:solidFill>
                  <a:schemeClr val="accent4"/>
                </a:solidFill>
                <a:latin typeface="+mj-lt"/>
              </a:rPr>
              <a:t> </a:t>
            </a:r>
            <a:r>
              <a:rPr lang="en-US" altLang="zh-CN" sz="1200">
                <a:solidFill>
                  <a:schemeClr val="accent4"/>
                </a:solidFill>
                <a:latin typeface="+mj-lt"/>
              </a:rPr>
              <a:t>RTL</a:t>
            </a:r>
            <a:r>
              <a:rPr lang="zh-CN" altLang="en-US" sz="1200">
                <a:solidFill>
                  <a:schemeClr val="accent4"/>
                </a:solidFill>
                <a:latin typeface="+mj-lt"/>
              </a:rPr>
              <a:t> </a:t>
            </a:r>
            <a:r>
              <a:rPr lang="en-US" altLang="zh-CN" sz="1200">
                <a:solidFill>
                  <a:schemeClr val="accent4"/>
                </a:solidFill>
                <a:latin typeface="+mj-lt"/>
              </a:rPr>
              <a:t>location</a:t>
            </a:r>
            <a:r>
              <a:rPr lang="en-US" sz="1200">
                <a:solidFill>
                  <a:schemeClr val="accent4"/>
                </a:solidFill>
                <a:latin typeface="+mj-lt"/>
              </a:rPr>
              <a:t>. </a:t>
            </a:r>
          </a:p>
          <a:p>
            <a:pPr marL="457200" marR="0" lvl="0" indent="-3048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200"/>
              <a:buChar char="●"/>
            </a:pPr>
            <a:r>
              <a:rPr lang="en-US" sz="1200">
                <a:solidFill>
                  <a:schemeClr val="accent4"/>
                </a:solidFill>
                <a:latin typeface="+mj-lt"/>
              </a:rPr>
              <a:t>Please refer to the mux-2 to customize a mux-3, if needed.</a:t>
            </a:r>
            <a:endParaRPr sz="1200">
              <a:solidFill>
                <a:schemeClr val="accent4"/>
              </a:solidFill>
              <a:latin typeface="+mj-lt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4"/>
              </a:buClr>
              <a:buSzPts val="1200"/>
              <a:buChar char="●"/>
            </a:pPr>
            <a:r>
              <a:rPr lang="en-US" sz="1200">
                <a:solidFill>
                  <a:schemeClr val="accent4"/>
                </a:solidFill>
                <a:latin typeface="+mj-lt"/>
              </a:rPr>
              <a:t>Do not forget to add/modify all the signal wires in the top </a:t>
            </a:r>
            <a:r>
              <a:rPr lang="en-US" sz="1200" err="1">
                <a:solidFill>
                  <a:schemeClr val="accent4"/>
                </a:solidFill>
                <a:latin typeface="+mj-lt"/>
              </a:rPr>
              <a:t>cpu.v</a:t>
            </a:r>
            <a:r>
              <a:rPr lang="en-US" sz="1200">
                <a:solidFill>
                  <a:schemeClr val="accent4"/>
                </a:solidFill>
                <a:latin typeface="+mj-lt"/>
              </a:rPr>
              <a:t> according to your new modules.</a:t>
            </a:r>
            <a:endParaRPr sz="1200">
              <a:solidFill>
                <a:schemeClr val="accent4"/>
              </a:solidFill>
              <a:latin typeface="+mj-lt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3B99FF0-FF7D-39C4-EB94-FD95E8B2B90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3948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81;p6">
            <a:extLst>
              <a:ext uri="{FF2B5EF4-FFF2-40B4-BE49-F238E27FC236}">
                <a16:creationId xmlns:a16="http://schemas.microsoft.com/office/drawing/2014/main" id="{8E6E6412-8975-8815-BCB1-8B4725E8135B}"/>
              </a:ext>
            </a:extLst>
          </p:cNvPr>
          <p:cNvSpPr txBox="1">
            <a:spLocks/>
          </p:cNvSpPr>
          <p:nvPr/>
        </p:nvSpPr>
        <p:spPr>
          <a:xfrm>
            <a:off x="582930" y="171251"/>
            <a:ext cx="489585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4400"/>
            </a:pPr>
            <a:r>
              <a:rPr lang="en-GB" sz="3000"/>
              <a:t>Today’s session: Backend flow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86BB0A0-A201-8691-5CB1-FB5382F77E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449" y="1268016"/>
            <a:ext cx="2815421" cy="315182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57D47B3-69D4-5972-DCFB-2F08D2660193}"/>
              </a:ext>
            </a:extLst>
          </p:cNvPr>
          <p:cNvSpPr txBox="1"/>
          <p:nvPr/>
        </p:nvSpPr>
        <p:spPr>
          <a:xfrm>
            <a:off x="3912870" y="1351836"/>
            <a:ext cx="4572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050"/>
              <a:t>The RTL design is synthesized into a gate-level netlist.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A4B9AE2-76CF-D0EC-B505-4760E2DF389D}"/>
              </a:ext>
            </a:extLst>
          </p:cNvPr>
          <p:cNvSpPr txBox="1"/>
          <p:nvPr/>
        </p:nvSpPr>
        <p:spPr>
          <a:xfrm>
            <a:off x="3912870" y="1850291"/>
            <a:ext cx="4572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050"/>
              <a:t>Decide on the chip area and set memory macros location in the chip.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88A2401-DD93-6380-9208-5D36795671C4}"/>
              </a:ext>
            </a:extLst>
          </p:cNvPr>
          <p:cNvSpPr txBox="1"/>
          <p:nvPr/>
        </p:nvSpPr>
        <p:spPr>
          <a:xfrm>
            <a:off x="3912870" y="2303114"/>
            <a:ext cx="4572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050"/>
              <a:t>The synthesized gates are placed in the chip according to the floorplan.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4C85E9F-5285-0E81-847D-438761E77A00}"/>
              </a:ext>
            </a:extLst>
          </p:cNvPr>
          <p:cNvSpPr txBox="1"/>
          <p:nvPr/>
        </p:nvSpPr>
        <p:spPr>
          <a:xfrm>
            <a:off x="3912870" y="2693626"/>
            <a:ext cx="457200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050"/>
              <a:t>A clock tree is generated to distribute the clock signal throughout the chip, while minimizing skew and ensuring timing requirements are met.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61CEAA9-B422-4CCC-E5FE-45A861337A70}"/>
              </a:ext>
            </a:extLst>
          </p:cNvPr>
          <p:cNvSpPr txBox="1"/>
          <p:nvPr/>
        </p:nvSpPr>
        <p:spPr>
          <a:xfrm>
            <a:off x="3912870" y="3174568"/>
            <a:ext cx="4572000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050"/>
              <a:t>The global routing involves determining the overall routing paths between the blocks and macros; The detailed routing creates the actual metal interconnects between the gates.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21BC22D-0EF1-9970-371B-B2B2DB4A4BE1}"/>
              </a:ext>
            </a:extLst>
          </p:cNvPr>
          <p:cNvSpPr txBox="1"/>
          <p:nvPr/>
        </p:nvSpPr>
        <p:spPr>
          <a:xfrm>
            <a:off x="3912870" y="3853282"/>
            <a:ext cx="457200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050"/>
              <a:t>Design rule checking: Once the routing is complete, the design is checked against a set of design rules to ensure that it is manufacturable.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A4D0663-9962-B307-2A59-EC933C04990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23</a:t>
            </a:fld>
            <a:endParaRPr lang="en-US"/>
          </a:p>
        </p:txBody>
      </p:sp>
      <p:sp>
        <p:nvSpPr>
          <p:cNvPr id="3" name="Google Shape;628;p14">
            <a:extLst>
              <a:ext uri="{FF2B5EF4-FFF2-40B4-BE49-F238E27FC236}">
                <a16:creationId xmlns:a16="http://schemas.microsoft.com/office/drawing/2014/main" id="{9BDEFA6D-DBC6-2FDE-98AB-6C7762D1859C}"/>
              </a:ext>
            </a:extLst>
          </p:cNvPr>
          <p:cNvSpPr txBox="1"/>
          <p:nvPr/>
        </p:nvSpPr>
        <p:spPr>
          <a:xfrm>
            <a:off x="2744046" y="4296576"/>
            <a:ext cx="1536702" cy="341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20" b="1" i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  <a:sym typeface="Calibri"/>
              </a:rPr>
              <a:t>Obj-1: mult2</a:t>
            </a:r>
          </a:p>
        </p:txBody>
      </p:sp>
      <p:sp>
        <p:nvSpPr>
          <p:cNvPr id="5" name="Google Shape;690;p18">
            <a:extLst>
              <a:ext uri="{FF2B5EF4-FFF2-40B4-BE49-F238E27FC236}">
                <a16:creationId xmlns:a16="http://schemas.microsoft.com/office/drawing/2014/main" id="{A282BC43-887C-9595-0E8A-783C929AA2C4}"/>
              </a:ext>
            </a:extLst>
          </p:cNvPr>
          <p:cNvSpPr/>
          <p:nvPr/>
        </p:nvSpPr>
        <p:spPr>
          <a:xfrm>
            <a:off x="2094365" y="1268015"/>
            <a:ext cx="1881582" cy="3056757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2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690;p18">
            <a:extLst>
              <a:ext uri="{FF2B5EF4-FFF2-40B4-BE49-F238E27FC236}">
                <a16:creationId xmlns:a16="http://schemas.microsoft.com/office/drawing/2014/main" id="{5E6699FB-A42D-D1D1-A1E4-1B77E8A5A41A}"/>
              </a:ext>
            </a:extLst>
          </p:cNvPr>
          <p:cNvSpPr/>
          <p:nvPr/>
        </p:nvSpPr>
        <p:spPr>
          <a:xfrm>
            <a:off x="2151225" y="1315549"/>
            <a:ext cx="1787468" cy="335836"/>
          </a:xfrm>
          <a:prstGeom prst="rect">
            <a:avLst/>
          </a:prstGeom>
          <a:noFill/>
          <a:ln w="2857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2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628;p14">
            <a:extLst>
              <a:ext uri="{FF2B5EF4-FFF2-40B4-BE49-F238E27FC236}">
                <a16:creationId xmlns:a16="http://schemas.microsoft.com/office/drawing/2014/main" id="{CCC210E5-B6AB-0AF6-956D-CCB4D5AC6070}"/>
              </a:ext>
            </a:extLst>
          </p:cNvPr>
          <p:cNvSpPr txBox="1"/>
          <p:nvPr/>
        </p:nvSpPr>
        <p:spPr>
          <a:xfrm>
            <a:off x="3144519" y="1582222"/>
            <a:ext cx="1536702" cy="341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20" b="1" i="1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  <a:sym typeface="Calibri"/>
              </a:rPr>
              <a:t>Obj-2: mult3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20;p4">
            <a:extLst>
              <a:ext uri="{FF2B5EF4-FFF2-40B4-BE49-F238E27FC236}">
                <a16:creationId xmlns:a16="http://schemas.microsoft.com/office/drawing/2014/main" id="{85A3CFCF-E8C0-C042-308D-E4D0D6936E9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" y="5286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rmAutofit/>
          </a:bodyPr>
          <a:lstStyle/>
          <a:p>
            <a:pPr>
              <a:buSzPts val="4400"/>
            </a:pPr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Today’s session: task summary</a:t>
            </a:r>
            <a:endParaRPr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1F76498-4EE9-2874-1A0B-23066A0B500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smtClean="0"/>
              <a:pPr/>
              <a:t>24</a:t>
            </a:fld>
            <a:endParaRPr lang="en-GB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E236A1B-56AE-9F57-25A2-6B5702D1B605}"/>
              </a:ext>
            </a:extLst>
          </p:cNvPr>
          <p:cNvSpPr txBox="1"/>
          <p:nvPr/>
        </p:nvSpPr>
        <p:spPr>
          <a:xfrm>
            <a:off x="186041" y="1187658"/>
            <a:ext cx="8329309" cy="394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>
              <a:lnSpc>
                <a:spcPct val="90000"/>
              </a:lnSpc>
              <a:spcBef>
                <a:spcPts val="375"/>
              </a:spcBef>
              <a:buClr>
                <a:srgbClr val="00000A"/>
              </a:buClr>
              <a:buSzPct val="100000"/>
            </a:pPr>
            <a:r>
              <a:rPr lang="en-GB" sz="1800">
                <a:solidFill>
                  <a:srgbClr val="00000A"/>
                </a:solidFill>
                <a:latin typeface="Calibri"/>
                <a:ea typeface="Calibri"/>
                <a:cs typeface="Calibri"/>
                <a:sym typeface="Calibri"/>
              </a:rPr>
              <a:t>With </a:t>
            </a:r>
            <a:r>
              <a:rPr lang="en-GB" sz="1800" b="1">
                <a:solidFill>
                  <a:srgbClr val="00000A"/>
                </a:solidFill>
                <a:latin typeface="Calibri"/>
                <a:ea typeface="Calibri"/>
                <a:cs typeface="Calibri"/>
                <a:sym typeface="Calibri"/>
              </a:rPr>
              <a:t>session_guide.pdf</a:t>
            </a:r>
          </a:p>
          <a:p>
            <a:pPr marL="514350" indent="-171450">
              <a:lnSpc>
                <a:spcPct val="90000"/>
              </a:lnSpc>
              <a:spcBef>
                <a:spcPts val="375"/>
              </a:spcBef>
              <a:buClr>
                <a:srgbClr val="00000A"/>
              </a:buClr>
              <a:buSzPct val="100000"/>
              <a:buChar char="•"/>
            </a:pPr>
            <a:r>
              <a:rPr lang="en-GB" sz="1800">
                <a:solidFill>
                  <a:srgbClr val="00000A"/>
                </a:solidFill>
                <a:latin typeface="Calibri"/>
                <a:ea typeface="Calibri"/>
                <a:cs typeface="Calibri"/>
                <a:sym typeface="Calibri"/>
              </a:rPr>
              <a:t>Study the </a:t>
            </a:r>
            <a:r>
              <a:rPr lang="en-US" sz="1500">
                <a:solidFill>
                  <a:srgbClr val="1F4D78"/>
                </a:solidFill>
                <a:highlight>
                  <a:srgbClr val="B3C6E7"/>
                </a:highlight>
                <a:latin typeface="Calibri" panose="020F0502020204030204" pitchFamily="34" charset="0"/>
              </a:rPr>
              <a:t>RUN CYCLE-ACCURATE SIMULATION</a:t>
            </a:r>
            <a:r>
              <a:rPr lang="en-GB" sz="1800">
                <a:solidFill>
                  <a:srgbClr val="00000A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GB" sz="1500">
                <a:solidFill>
                  <a:srgbClr val="1F4D78"/>
                </a:solidFill>
                <a:highlight>
                  <a:srgbClr val="B3C6E7"/>
                </a:highlight>
                <a:latin typeface="Calibri" panose="020F0502020204030204" pitchFamily="34" charset="0"/>
                <a:sym typeface="Calibri"/>
              </a:rPr>
              <a:t>RUN BACKEND FLOW</a:t>
            </a:r>
          </a:p>
          <a:p>
            <a:pPr marL="514350" indent="-171450">
              <a:lnSpc>
                <a:spcPct val="90000"/>
              </a:lnSpc>
              <a:spcBef>
                <a:spcPts val="375"/>
              </a:spcBef>
              <a:buClr>
                <a:srgbClr val="00000A"/>
              </a:buClr>
              <a:buSzPct val="100000"/>
              <a:buChar char="•"/>
            </a:pPr>
            <a:r>
              <a:rPr lang="en-US" altLang="zh-CN" sz="1800">
                <a:solidFill>
                  <a:srgbClr val="00000A"/>
                </a:solidFill>
                <a:latin typeface="Calibri"/>
                <a:cs typeface="Calibri"/>
                <a:sym typeface="Calibri"/>
              </a:rPr>
              <a:t>Follow the </a:t>
            </a:r>
            <a:r>
              <a:rPr lang="en-US" altLang="zh-CN" sz="1500">
                <a:solidFill>
                  <a:srgbClr val="1F4D78"/>
                </a:solidFill>
                <a:highlight>
                  <a:srgbClr val="B3C6E7"/>
                </a:highlight>
                <a:latin typeface="Calibri" panose="020F0502020204030204" pitchFamily="34" charset="0"/>
                <a:ea typeface="Calibri"/>
                <a:cs typeface="Calibri"/>
                <a:sym typeface="Calibri"/>
              </a:rPr>
              <a:t>TASKS TO BE DONE</a:t>
            </a:r>
            <a:r>
              <a:rPr lang="en-GB" altLang="zh-CN" sz="1500">
                <a:solidFill>
                  <a:srgbClr val="00000A"/>
                </a:solidFill>
                <a:highlight>
                  <a:srgbClr val="B3C6E7"/>
                </a:highlight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altLang="zh-CN" sz="1800">
                <a:solidFill>
                  <a:srgbClr val="00000A"/>
                </a:solidFill>
                <a:latin typeface="Calibri"/>
                <a:cs typeface="Calibri"/>
                <a:sym typeface="Calibri"/>
              </a:rPr>
              <a:t>and fill in the </a:t>
            </a:r>
            <a:r>
              <a:rPr lang="en-GB" altLang="zh-CN" sz="1800" b="1">
                <a:solidFill>
                  <a:srgbClr val="00000A"/>
                </a:solidFill>
                <a:latin typeface="Calibri"/>
                <a:cs typeface="Calibri"/>
                <a:sym typeface="Calibri"/>
              </a:rPr>
              <a:t>report.docx</a:t>
            </a:r>
          </a:p>
          <a:p>
            <a:pPr marL="514350" indent="-171450">
              <a:lnSpc>
                <a:spcPct val="90000"/>
              </a:lnSpc>
              <a:spcBef>
                <a:spcPts val="375"/>
              </a:spcBef>
              <a:buClr>
                <a:srgbClr val="00000A"/>
              </a:buClr>
              <a:buSzPct val="100000"/>
              <a:buChar char="•"/>
            </a:pPr>
            <a:endParaRPr lang="en-GB" altLang="zh-CN" sz="1800" b="1">
              <a:solidFill>
                <a:srgbClr val="00000A"/>
              </a:solidFill>
              <a:latin typeface="Calibri"/>
              <a:cs typeface="Calibri"/>
              <a:sym typeface="Calibri"/>
            </a:endParaRPr>
          </a:p>
          <a:p>
            <a:pPr marL="342900">
              <a:lnSpc>
                <a:spcPct val="90000"/>
              </a:lnSpc>
              <a:spcBef>
                <a:spcPts val="375"/>
              </a:spcBef>
              <a:buClr>
                <a:srgbClr val="00000A"/>
              </a:buClr>
              <a:buSzPct val="100000"/>
            </a:pPr>
            <a:r>
              <a:rPr lang="en-GB" altLang="zh-CN" sz="1800">
                <a:solidFill>
                  <a:srgbClr val="00000A"/>
                </a:solidFill>
                <a:latin typeface="Calibri"/>
                <a:cs typeface="Calibri"/>
                <a:sym typeface="Calibri"/>
              </a:rPr>
              <a:t>Copy-paste your finished </a:t>
            </a:r>
            <a:r>
              <a:rPr lang="en-GB" altLang="zh-CN" sz="1800" b="1">
                <a:solidFill>
                  <a:srgbClr val="00000A"/>
                </a:solidFill>
                <a:latin typeface="Calibri"/>
                <a:cs typeface="Calibri"/>
                <a:sym typeface="Calibri"/>
              </a:rPr>
              <a:t>/RTL/*.v </a:t>
            </a:r>
            <a:r>
              <a:rPr lang="en-GB" altLang="zh-CN" sz="1800">
                <a:solidFill>
                  <a:srgbClr val="00000A"/>
                </a:solidFill>
                <a:latin typeface="Calibri"/>
                <a:cs typeface="Calibri"/>
                <a:sym typeface="Calibri"/>
              </a:rPr>
              <a:t>into the SOLUTION folders.</a:t>
            </a:r>
          </a:p>
          <a:p>
            <a:pPr marL="514350" indent="-171450">
              <a:lnSpc>
                <a:spcPct val="90000"/>
              </a:lnSpc>
              <a:spcBef>
                <a:spcPts val="375"/>
              </a:spcBef>
              <a:buClr>
                <a:srgbClr val="00000A"/>
              </a:buClr>
              <a:buSzPct val="100000"/>
              <a:buChar char="•"/>
            </a:pPr>
            <a:r>
              <a:rPr lang="en-GB" altLang="zh-CN" sz="1800" b="1">
                <a:solidFill>
                  <a:srgbClr val="00000A"/>
                </a:solidFill>
                <a:latin typeface="Calibri"/>
                <a:cs typeface="Calibri"/>
                <a:sym typeface="Calibri"/>
              </a:rPr>
              <a:t>Obj-1 		</a:t>
            </a:r>
            <a:r>
              <a:rPr lang="en-GB" altLang="zh-CN" sz="1800" b="1">
                <a:solidFill>
                  <a:srgbClr val="00000A"/>
                </a:solidFill>
                <a:latin typeface="Calibri"/>
                <a:cs typeface="Calibri"/>
                <a:sym typeface="Wingdings" panose="05000000000000000000" pitchFamily="2" charset="2"/>
              </a:rPr>
              <a:t> </a:t>
            </a:r>
            <a:r>
              <a:rPr lang="en-US" altLang="zh-CN" sz="1800" b="1">
                <a:solidFill>
                  <a:srgbClr val="00000A"/>
                </a:solidFill>
                <a:latin typeface="Calibri"/>
                <a:cs typeface="Calibri"/>
                <a:sym typeface="Wingdings" panose="05000000000000000000" pitchFamily="2" charset="2"/>
              </a:rPr>
              <a:t>RTL_SOLUTION3_pipeline_basic_MULT2</a:t>
            </a:r>
          </a:p>
          <a:p>
            <a:pPr marL="514350" indent="-171450">
              <a:lnSpc>
                <a:spcPct val="90000"/>
              </a:lnSpc>
              <a:spcBef>
                <a:spcPts val="375"/>
              </a:spcBef>
              <a:buClr>
                <a:srgbClr val="00000A"/>
              </a:buClr>
              <a:buSzPct val="100000"/>
              <a:buChar char="•"/>
            </a:pPr>
            <a:r>
              <a:rPr lang="en-GB" altLang="zh-CN" sz="1800" b="1">
                <a:solidFill>
                  <a:srgbClr val="00000A"/>
                </a:solidFill>
                <a:latin typeface="Calibri"/>
                <a:cs typeface="Calibri"/>
                <a:sym typeface="Calibri"/>
              </a:rPr>
              <a:t>Obj-2 		</a:t>
            </a:r>
            <a:r>
              <a:rPr lang="en-GB" altLang="zh-CN" sz="1800" b="1">
                <a:solidFill>
                  <a:srgbClr val="00000A"/>
                </a:solidFill>
                <a:latin typeface="Calibri"/>
                <a:cs typeface="Calibri"/>
                <a:sym typeface="Wingdings" panose="05000000000000000000" pitchFamily="2" charset="2"/>
              </a:rPr>
              <a:t> </a:t>
            </a:r>
            <a:r>
              <a:rPr lang="en-US" altLang="zh-CN" sz="1800" b="1">
                <a:solidFill>
                  <a:srgbClr val="00000A"/>
                </a:solidFill>
                <a:latin typeface="Calibri"/>
                <a:cs typeface="Calibri"/>
                <a:sym typeface="Wingdings" panose="05000000000000000000" pitchFamily="2" charset="2"/>
              </a:rPr>
              <a:t>RTL_SOLUTION4_pipeline_hazard_MULT3</a:t>
            </a:r>
          </a:p>
          <a:p>
            <a:pPr marL="514350" indent="-171450">
              <a:lnSpc>
                <a:spcPct val="90000"/>
              </a:lnSpc>
              <a:spcBef>
                <a:spcPts val="375"/>
              </a:spcBef>
              <a:buClr>
                <a:srgbClr val="00000A"/>
              </a:buClr>
              <a:buSzPct val="100000"/>
              <a:buChar char="•"/>
            </a:pPr>
            <a:endParaRPr lang="en-US" altLang="zh-CN" sz="1800" b="1">
              <a:solidFill>
                <a:srgbClr val="00000A"/>
              </a:solidFill>
              <a:latin typeface="Calibri"/>
              <a:cs typeface="Calibri"/>
              <a:sym typeface="Calibri"/>
            </a:endParaRPr>
          </a:p>
          <a:p>
            <a:pPr marL="514350" indent="-171450">
              <a:lnSpc>
                <a:spcPct val="90000"/>
              </a:lnSpc>
              <a:spcBef>
                <a:spcPts val="375"/>
              </a:spcBef>
              <a:buClr>
                <a:srgbClr val="00000A"/>
              </a:buClr>
              <a:buSzPct val="100000"/>
              <a:buChar char="•"/>
            </a:pPr>
            <a:endParaRPr lang="en-US" altLang="zh-CN" sz="1800" b="1">
              <a:solidFill>
                <a:srgbClr val="00000A"/>
              </a:solidFill>
              <a:latin typeface="Calibri"/>
              <a:cs typeface="Calibri"/>
              <a:sym typeface="Calibri"/>
            </a:endParaRPr>
          </a:p>
          <a:p>
            <a:pPr marL="514350" indent="-171450">
              <a:lnSpc>
                <a:spcPct val="90000"/>
              </a:lnSpc>
              <a:spcBef>
                <a:spcPts val="375"/>
              </a:spcBef>
              <a:buClr>
                <a:srgbClr val="00000A"/>
              </a:buClr>
              <a:buSzPct val="100000"/>
              <a:buChar char="•"/>
            </a:pPr>
            <a:r>
              <a:rPr lang="en-US" altLang="zh-CN" sz="1800" b="1">
                <a:solidFill>
                  <a:srgbClr val="00000A"/>
                </a:solidFill>
                <a:latin typeface="Calibri"/>
                <a:cs typeface="Calibri"/>
                <a:sym typeface="Calibri"/>
              </a:rPr>
              <a:t>Note: </a:t>
            </a:r>
          </a:p>
          <a:p>
            <a:pPr marL="685800" indent="-342900">
              <a:lnSpc>
                <a:spcPct val="90000"/>
              </a:lnSpc>
              <a:spcBef>
                <a:spcPts val="375"/>
              </a:spcBef>
              <a:buClr>
                <a:srgbClr val="00000A"/>
              </a:buClr>
              <a:buSzPct val="100000"/>
              <a:buFont typeface="+mj-lt"/>
              <a:buAutoNum type="arabicPeriod"/>
            </a:pPr>
            <a:r>
              <a:rPr lang="en-US" altLang="zh-CN" sz="1800">
                <a:solidFill>
                  <a:srgbClr val="00000A"/>
                </a:solidFill>
                <a:latin typeface="Calibri"/>
                <a:cs typeface="Calibri"/>
                <a:sym typeface="Calibri"/>
              </a:rPr>
              <a:t>We use universal test patterns for fair grading.</a:t>
            </a:r>
          </a:p>
          <a:p>
            <a:pPr marL="685800" indent="-342900">
              <a:lnSpc>
                <a:spcPct val="90000"/>
              </a:lnSpc>
              <a:spcBef>
                <a:spcPts val="375"/>
              </a:spcBef>
              <a:buClr>
                <a:srgbClr val="00000A"/>
              </a:buClr>
              <a:buSzPct val="100000"/>
              <a:buFont typeface="+mj-lt"/>
              <a:buAutoNum type="arabicPeriod"/>
            </a:pPr>
            <a:r>
              <a:rPr lang="en-US" altLang="zh-CN" sz="1800" b="1">
                <a:solidFill>
                  <a:srgbClr val="00000A"/>
                </a:solidFill>
                <a:latin typeface="Calibri"/>
                <a:cs typeface="Calibri"/>
                <a:sym typeface="Calibri"/>
              </a:rPr>
              <a:t>Do not modify </a:t>
            </a:r>
            <a:r>
              <a:rPr lang="en-US" altLang="zh-CN" sz="1800" b="1" err="1">
                <a:solidFill>
                  <a:srgbClr val="00000A"/>
                </a:solidFill>
                <a:latin typeface="Calibri"/>
                <a:cs typeface="Calibri"/>
                <a:sym typeface="Calibri"/>
              </a:rPr>
              <a:t>cpu_tb.v</a:t>
            </a:r>
            <a:r>
              <a:rPr lang="en-US" altLang="zh-CN" sz="1800" b="1">
                <a:solidFill>
                  <a:srgbClr val="00000A"/>
                </a:solidFill>
                <a:latin typeface="Calibri"/>
                <a:cs typeface="Calibri"/>
                <a:sym typeface="Calibri"/>
              </a:rPr>
              <a:t> &amp; sky130_sram_2rw.v</a:t>
            </a:r>
          </a:p>
          <a:p>
            <a:pPr marL="685800" indent="-342900">
              <a:lnSpc>
                <a:spcPct val="90000"/>
              </a:lnSpc>
              <a:spcBef>
                <a:spcPts val="375"/>
              </a:spcBef>
              <a:buClr>
                <a:srgbClr val="00000A"/>
              </a:buClr>
              <a:buSzPct val="100000"/>
              <a:buFont typeface="+mj-lt"/>
              <a:buAutoNum type="arabicPeriod"/>
            </a:pPr>
            <a:r>
              <a:rPr lang="en-US" altLang="zh-CN" sz="1800" b="1">
                <a:solidFill>
                  <a:srgbClr val="00000A"/>
                </a:solidFill>
                <a:latin typeface="Calibri"/>
                <a:cs typeface="Calibri"/>
                <a:sym typeface="Calibri"/>
              </a:rPr>
              <a:t>Do not modify *mem_content.txt</a:t>
            </a:r>
          </a:p>
        </p:txBody>
      </p:sp>
    </p:spTree>
    <p:extLst>
      <p:ext uri="{BB962C8B-B14F-4D97-AF65-F5344CB8AC3E}">
        <p14:creationId xmlns:p14="http://schemas.microsoft.com/office/powerpoint/2010/main" val="31755897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3029</Words>
  <Application>Microsoft Office PowerPoint</Application>
  <PresentationFormat>On-screen Show (16:9)</PresentationFormat>
  <Paragraphs>489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Noto Sans Symbols</vt:lpstr>
      <vt:lpstr>Arial</vt:lpstr>
      <vt:lpstr>Calibri</vt:lpstr>
      <vt:lpstr>Cambria</vt:lpstr>
      <vt:lpstr>Consolas</vt:lpstr>
      <vt:lpstr>Office Theme</vt:lpstr>
      <vt:lpstr>Computer Architectures Session 2</vt:lpstr>
      <vt:lpstr>Timeline</vt:lpstr>
      <vt:lpstr>Last session recap</vt:lpstr>
      <vt:lpstr>Last session recap</vt:lpstr>
      <vt:lpstr>Today’s session: Pipelined processor</vt:lpstr>
      <vt:lpstr>5-stage Pipelining</vt:lpstr>
      <vt:lpstr>5-stage Pipelining</vt:lpstr>
      <vt:lpstr>5-stage Pipelining</vt:lpstr>
      <vt:lpstr>Today’s session: Pipelined processor</vt:lpstr>
      <vt:lpstr>Obj-1: mult2</vt:lpstr>
      <vt:lpstr>Implementation Method</vt:lpstr>
      <vt:lpstr>PowerPoint Presentation</vt:lpstr>
      <vt:lpstr>Implementation Method</vt:lpstr>
      <vt:lpstr>Implementation Method</vt:lpstr>
      <vt:lpstr>PowerPoint Presentation</vt:lpstr>
      <vt:lpstr>Today’s session: Pipelined processor w/ hazard</vt:lpstr>
      <vt:lpstr>Data Hazard Resolution</vt:lpstr>
      <vt:lpstr>Data Hazard Example</vt:lpstr>
      <vt:lpstr>Data Hazard Resolution: Hardware</vt:lpstr>
      <vt:lpstr>Data Hazard Resolution – MULT3</vt:lpstr>
      <vt:lpstr>Implementation: Forwarding unit</vt:lpstr>
      <vt:lpstr>Obj-2: mult3</vt:lpstr>
      <vt:lpstr>PowerPoint Presentation</vt:lpstr>
      <vt:lpstr>Today’s session: task 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Architectures Session 2</dc:title>
  <dc:creator>Jasper Marien (----)</dc:creator>
  <cp:lastModifiedBy>Xiaoling Yi</cp:lastModifiedBy>
  <cp:revision>1</cp:revision>
  <dcterms:created xsi:type="dcterms:W3CDTF">2020-04-01T15:40:31Z</dcterms:created>
  <dcterms:modified xsi:type="dcterms:W3CDTF">2026-03-03T20:45:56Z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0eba32c-0974-4663-a3a1-3cd8c30938e9_Enabled">
    <vt:lpwstr>true</vt:lpwstr>
  </property>
  <property fmtid="{D5CDD505-2E9C-101B-9397-08002B2CF9AE}" pid="3" name="MSIP_Label_f0eba32c-0974-4663-a3a1-3cd8c30938e9_SetDate">
    <vt:lpwstr>2021-03-26T14:30:44Z</vt:lpwstr>
  </property>
  <property fmtid="{D5CDD505-2E9C-101B-9397-08002B2CF9AE}" pid="4" name="MSIP_Label_f0eba32c-0974-4663-a3a1-3cd8c30938e9_Method">
    <vt:lpwstr>Privileged</vt:lpwstr>
  </property>
  <property fmtid="{D5CDD505-2E9C-101B-9397-08002B2CF9AE}" pid="5" name="MSIP_Label_f0eba32c-0974-4663-a3a1-3cd8c30938e9_Name">
    <vt:lpwstr>Public - General - Unmarked</vt:lpwstr>
  </property>
  <property fmtid="{D5CDD505-2E9C-101B-9397-08002B2CF9AE}" pid="6" name="MSIP_Label_f0eba32c-0974-4663-a3a1-3cd8c30938e9_SiteId">
    <vt:lpwstr>a72d5a72-25ee-40f0-9bd1-067cb5b770d4</vt:lpwstr>
  </property>
  <property fmtid="{D5CDD505-2E9C-101B-9397-08002B2CF9AE}" pid="7" name="MSIP_Label_f0eba32c-0974-4663-a3a1-3cd8c30938e9_ActionId">
    <vt:lpwstr>ff792f6c-ffa1-44e7-b580-d7a3f3f5e9a6</vt:lpwstr>
  </property>
  <property fmtid="{D5CDD505-2E9C-101B-9397-08002B2CF9AE}" pid="8" name="MSIP_Label_f0eba32c-0974-4663-a3a1-3cd8c30938e9_ContentBits">
    <vt:lpwstr>0</vt:lpwstr>
  </property>
</Properties>
</file>