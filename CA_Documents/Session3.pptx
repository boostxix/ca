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1" r:id="rId3"/>
    <p:sldId id="302" r:id="rId4"/>
    <p:sldId id="259" r:id="rId5"/>
    <p:sldId id="30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9" r:id="rId14"/>
    <p:sldId id="306" r:id="rId15"/>
    <p:sldId id="268" r:id="rId16"/>
    <p:sldId id="308" r:id="rId17"/>
    <p:sldId id="269" r:id="rId18"/>
    <p:sldId id="270" r:id="rId19"/>
    <p:sldId id="271" r:id="rId20"/>
    <p:sldId id="272" r:id="rId21"/>
    <p:sldId id="273" r:id="rId22"/>
    <p:sldId id="298" r:id="rId23"/>
    <p:sldId id="275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40">
          <p15:clr>
            <a:srgbClr val="A4A3A4"/>
          </p15:clr>
        </p15:guide>
        <p15:guide id="2" orient="horz" pos="2928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gIVT1w/0oy8SH6s5oqOn4MdSs7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06C16-EFC1-4EA8-8272-E5B51E12A795}" v="7" dt="2026-03-03T20:51:17.494"/>
  </p1510:revLst>
</p1510:revInfo>
</file>

<file path=ppt/tableStyles.xml><?xml version="1.0" encoding="utf-8"?>
<a:tblStyleLst xmlns:a="http://schemas.openxmlformats.org/drawingml/2006/main" def="{CE7E8FC3-4963-435C-82D0-51C3FBD32D88}">
  <a:tblStyle styleId="{CE7E8FC3-4963-435C-82D0-51C3FBD32D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C8EDD-E9B9-40A0-AE02-E7578FD211A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6247" autoAdjust="0"/>
  </p:normalViewPr>
  <p:slideViewPr>
    <p:cSldViewPr snapToGrid="0">
      <p:cViewPr>
        <p:scale>
          <a:sx n="125" d="100"/>
          <a:sy n="125" d="100"/>
        </p:scale>
        <p:origin x="1098" y="360"/>
      </p:cViewPr>
      <p:guideLst>
        <p:guide orient="horz" pos="3140"/>
        <p:guide orient="horz" pos="292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ing Yi" userId="23f28664-6c59-406e-87ca-bf1cc6d4f6c4" providerId="ADAL" clId="{A88309FF-F38B-4138-8EB8-37BF23FB4DA7}"/>
    <pc:docChg chg="undo custSel addSld delSld modSld sldOrd">
      <pc:chgData name="Xiaoling Yi" userId="23f28664-6c59-406e-87ca-bf1cc6d4f6c4" providerId="ADAL" clId="{A88309FF-F38B-4138-8EB8-37BF23FB4DA7}" dt="2026-03-03T20:51:49.387" v="42" actId="1076"/>
      <pc:docMkLst>
        <pc:docMk/>
      </pc:docMkLst>
      <pc:sldChg chg="addSp delSp modSp mod">
        <pc:chgData name="Xiaoling Yi" userId="23f28664-6c59-406e-87ca-bf1cc6d4f6c4" providerId="ADAL" clId="{A88309FF-F38B-4138-8EB8-37BF23FB4DA7}" dt="2026-03-03T20:46:34.389" v="1"/>
        <pc:sldMkLst>
          <pc:docMk/>
          <pc:sldMk cId="0" sldId="256"/>
        </pc:sldMkLst>
        <pc:spChg chg="add mod">
          <ac:chgData name="Xiaoling Yi" userId="23f28664-6c59-406e-87ca-bf1cc6d4f6c4" providerId="ADAL" clId="{A88309FF-F38B-4138-8EB8-37BF23FB4DA7}" dt="2026-03-03T20:46:34.389" v="1"/>
          <ac:spMkLst>
            <pc:docMk/>
            <pc:sldMk cId="0" sldId="256"/>
            <ac:spMk id="2" creationId="{89FE02F6-1C6C-65E5-27A3-E8B5D697DFA5}"/>
          </ac:spMkLst>
        </pc:spChg>
        <pc:spChg chg="del">
          <ac:chgData name="Xiaoling Yi" userId="23f28664-6c59-406e-87ca-bf1cc6d4f6c4" providerId="ADAL" clId="{A88309FF-F38B-4138-8EB8-37BF23FB4DA7}" dt="2026-03-03T20:46:33.855" v="0" actId="478"/>
          <ac:spMkLst>
            <pc:docMk/>
            <pc:sldMk cId="0" sldId="256"/>
            <ac:spMk id="90" creationId="{00000000-0000-0000-0000-000000000000}"/>
          </ac:spMkLst>
        </pc:spChg>
      </pc:sldChg>
      <pc:sldChg chg="addSp delSp modSp mod">
        <pc:chgData name="Xiaoling Yi" userId="23f28664-6c59-406e-87ca-bf1cc6d4f6c4" providerId="ADAL" clId="{A88309FF-F38B-4138-8EB8-37BF23FB4DA7}" dt="2026-03-03T20:51:49.387" v="42" actId="1076"/>
        <pc:sldMkLst>
          <pc:docMk/>
          <pc:sldMk cId="0" sldId="275"/>
        </pc:sldMkLst>
        <pc:spChg chg="del">
          <ac:chgData name="Xiaoling Yi" userId="23f28664-6c59-406e-87ca-bf1cc6d4f6c4" providerId="ADAL" clId="{A88309FF-F38B-4138-8EB8-37BF23FB4DA7}" dt="2026-03-03T20:50:53.418" v="32" actId="478"/>
          <ac:spMkLst>
            <pc:docMk/>
            <pc:sldMk cId="0" sldId="275"/>
            <ac:spMk id="4" creationId="{6A418B6B-89EB-09B3-8063-16BB53964D31}"/>
          </ac:spMkLst>
        </pc:spChg>
        <pc:spChg chg="mod">
          <ac:chgData name="Xiaoling Yi" userId="23f28664-6c59-406e-87ca-bf1cc6d4f6c4" providerId="ADAL" clId="{A88309FF-F38B-4138-8EB8-37BF23FB4DA7}" dt="2026-03-03T20:49:35.129" v="29" actId="113"/>
          <ac:spMkLst>
            <pc:docMk/>
            <pc:sldMk cId="0" sldId="275"/>
            <ac:spMk id="6" creationId="{520493D8-5834-7FC4-E675-1F0A5051BA05}"/>
          </ac:spMkLst>
        </pc:spChg>
        <pc:graphicFrameChg chg="add mod modGraphic">
          <ac:chgData name="Xiaoling Yi" userId="23f28664-6c59-406e-87ca-bf1cc6d4f6c4" providerId="ADAL" clId="{A88309FF-F38B-4138-8EB8-37BF23FB4DA7}" dt="2026-03-03T20:51:49.387" v="42" actId="1076"/>
          <ac:graphicFrameMkLst>
            <pc:docMk/>
            <pc:sldMk cId="0" sldId="275"/>
            <ac:graphicFrameMk id="2" creationId="{0922BEE6-49E5-D00E-EEAC-2950ABBBAB4A}"/>
          </ac:graphicFrameMkLst>
        </pc:graphicFrameChg>
        <pc:graphicFrameChg chg="del modGraphic">
          <ac:chgData name="Xiaoling Yi" userId="23f28664-6c59-406e-87ca-bf1cc6d4f6c4" providerId="ADAL" clId="{A88309FF-F38B-4138-8EB8-37BF23FB4DA7}" dt="2026-03-03T20:50:53.418" v="32" actId="478"/>
          <ac:graphicFrameMkLst>
            <pc:docMk/>
            <pc:sldMk cId="0" sldId="275"/>
            <ac:graphicFrameMk id="5" creationId="{EA8C70A2-3509-2EF3-247A-23F6C546B001}"/>
          </ac:graphicFrameMkLst>
        </pc:graphicFrameChg>
      </pc:sldChg>
      <pc:sldChg chg="add ord">
        <pc:chgData name="Xiaoling Yi" userId="23f28664-6c59-406e-87ca-bf1cc6d4f6c4" providerId="ADAL" clId="{A88309FF-F38B-4138-8EB8-37BF23FB4DA7}" dt="2026-03-03T20:47:47.785" v="7"/>
        <pc:sldMkLst>
          <pc:docMk/>
          <pc:sldMk cId="2541679562" sldId="291"/>
        </pc:sldMkLst>
      </pc:sldChg>
      <pc:sldChg chg="del">
        <pc:chgData name="Xiaoling Yi" userId="23f28664-6c59-406e-87ca-bf1cc6d4f6c4" providerId="ADAL" clId="{A88309FF-F38B-4138-8EB8-37BF23FB4DA7}" dt="2026-03-03T20:47:18.837" v="2" actId="47"/>
        <pc:sldMkLst>
          <pc:docMk/>
          <pc:sldMk cId="3669326066" sldId="291"/>
        </pc:sldMkLst>
      </pc:sldChg>
      <pc:sldChg chg="addSp modSp mod">
        <pc:chgData name="Xiaoling Yi" userId="23f28664-6c59-406e-87ca-bf1cc6d4f6c4" providerId="ADAL" clId="{A88309FF-F38B-4138-8EB8-37BF23FB4DA7}" dt="2026-03-03T20:47:52.690" v="11" actId="20577"/>
        <pc:sldMkLst>
          <pc:docMk/>
          <pc:sldMk cId="679846694" sldId="302"/>
        </pc:sldMkLst>
        <pc:spChg chg="add mod">
          <ac:chgData name="Xiaoling Yi" userId="23f28664-6c59-406e-87ca-bf1cc6d4f6c4" providerId="ADAL" clId="{A88309FF-F38B-4138-8EB8-37BF23FB4DA7}" dt="2026-03-03T20:47:23.495" v="3"/>
          <ac:spMkLst>
            <pc:docMk/>
            <pc:sldMk cId="679846694" sldId="302"/>
            <ac:spMk id="17" creationId="{846A6D0A-845F-78A3-112D-0780C5DC4A1A}"/>
          </ac:spMkLst>
        </pc:spChg>
        <pc:spChg chg="mod">
          <ac:chgData name="Xiaoling Yi" userId="23f28664-6c59-406e-87ca-bf1cc6d4f6c4" providerId="ADAL" clId="{A88309FF-F38B-4138-8EB8-37BF23FB4DA7}" dt="2026-03-03T20:47:52.690" v="11" actId="20577"/>
          <ac:spMkLst>
            <pc:docMk/>
            <pc:sldMk cId="679846694" sldId="302"/>
            <ac:spMk id="22" creationId="{2FF847B5-95B7-A955-4E87-D016069F8027}"/>
          </ac:spMkLst>
        </pc:spChg>
        <pc:spChg chg="add mod">
          <ac:chgData name="Xiaoling Yi" userId="23f28664-6c59-406e-87ca-bf1cc6d4f6c4" providerId="ADAL" clId="{A88309FF-F38B-4138-8EB8-37BF23FB4DA7}" dt="2026-03-03T20:47:37.237" v="4"/>
          <ac:spMkLst>
            <pc:docMk/>
            <pc:sldMk cId="679846694" sldId="302"/>
            <ac:spMk id="25" creationId="{E8D8B2C7-5FDC-498E-96D2-346C11607986}"/>
          </ac:spMkLst>
        </pc:spChg>
      </pc:sldChg>
      <pc:sldChg chg="modSp mod">
        <pc:chgData name="Xiaoling Yi" userId="23f28664-6c59-406e-87ca-bf1cc6d4f6c4" providerId="ADAL" clId="{A88309FF-F38B-4138-8EB8-37BF23FB4DA7}" dt="2026-03-03T20:48:25.329" v="21" actId="20577"/>
        <pc:sldMkLst>
          <pc:docMk/>
          <pc:sldMk cId="2306677903" sldId="303"/>
        </pc:sldMkLst>
        <pc:spChg chg="mod">
          <ac:chgData name="Xiaoling Yi" userId="23f28664-6c59-406e-87ca-bf1cc6d4f6c4" providerId="ADAL" clId="{A88309FF-F38B-4138-8EB8-37BF23FB4DA7}" dt="2026-03-03T20:48:25.329" v="21" actId="20577"/>
          <ac:spMkLst>
            <pc:docMk/>
            <pc:sldMk cId="2306677903" sldId="303"/>
            <ac:spMk id="17" creationId="{5661DE0F-D9CC-5A12-E7BC-C9CC36182F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201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761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503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dmem addr index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dmem data layout</a:t>
            </a:r>
            <a:endParaRPr/>
          </a:p>
        </p:txBody>
      </p:sp>
      <p:sp>
        <p:nvSpPr>
          <p:cNvPr id="224" name="Google Shape;224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[Jun-0324]: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+ diagram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+ </a:t>
            </a:r>
            <a:r>
              <a:rPr lang="en-US" dirty="0" err="1"/>
              <a:t>todo</a:t>
            </a:r>
            <a:r>
              <a:rPr lang="en-US" dirty="0"/>
              <a:t> list</a:t>
            </a:r>
            <a:endParaRPr dirty="0"/>
          </a:p>
        </p:txBody>
      </p:sp>
      <p:sp>
        <p:nvSpPr>
          <p:cNvPr id="249" name="Google Shape;249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slide order change</a:t>
            </a:r>
            <a:endParaRPr/>
          </a:p>
        </p:txBody>
      </p:sp>
      <p:sp>
        <p:nvSpPr>
          <p:cNvPr id="269" name="Google Shape;269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replace “Forwarding already known results”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delete the 2nd arrow: it was not covered/needed previously. Part of this session’s forwarding — the data forwarding after 1-cycle stall.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condition explanation</a:t>
            </a:r>
            <a:endParaRPr/>
          </a:p>
        </p:txBody>
      </p:sp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294" name="Google Shape;29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306" name="Google Shape;30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[Jun-0324]: + explanation</a:t>
            </a:r>
            <a:endParaRPr/>
          </a:p>
        </p:txBody>
      </p:sp>
      <p:sp>
        <p:nvSpPr>
          <p:cNvPr id="306" name="Google Shape;30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797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[Jun-0324]: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replace “Forwarding already known results”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- delete the 2nd arrow: it was not covered/needed previously. Part of this session’s forwarding — the data forwarding after 1-cycle stall.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+ condition explanation</a:t>
            </a:r>
            <a:endParaRPr/>
          </a:p>
        </p:txBody>
      </p:sp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498091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f00c1cdfb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1f00c1cdf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2039178D-5B56-8522-E800-9C42DF52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f00c1cdfb_0_58:notes">
            <a:extLst>
              <a:ext uri="{FF2B5EF4-FFF2-40B4-BE49-F238E27FC236}">
                <a16:creationId xmlns:a16="http://schemas.microsoft.com/office/drawing/2014/main" id="{BFB4D6EC-7DFE-3BE7-8A5A-C4DA7907E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11f00c1cdfb_0_58:notes">
            <a:extLst>
              <a:ext uri="{FF2B5EF4-FFF2-40B4-BE49-F238E27FC236}">
                <a16:creationId xmlns:a16="http://schemas.microsoft.com/office/drawing/2014/main" id="{219CA924-8C40-856E-8BD4-EB432C219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0372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1f40ab9e5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11f40ab9e5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6206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venus.cs61c.org/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Kritagya-Agarwal/Assembly-To-Machine-Code-RISC-V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Computer Architectures Session 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Pipelined RISC-V processor with control-hazard handling</a:t>
            </a: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&amp;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Advanced acceleration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01;p1">
            <a:extLst>
              <a:ext uri="{FF2B5EF4-FFF2-40B4-BE49-F238E27FC236}">
                <a16:creationId xmlns:a16="http://schemas.microsoft.com/office/drawing/2014/main" id="{89FE02F6-1C6C-65E5-27A3-E8B5D697DFA5}"/>
              </a:ext>
            </a:extLst>
          </p:cNvPr>
          <p:cNvSpPr txBox="1"/>
          <p:nvPr/>
        </p:nvSpPr>
        <p:spPr>
          <a:xfrm>
            <a:off x="2664476" y="4012406"/>
            <a:ext cx="359704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TAs 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Xiaoling Yi (xiaoling.yi@kuleuven.be)</a:t>
            </a:r>
            <a:endParaRPr lang="en-GB" sz="1200" dirty="0"/>
          </a:p>
          <a:p>
            <a:pPr marL="457200" lvl="1" algn="ctr"/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Chao Fang (chao.fang@kuleuve.be)</a:t>
            </a:r>
          </a:p>
          <a:p>
            <a:pPr marL="457200" lvl="1" algn="ctr"/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 Kneip (</a:t>
            </a: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adrian.kneip</a:t>
            </a:r>
            <a:r>
              <a:rPr lang="en-GB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@kuleuve.be</a:t>
            </a: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1D47FF4-7A00-9CBA-454B-B752EAA9C1E2}"/>
              </a:ext>
            </a:extLst>
          </p:cNvPr>
          <p:cNvSpPr/>
          <p:nvPr/>
        </p:nvSpPr>
        <p:spPr>
          <a:xfrm>
            <a:off x="5936620" y="288037"/>
            <a:ext cx="2753538" cy="595730"/>
          </a:xfrm>
          <a:prstGeom prst="rect">
            <a:avLst/>
          </a:prstGeom>
          <a:solidFill>
            <a:schemeClr val="accent2">
              <a:lumMod val="40000"/>
              <a:lumOff val="60000"/>
              <a:alpha val="29000"/>
            </a:schemeClr>
          </a:solidFill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cxnSp>
        <p:nvCxnSpPr>
          <p:cNvPr id="6" name="Google Shape;155;p4">
            <a:extLst>
              <a:ext uri="{FF2B5EF4-FFF2-40B4-BE49-F238E27FC236}">
                <a16:creationId xmlns:a16="http://schemas.microsoft.com/office/drawing/2014/main" id="{5DBCD802-3183-4242-743A-8316A2EBEA9E}"/>
              </a:ext>
            </a:extLst>
          </p:cNvPr>
          <p:cNvCxnSpPr>
            <a:cxnSpLocks/>
          </p:cNvCxnSpPr>
          <p:nvPr/>
        </p:nvCxnSpPr>
        <p:spPr>
          <a:xfrm>
            <a:off x="2596556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" name="Google Shape;168;p4">
            <a:extLst>
              <a:ext uri="{FF2B5EF4-FFF2-40B4-BE49-F238E27FC236}">
                <a16:creationId xmlns:a16="http://schemas.microsoft.com/office/drawing/2014/main" id="{AA82FADC-32C6-0FBF-6424-818D44755AF6}"/>
              </a:ext>
            </a:extLst>
          </p:cNvPr>
          <p:cNvCxnSpPr>
            <a:cxnSpLocks/>
          </p:cNvCxnSpPr>
          <p:nvPr/>
        </p:nvCxnSpPr>
        <p:spPr>
          <a:xfrm>
            <a:off x="2415488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7" name="Google Shape;117;p4"/>
          <p:cNvCxnSpPr>
            <a:cxnSpLocks/>
          </p:cNvCxnSpPr>
          <p:nvPr/>
        </p:nvCxnSpPr>
        <p:spPr>
          <a:xfrm>
            <a:off x="3899817" y="334446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8" name="Google Shape;118;p4"/>
          <p:cNvCxnSpPr>
            <a:cxnSpLocks/>
          </p:cNvCxnSpPr>
          <p:nvPr/>
        </p:nvCxnSpPr>
        <p:spPr>
          <a:xfrm>
            <a:off x="5366000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9" name="Google Shape;119;p4"/>
          <p:cNvCxnSpPr>
            <a:cxnSpLocks/>
          </p:cNvCxnSpPr>
          <p:nvPr/>
        </p:nvCxnSpPr>
        <p:spPr>
          <a:xfrm>
            <a:off x="6757639" y="3355892"/>
            <a:ext cx="0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0" name="Google Shape;120;p4"/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GB"/>
              <a:t>Timeline</a:t>
            </a:r>
            <a:endParaRPr/>
          </a:p>
        </p:txBody>
      </p:sp>
      <p:cxnSp>
        <p:nvCxnSpPr>
          <p:cNvPr id="146" name="Google Shape;146;p4"/>
          <p:cNvCxnSpPr>
            <a:cxnSpLocks/>
          </p:cNvCxnSpPr>
          <p:nvPr/>
        </p:nvCxnSpPr>
        <p:spPr>
          <a:xfrm>
            <a:off x="3103664" y="86117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5857394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48" name="Google Shape;148;p4"/>
          <p:cNvSpPr txBox="1"/>
          <p:nvPr/>
        </p:nvSpPr>
        <p:spPr>
          <a:xfrm>
            <a:off x="853432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3589092" y="873912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672928" y="881230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443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4164" y="413190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0894" y="4139520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96835" y="4131899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4"/>
          <p:cNvCxnSpPr>
            <a:cxnSpLocks/>
          </p:cNvCxnSpPr>
          <p:nvPr/>
        </p:nvCxnSpPr>
        <p:spPr>
          <a:xfrm>
            <a:off x="1129987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56" name="Google Shape;15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2190" y="4138502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705838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1079448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2422124" y="2564130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4111114" y="2557167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6635534" y="256412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7" name="Google Shape;167;p4"/>
          <p:cNvCxnSpPr>
            <a:cxnSpLocks/>
          </p:cNvCxnSpPr>
          <p:nvPr/>
        </p:nvCxnSpPr>
        <p:spPr>
          <a:xfrm>
            <a:off x="3708026" y="365787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8" name="Google Shape;168;p4"/>
          <p:cNvCxnSpPr>
            <a:cxnSpLocks/>
          </p:cNvCxnSpPr>
          <p:nvPr/>
        </p:nvCxnSpPr>
        <p:spPr>
          <a:xfrm>
            <a:off x="5174208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9" name="Google Shape;169;p4"/>
          <p:cNvCxnSpPr>
            <a:cxnSpLocks/>
          </p:cNvCxnSpPr>
          <p:nvPr/>
        </p:nvCxnSpPr>
        <p:spPr>
          <a:xfrm>
            <a:off x="6565847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p4"/>
          <p:cNvSpPr/>
          <p:nvPr/>
        </p:nvSpPr>
        <p:spPr>
          <a:xfrm>
            <a:off x="565922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7" name="Google Shape;127;p4"/>
          <p:cNvSpPr txBox="1"/>
          <p:nvPr/>
        </p:nvSpPr>
        <p:spPr>
          <a:xfrm>
            <a:off x="593804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single cycle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50343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29" name="Google Shape;129;p4"/>
          <p:cNvSpPr txBox="1"/>
          <p:nvPr/>
        </p:nvSpPr>
        <p:spPr>
          <a:xfrm>
            <a:off x="1650343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946094" y="1613973"/>
            <a:ext cx="985837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1" name="Google Shape;131;p4"/>
          <p:cNvSpPr txBox="1"/>
          <p:nvPr/>
        </p:nvSpPr>
        <p:spPr>
          <a:xfrm>
            <a:off x="1973976" y="1641855"/>
            <a:ext cx="930073" cy="8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 cycle processor with multiplication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030516" y="1967704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3" name="Google Shape;133;p4"/>
          <p:cNvSpPr txBox="1"/>
          <p:nvPr/>
        </p:nvSpPr>
        <p:spPr>
          <a:xfrm>
            <a:off x="3030515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326266" y="1613973"/>
            <a:ext cx="1514816" cy="427235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5" name="Google Shape;135;p4"/>
          <p:cNvSpPr txBox="1"/>
          <p:nvPr/>
        </p:nvSpPr>
        <p:spPr>
          <a:xfrm>
            <a:off x="3354148" y="1641855"/>
            <a:ext cx="1429130" cy="399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Pipelined processor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79664" y="1958955"/>
            <a:ext cx="208997" cy="244487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ABBADE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7" name="Google Shape;137;p4"/>
          <p:cNvSpPr txBox="1"/>
          <p:nvPr/>
        </p:nvSpPr>
        <p:spPr>
          <a:xfrm>
            <a:off x="4979663" y="2007852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324978" y="2102166"/>
            <a:ext cx="1514816" cy="40262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39" name="Google Shape;139;p4"/>
          <p:cNvSpPr txBox="1"/>
          <p:nvPr/>
        </p:nvSpPr>
        <p:spPr>
          <a:xfrm>
            <a:off x="3352860" y="2130048"/>
            <a:ext cx="1429130" cy="35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790860" y="2016601"/>
            <a:ext cx="146298" cy="146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1200"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263727" y="2087676"/>
            <a:ext cx="1906296" cy="41711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43" name="Google Shape;143;p4"/>
          <p:cNvSpPr txBox="1"/>
          <p:nvPr/>
        </p:nvSpPr>
        <p:spPr>
          <a:xfrm>
            <a:off x="5374929" y="2130797"/>
            <a:ext cx="1727423" cy="346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Advanced acceleration 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2;p4">
            <a:extLst>
              <a:ext uri="{FF2B5EF4-FFF2-40B4-BE49-F238E27FC236}">
                <a16:creationId xmlns:a16="http://schemas.microsoft.com/office/drawing/2014/main" id="{608BE2B4-DE30-DCC3-8A87-DABC5F6FFF78}"/>
              </a:ext>
            </a:extLst>
          </p:cNvPr>
          <p:cNvSpPr/>
          <p:nvPr/>
        </p:nvSpPr>
        <p:spPr>
          <a:xfrm>
            <a:off x="7566615" y="1613972"/>
            <a:ext cx="1125269" cy="951949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Project Feedback</a:t>
            </a:r>
          </a:p>
        </p:txBody>
      </p:sp>
      <p:cxnSp>
        <p:nvCxnSpPr>
          <p:cNvPr id="4" name="Google Shape;168;p4">
            <a:extLst>
              <a:ext uri="{FF2B5EF4-FFF2-40B4-BE49-F238E27FC236}">
                <a16:creationId xmlns:a16="http://schemas.microsoft.com/office/drawing/2014/main" id="{3BBB548C-1DFE-8DC0-A945-EA5B69E217E1}"/>
              </a:ext>
            </a:extLst>
          </p:cNvPr>
          <p:cNvCxnSpPr>
            <a:cxnSpLocks/>
          </p:cNvCxnSpPr>
          <p:nvPr/>
        </p:nvCxnSpPr>
        <p:spPr>
          <a:xfrm>
            <a:off x="948918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0E5BBC-7FDA-EDBB-EC81-878321107AE1}"/>
              </a:ext>
            </a:extLst>
          </p:cNvPr>
          <p:cNvSpPr txBox="1"/>
          <p:nvPr/>
        </p:nvSpPr>
        <p:spPr>
          <a:xfrm>
            <a:off x="1122906" y="1133979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[Mar-04/05]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34D6-F17D-6A18-7D90-0B129E891E8D}"/>
              </a:ext>
            </a:extLst>
          </p:cNvPr>
          <p:cNvSpPr txBox="1"/>
          <p:nvPr/>
        </p:nvSpPr>
        <p:spPr>
          <a:xfrm>
            <a:off x="3869581" y="1137901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58D9D9-BA20-73E4-D448-1EE853DEFF32}"/>
              </a:ext>
            </a:extLst>
          </p:cNvPr>
          <p:cNvSpPr txBox="1"/>
          <p:nvPr/>
        </p:nvSpPr>
        <p:spPr>
          <a:xfrm>
            <a:off x="5936620" y="1131148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[Apr-23/24]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3BB629E-CDBA-79EF-18C7-881462DEB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cxnSp>
        <p:nvCxnSpPr>
          <p:cNvPr id="3" name="Google Shape;147;p4">
            <a:extLst>
              <a:ext uri="{FF2B5EF4-FFF2-40B4-BE49-F238E27FC236}">
                <a16:creationId xmlns:a16="http://schemas.microsoft.com/office/drawing/2014/main" id="{611C3CE0-B466-F6DD-949B-D7D53F38ABF7}"/>
              </a:ext>
            </a:extLst>
          </p:cNvPr>
          <p:cNvCxnSpPr>
            <a:cxnSpLocks/>
          </p:cNvCxnSpPr>
          <p:nvPr/>
        </p:nvCxnSpPr>
        <p:spPr>
          <a:xfrm>
            <a:off x="7284512" y="869989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5" name="Google Shape;150;p4">
            <a:extLst>
              <a:ext uri="{FF2B5EF4-FFF2-40B4-BE49-F238E27FC236}">
                <a16:creationId xmlns:a16="http://schemas.microsoft.com/office/drawing/2014/main" id="{0F18987E-3B34-C9AA-37B6-7230795C3351}"/>
              </a:ext>
            </a:extLst>
          </p:cNvPr>
          <p:cNvSpPr txBox="1"/>
          <p:nvPr/>
        </p:nvSpPr>
        <p:spPr>
          <a:xfrm>
            <a:off x="7202980" y="883768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4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F19B6C-F6FC-53FE-34ED-881D563EF864}"/>
              </a:ext>
            </a:extLst>
          </p:cNvPr>
          <p:cNvSpPr txBox="1"/>
          <p:nvPr/>
        </p:nvSpPr>
        <p:spPr>
          <a:xfrm>
            <a:off x="7466672" y="1133687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[May-11/13]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Google Shape;142;p4">
            <a:extLst>
              <a:ext uri="{FF2B5EF4-FFF2-40B4-BE49-F238E27FC236}">
                <a16:creationId xmlns:a16="http://schemas.microsoft.com/office/drawing/2014/main" id="{23526D17-F773-EC42-989F-C0FAC350EA16}"/>
              </a:ext>
            </a:extLst>
          </p:cNvPr>
          <p:cNvSpPr/>
          <p:nvPr/>
        </p:nvSpPr>
        <p:spPr>
          <a:xfrm>
            <a:off x="7569703" y="2722523"/>
            <a:ext cx="1125269" cy="866422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algn="ctr"/>
            <a:r>
              <a:rPr lang="en-US" sz="1050">
                <a:solidFill>
                  <a:schemeClr val="bg1"/>
                </a:solidFill>
              </a:rPr>
              <a:t>Written Exam Exercises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837BE-5F6D-8352-6A12-EF5D6108416C}"/>
              </a:ext>
            </a:extLst>
          </p:cNvPr>
          <p:cNvSpPr txBox="1"/>
          <p:nvPr/>
        </p:nvSpPr>
        <p:spPr>
          <a:xfrm>
            <a:off x="6425479" y="386885"/>
            <a:ext cx="17265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Submission Deadline </a:t>
            </a:r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[May-1]</a:t>
            </a:r>
            <a:endParaRPr lang="en-US" sz="1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711329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Google Shape;138;p4">
            <a:extLst>
              <a:ext uri="{FF2B5EF4-FFF2-40B4-BE49-F238E27FC236}">
                <a16:creationId xmlns:a16="http://schemas.microsoft.com/office/drawing/2014/main" id="{4A0021A0-D1F0-81F5-A190-8A706C21199F}"/>
              </a:ext>
            </a:extLst>
          </p:cNvPr>
          <p:cNvSpPr/>
          <p:nvPr/>
        </p:nvSpPr>
        <p:spPr>
          <a:xfrm>
            <a:off x="5263728" y="1610386"/>
            <a:ext cx="1906295" cy="431810"/>
          </a:xfrm>
          <a:prstGeom prst="roundRect">
            <a:avLst>
              <a:gd name="adj" fmla="val 10000"/>
            </a:avLst>
          </a:prstGeom>
          <a:solidFill>
            <a:srgbClr val="4372C3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5" name="Google Shape;139;p4">
            <a:extLst>
              <a:ext uri="{FF2B5EF4-FFF2-40B4-BE49-F238E27FC236}">
                <a16:creationId xmlns:a16="http://schemas.microsoft.com/office/drawing/2014/main" id="{77E17023-35E1-EBFA-CE13-FA2D1E3ECA90}"/>
              </a:ext>
            </a:extLst>
          </p:cNvPr>
          <p:cNvSpPr txBox="1"/>
          <p:nvPr/>
        </p:nvSpPr>
        <p:spPr>
          <a:xfrm>
            <a:off x="5301875" y="1641854"/>
            <a:ext cx="1808382" cy="3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3" tIns="42863" rIns="42863" bIns="4286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1500"/>
            </a:pPr>
            <a:r>
              <a:rPr lang="en-US" altLang="zh-CN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-GB"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hazard resolution</a:t>
            </a:r>
            <a:endParaRPr sz="112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167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rgbClr val="B3C6E7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Last session recap</a:t>
            </a:r>
            <a:endParaRPr dirty="0"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F847B5-95B7-A955-4E87-D016069F8027}"/>
              </a:ext>
            </a:extLst>
          </p:cNvPr>
          <p:cNvSpPr txBox="1"/>
          <p:nvPr/>
        </p:nvSpPr>
        <p:spPr>
          <a:xfrm>
            <a:off x="5289368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[Apr-01/02]</a:t>
            </a:r>
          </a:p>
        </p:txBody>
      </p:sp>
    </p:spTree>
    <p:extLst>
      <p:ext uri="{BB962C8B-B14F-4D97-AF65-F5344CB8AC3E}">
        <p14:creationId xmlns:p14="http://schemas.microsoft.com/office/powerpoint/2010/main" val="67984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Last session recap</a:t>
            </a:r>
            <a:endParaRPr dirty="0"/>
          </a:p>
        </p:txBody>
      </p:sp>
      <p:pic>
        <p:nvPicPr>
          <p:cNvPr id="160" name="Google Shape;160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53064" y="681145"/>
            <a:ext cx="5927328" cy="332648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Pipelined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Processor</a:t>
            </a: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Mult2</a:t>
            </a: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cs typeface="Calibri"/>
                <a:sym typeface="Calibri"/>
              </a:rPr>
              <a:t> Mult3</a:t>
            </a:r>
            <a:endParaRPr dirty="0"/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r>
              <a:rPr lang="en-US" sz="2100" dirty="0">
                <a:latin typeface="Calibri"/>
                <a:ea typeface="Calibri"/>
                <a:cs typeface="Calibri"/>
                <a:sym typeface="Calibri"/>
              </a:rPr>
              <a:t> Backend complete</a:t>
            </a:r>
          </a:p>
          <a:p>
            <a:pPr marL="171450" indent="-171450">
              <a:lnSpc>
                <a:spcPct val="90000"/>
              </a:lnSpc>
              <a:spcBef>
                <a:spcPts val="750"/>
              </a:spcBef>
              <a:buSzPts val="2100"/>
              <a:buFont typeface="Noto Sans Symbols"/>
              <a:buChar char="✔"/>
            </a:pPr>
            <a:endParaRPr lang="en-US" sz="2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704475" y="4093652"/>
            <a:ext cx="30615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Arial"/>
              <a:buNone/>
            </a:pPr>
            <a:r>
              <a:rPr lang="en-US" sz="1920" b="1" i="1" u="none" strike="noStrike" cap="none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rPr>
              <a:t>Prerequisite for this session!</a:t>
            </a:r>
            <a:endParaRPr sz="1920" b="1" i="1" u="none" strike="noStrike" cap="none">
              <a:solidFill>
                <a:srgbClr val="E0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118;p4">
            <a:extLst>
              <a:ext uri="{FF2B5EF4-FFF2-40B4-BE49-F238E27FC236}">
                <a16:creationId xmlns:a16="http://schemas.microsoft.com/office/drawing/2014/main" id="{2B727E9D-C2C9-FCDB-0AEC-2010FFD45BBE}"/>
              </a:ext>
            </a:extLst>
          </p:cNvPr>
          <p:cNvCxnSpPr>
            <a:cxnSpLocks/>
          </p:cNvCxnSpPr>
          <p:nvPr/>
        </p:nvCxnSpPr>
        <p:spPr>
          <a:xfrm>
            <a:off x="5330198" y="3355892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" name="Google Shape;168;p4">
            <a:extLst>
              <a:ext uri="{FF2B5EF4-FFF2-40B4-BE49-F238E27FC236}">
                <a16:creationId xmlns:a16="http://schemas.microsoft.com/office/drawing/2014/main" id="{DF4D94DA-38A4-2FAB-A699-4D81AF4B20E9}"/>
              </a:ext>
            </a:extLst>
          </p:cNvPr>
          <p:cNvCxnSpPr>
            <a:cxnSpLocks/>
          </p:cNvCxnSpPr>
          <p:nvPr/>
        </p:nvCxnSpPr>
        <p:spPr>
          <a:xfrm>
            <a:off x="5138406" y="3669306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" name="Google Shape;155;p4">
            <a:extLst>
              <a:ext uri="{FF2B5EF4-FFF2-40B4-BE49-F238E27FC236}">
                <a16:creationId xmlns:a16="http://schemas.microsoft.com/office/drawing/2014/main" id="{88BBAF96-C2BC-51DB-D813-6D036B11652B}"/>
              </a:ext>
            </a:extLst>
          </p:cNvPr>
          <p:cNvCxnSpPr>
            <a:cxnSpLocks/>
          </p:cNvCxnSpPr>
          <p:nvPr/>
        </p:nvCxnSpPr>
        <p:spPr>
          <a:xfrm>
            <a:off x="4020407" y="3333226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" name="Google Shape;168;p4">
            <a:extLst>
              <a:ext uri="{FF2B5EF4-FFF2-40B4-BE49-F238E27FC236}">
                <a16:creationId xmlns:a16="http://schemas.microsoft.com/office/drawing/2014/main" id="{02494D52-AA22-2073-50F0-8EE692E15461}"/>
              </a:ext>
            </a:extLst>
          </p:cNvPr>
          <p:cNvCxnSpPr>
            <a:cxnSpLocks/>
          </p:cNvCxnSpPr>
          <p:nvPr/>
        </p:nvCxnSpPr>
        <p:spPr>
          <a:xfrm>
            <a:off x="3839339" y="3660371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1" name="Google Shape;118;p4">
            <a:extLst>
              <a:ext uri="{FF2B5EF4-FFF2-40B4-BE49-F238E27FC236}">
                <a16:creationId xmlns:a16="http://schemas.microsoft.com/office/drawing/2014/main" id="{D0F4864D-BB27-DADB-60AA-3A338CBACB9E}"/>
              </a:ext>
            </a:extLst>
          </p:cNvPr>
          <p:cNvCxnSpPr>
            <a:cxnSpLocks/>
          </p:cNvCxnSpPr>
          <p:nvPr/>
        </p:nvCxnSpPr>
        <p:spPr>
          <a:xfrm>
            <a:off x="6789851" y="3343255"/>
            <a:ext cx="0" cy="649796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" name="Google Shape;119;p4">
            <a:extLst>
              <a:ext uri="{FF2B5EF4-FFF2-40B4-BE49-F238E27FC236}">
                <a16:creationId xmlns:a16="http://schemas.microsoft.com/office/drawing/2014/main" id="{97457FF3-BABD-BD1F-8827-C3D0CA0A7986}"/>
              </a:ext>
            </a:extLst>
          </p:cNvPr>
          <p:cNvCxnSpPr>
            <a:cxnSpLocks/>
          </p:cNvCxnSpPr>
          <p:nvPr/>
        </p:nvCxnSpPr>
        <p:spPr>
          <a:xfrm>
            <a:off x="8181490" y="3355892"/>
            <a:ext cx="11886" cy="637158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" name="Google Shape;155;p4">
            <a:extLst>
              <a:ext uri="{FF2B5EF4-FFF2-40B4-BE49-F238E27FC236}">
                <a16:creationId xmlns:a16="http://schemas.microsoft.com/office/drawing/2014/main" id="{64C46789-7C96-BFFE-3EE2-65F7C3C417E7}"/>
              </a:ext>
            </a:extLst>
          </p:cNvPr>
          <p:cNvCxnSpPr>
            <a:cxnSpLocks/>
          </p:cNvCxnSpPr>
          <p:nvPr/>
        </p:nvCxnSpPr>
        <p:spPr>
          <a:xfrm>
            <a:off x="2553838" y="3333332"/>
            <a:ext cx="0" cy="659825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" name="Google Shape;168;p4">
            <a:extLst>
              <a:ext uri="{FF2B5EF4-FFF2-40B4-BE49-F238E27FC236}">
                <a16:creationId xmlns:a16="http://schemas.microsoft.com/office/drawing/2014/main" id="{31AA6BF2-0690-F947-D977-953DCB23CD43}"/>
              </a:ext>
            </a:extLst>
          </p:cNvPr>
          <p:cNvCxnSpPr>
            <a:cxnSpLocks/>
          </p:cNvCxnSpPr>
          <p:nvPr/>
        </p:nvCxnSpPr>
        <p:spPr>
          <a:xfrm>
            <a:off x="6598059" y="3656669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69;p4">
            <a:extLst>
              <a:ext uri="{FF2B5EF4-FFF2-40B4-BE49-F238E27FC236}">
                <a16:creationId xmlns:a16="http://schemas.microsoft.com/office/drawing/2014/main" id="{A6EED7C7-3BCC-7170-0051-CC7458DADC6F}"/>
              </a:ext>
            </a:extLst>
          </p:cNvPr>
          <p:cNvCxnSpPr>
            <a:cxnSpLocks/>
          </p:cNvCxnSpPr>
          <p:nvPr/>
        </p:nvCxnSpPr>
        <p:spPr>
          <a:xfrm>
            <a:off x="7989698" y="3669307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68;p4">
            <a:extLst>
              <a:ext uri="{FF2B5EF4-FFF2-40B4-BE49-F238E27FC236}">
                <a16:creationId xmlns:a16="http://schemas.microsoft.com/office/drawing/2014/main" id="{82DC78EA-BC53-6870-490D-020E5B4CB541}"/>
              </a:ext>
            </a:extLst>
          </p:cNvPr>
          <p:cNvCxnSpPr>
            <a:cxnSpLocks/>
          </p:cNvCxnSpPr>
          <p:nvPr/>
        </p:nvCxnSpPr>
        <p:spPr>
          <a:xfrm>
            <a:off x="2372769" y="3660478"/>
            <a:ext cx="0" cy="324000"/>
          </a:xfrm>
          <a:prstGeom prst="straightConnector1">
            <a:avLst/>
          </a:prstGeom>
          <a:noFill/>
          <a:ln w="5715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4"/>
          <p:cNvCxnSpPr>
            <a:cxnSpLocks/>
          </p:cNvCxnSpPr>
          <p:nvPr/>
        </p:nvCxnSpPr>
        <p:spPr>
          <a:xfrm>
            <a:off x="1803953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6" name="Google Shape;146;p4"/>
          <p:cNvCxnSpPr>
            <a:cxnSpLocks/>
          </p:cNvCxnSpPr>
          <p:nvPr/>
        </p:nvCxnSpPr>
        <p:spPr>
          <a:xfrm>
            <a:off x="4546565" y="1040240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47" name="Google Shape;147;p4"/>
          <p:cNvCxnSpPr>
            <a:cxnSpLocks/>
          </p:cNvCxnSpPr>
          <p:nvPr/>
        </p:nvCxnSpPr>
        <p:spPr>
          <a:xfrm>
            <a:off x="7338259" y="1024642"/>
            <a:ext cx="0" cy="3807000"/>
          </a:xfrm>
          <a:prstGeom prst="straightConnector1">
            <a:avLst/>
          </a:prstGeom>
          <a:noFill/>
          <a:ln w="57150" cap="flat" cmpd="sng">
            <a:solidFill>
              <a:srgbClr val="FB9937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5137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3859" y="4124038"/>
            <a:ext cx="590220" cy="5902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4"/>
          <p:cNvCxnSpPr/>
          <p:nvPr/>
        </p:nvCxnSpPr>
        <p:spPr>
          <a:xfrm>
            <a:off x="2522349" y="2554149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0" name="Google Shape;160;p4"/>
          <p:cNvCxnSpPr/>
          <p:nvPr/>
        </p:nvCxnSpPr>
        <p:spPr>
          <a:xfrm>
            <a:off x="3865025" y="2554148"/>
            <a:ext cx="0" cy="373996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1" name="Google Shape;161;p4"/>
          <p:cNvCxnSpPr/>
          <p:nvPr/>
        </p:nvCxnSpPr>
        <p:spPr>
          <a:xfrm>
            <a:off x="5266518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6652511" y="2554147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/>
          <p:nvPr/>
        </p:nvCxnSpPr>
        <p:spPr>
          <a:xfrm>
            <a:off x="8078435" y="2554146"/>
            <a:ext cx="0" cy="373996"/>
          </a:xfrm>
          <a:prstGeom prst="straightConnector1">
            <a:avLst/>
          </a:prstGeom>
          <a:noFill/>
          <a:ln w="57150" cap="flat" cmpd="sng">
            <a:solidFill>
              <a:srgbClr val="B3C6E7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628650" y="1603991"/>
            <a:ext cx="7886699" cy="951949"/>
            <a:chOff x="0" y="1053293"/>
            <a:chExt cx="10515598" cy="1269265"/>
          </a:xfrm>
        </p:grpSpPr>
        <p:sp>
          <p:nvSpPr>
            <p:cNvPr id="122" name="Google Shape;122;p4"/>
            <p:cNvSpPr/>
            <p:nvPr/>
          </p:nvSpPr>
          <p:spPr>
            <a:xfrm>
              <a:off x="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3717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skeleton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144589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5" name="Google Shape;125;p4"/>
            <p:cNvSpPr txBox="1"/>
            <p:nvPr/>
          </p:nvSpPr>
          <p:spPr>
            <a:xfrm>
              <a:off x="144589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184023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87740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Functional single cycle processor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328612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328612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368046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371763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Single cycle processor with multiplication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512635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512635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52069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5786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</a:t>
              </a:r>
              <a:endParaRPr sz="1125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6966585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6966585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7360920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7398096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Pipelined processor with data hazard resolution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8806814" y="1524934"/>
              <a:ext cx="278663" cy="32598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BBADE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1" name="Google Shape;141;p4"/>
            <p:cNvSpPr txBox="1"/>
            <p:nvPr/>
          </p:nvSpPr>
          <p:spPr>
            <a:xfrm>
              <a:off x="8806814" y="1590131"/>
              <a:ext cx="195064" cy="1955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200"/>
              </a:pP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9201149" y="1053293"/>
              <a:ext cx="1314449" cy="1269265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9238325" y="1090469"/>
              <a:ext cx="1240097" cy="1194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863" tIns="42863" rIns="42863" bIns="42863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500"/>
              </a:pPr>
              <a:r>
                <a:rPr lang="en-GB" sz="1125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Advanced acceleration </a:t>
              </a:r>
              <a:endParaRPr sz="112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oogle Shape;305;p13">
            <a:extLst>
              <a:ext uri="{FF2B5EF4-FFF2-40B4-BE49-F238E27FC236}">
                <a16:creationId xmlns:a16="http://schemas.microsoft.com/office/drawing/2014/main" id="{197E8DEF-9710-D971-1995-10DA669C5CE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467" y="4118148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6;p13">
            <a:extLst>
              <a:ext uri="{FF2B5EF4-FFF2-40B4-BE49-F238E27FC236}">
                <a16:creationId xmlns:a16="http://schemas.microsoft.com/office/drawing/2014/main" id="{4BF32D45-9167-5D5F-1260-3B8DA0CD51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409" y="4118147"/>
            <a:ext cx="590220" cy="590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08;p13">
            <a:extLst>
              <a:ext uri="{FF2B5EF4-FFF2-40B4-BE49-F238E27FC236}">
                <a16:creationId xmlns:a16="http://schemas.microsoft.com/office/drawing/2014/main" id="{3FCA85AD-39A2-B9D7-0ADF-B77FA25BEB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6221" y="4169905"/>
            <a:ext cx="590220" cy="5902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7;p4">
            <a:extLst>
              <a:ext uri="{FF2B5EF4-FFF2-40B4-BE49-F238E27FC236}">
                <a16:creationId xmlns:a16="http://schemas.microsoft.com/office/drawing/2014/main" id="{92D95964-2695-06ED-21BE-7F5B3EF4F22D}"/>
              </a:ext>
            </a:extLst>
          </p:cNvPr>
          <p:cNvSpPr/>
          <p:nvPr/>
        </p:nvSpPr>
        <p:spPr>
          <a:xfrm>
            <a:off x="2129689" y="2938126"/>
            <a:ext cx="6494467" cy="39520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8;p4">
            <a:extLst>
              <a:ext uri="{FF2B5EF4-FFF2-40B4-BE49-F238E27FC236}">
                <a16:creationId xmlns:a16="http://schemas.microsoft.com/office/drawing/2014/main" id="{4DBD5539-C596-FFCD-C097-314A1AB05036}"/>
              </a:ext>
            </a:extLst>
          </p:cNvPr>
          <p:cNvSpPr/>
          <p:nvPr/>
        </p:nvSpPr>
        <p:spPr>
          <a:xfrm>
            <a:off x="2135180" y="3274100"/>
            <a:ext cx="6488978" cy="391397"/>
          </a:xfrm>
          <a:prstGeom prst="roundRect">
            <a:avLst>
              <a:gd name="adj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Backend flow (synthesis-only)</a:t>
            </a:r>
            <a:endParaRPr lang="en-US" sz="135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158;p4">
            <a:extLst>
              <a:ext uri="{FF2B5EF4-FFF2-40B4-BE49-F238E27FC236}">
                <a16:creationId xmlns:a16="http://schemas.microsoft.com/office/drawing/2014/main" id="{C3EE7B30-53EA-7CE5-949F-278E82E15B63}"/>
              </a:ext>
            </a:extLst>
          </p:cNvPr>
          <p:cNvSpPr/>
          <p:nvPr/>
        </p:nvSpPr>
        <p:spPr>
          <a:xfrm>
            <a:off x="4845930" y="3712957"/>
            <a:ext cx="2218125" cy="391397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r>
              <a:rPr lang="en-GB" sz="135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 flow (complete)</a:t>
            </a:r>
            <a:endParaRPr sz="135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Today’s session</a:t>
            </a:r>
            <a:r>
              <a:rPr lang="en-US" dirty="0"/>
              <a:t>: Advanced acceleration</a:t>
            </a:r>
            <a:endParaRPr dirty="0"/>
          </a:p>
        </p:txBody>
      </p:sp>
      <p:sp>
        <p:nvSpPr>
          <p:cNvPr id="19" name="Google Shape;148;p4">
            <a:extLst>
              <a:ext uri="{FF2B5EF4-FFF2-40B4-BE49-F238E27FC236}">
                <a16:creationId xmlns:a16="http://schemas.microsoft.com/office/drawing/2014/main" id="{3080C2C2-2259-8268-98ED-A7384F9CEAF8}"/>
              </a:ext>
            </a:extLst>
          </p:cNvPr>
          <p:cNvSpPr txBox="1"/>
          <p:nvPr/>
        </p:nvSpPr>
        <p:spPr>
          <a:xfrm>
            <a:off x="2277283" y="869989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1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49;p4">
            <a:extLst>
              <a:ext uri="{FF2B5EF4-FFF2-40B4-BE49-F238E27FC236}">
                <a16:creationId xmlns:a16="http://schemas.microsoft.com/office/drawing/2014/main" id="{9E570D9A-E84D-F24B-E27B-BD613148DF83}"/>
              </a:ext>
            </a:extLst>
          </p:cNvPr>
          <p:cNvSpPr txBox="1"/>
          <p:nvPr/>
        </p:nvSpPr>
        <p:spPr>
          <a:xfrm>
            <a:off x="5065168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Session 2</a:t>
            </a:r>
            <a:endParaRPr sz="1800" b="1" dirty="0">
              <a:solidFill>
                <a:schemeClr val="bg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0;p4">
            <a:extLst>
              <a:ext uri="{FF2B5EF4-FFF2-40B4-BE49-F238E27FC236}">
                <a16:creationId xmlns:a16="http://schemas.microsoft.com/office/drawing/2014/main" id="{732F8727-CB54-3C6D-23A1-34CD8B91EF71}"/>
              </a:ext>
            </a:extLst>
          </p:cNvPr>
          <p:cNvSpPr txBox="1"/>
          <p:nvPr/>
        </p:nvSpPr>
        <p:spPr>
          <a:xfrm>
            <a:off x="7115701" y="889783"/>
            <a:ext cx="17858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Session 3</a:t>
            </a:r>
            <a:endParaRPr sz="18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661DE0F-D9CC-5A12-E7BC-C9CC36182F4B}"/>
              </a:ext>
            </a:extLst>
          </p:cNvPr>
          <p:cNvSpPr txBox="1"/>
          <p:nvPr/>
        </p:nvSpPr>
        <p:spPr>
          <a:xfrm>
            <a:off x="7393770" y="1118713"/>
            <a:ext cx="12695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[Apr-23/24]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589BEE65-6183-E730-1EF1-A0D57B5776EE}"/>
              </a:ext>
            </a:extLst>
          </p:cNvPr>
          <p:cNvSpPr txBox="1"/>
          <p:nvPr/>
        </p:nvSpPr>
        <p:spPr>
          <a:xfrm>
            <a:off x="7380059" y="3146427"/>
            <a:ext cx="172668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Obj-1: mult4</a:t>
            </a:r>
          </a:p>
        </p:txBody>
      </p:sp>
    </p:spTree>
    <p:extLst>
      <p:ext uri="{BB962C8B-B14F-4D97-AF65-F5344CB8AC3E}">
        <p14:creationId xmlns:p14="http://schemas.microsoft.com/office/powerpoint/2010/main" val="230667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E736C6-0ABE-D038-F1FE-399C81EA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221" y="773991"/>
            <a:ext cx="5148029" cy="654033"/>
          </a:xfrm>
          <a:prstGeom prst="rect">
            <a:avLst/>
          </a:prstGeom>
        </p:spPr>
      </p:pic>
      <p:sp>
        <p:nvSpPr>
          <p:cNvPr id="226" name="Google Shape;226;p7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Obj-1: mult4</a:t>
            </a:r>
            <a:endParaRPr dirty="0"/>
          </a:p>
        </p:txBody>
      </p:sp>
      <p:sp>
        <p:nvSpPr>
          <p:cNvPr id="227" name="Google Shape;227;p76"/>
          <p:cNvSpPr txBox="1">
            <a:spLocks noGrp="1"/>
          </p:cNvSpPr>
          <p:nvPr>
            <p:ph type="body" idx="1"/>
          </p:nvPr>
        </p:nvSpPr>
        <p:spPr>
          <a:xfrm>
            <a:off x="375766" y="1225775"/>
            <a:ext cx="4361548" cy="3888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Matrix-matrix multiplication (</a:t>
            </a:r>
            <a:r>
              <a:rPr lang="en-US" b="1" dirty="0">
                <a:highlight>
                  <a:srgbClr val="FFFF00"/>
                </a:highlight>
              </a:rPr>
              <a:t>MULT4</a:t>
            </a:r>
            <a:r>
              <a:rPr lang="en-US" dirty="0"/>
              <a:t>)</a:t>
            </a:r>
            <a:endParaRPr dirty="0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I</a:t>
            </a:r>
            <a:r>
              <a:rPr lang="en-US" altLang="zh-CN"/>
              <a:t>nput </a:t>
            </a:r>
            <a:r>
              <a:rPr lang="en-US" dirty="0"/>
              <a:t>matrices stored in </a:t>
            </a:r>
            <a:r>
              <a:rPr lang="en-US" b="1" dirty="0"/>
              <a:t>mult4_dmem_content.txt </a:t>
            </a:r>
            <a:endParaRPr lang="en-US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>
                <a:latin typeface="Calibri" panose="020F0502020204030204" pitchFamily="34" charset="0"/>
                <a:ea typeface="Consolas"/>
                <a:cs typeface="Calibri" panose="020F0502020204030204" pitchFamily="34" charset="0"/>
                <a:sym typeface="Consolas"/>
              </a:rPr>
              <a:t>Methods</a:t>
            </a: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Add more </a:t>
            </a:r>
            <a:r>
              <a:rPr lang="en-US" sz="1700" b="1" dirty="0">
                <a:latin typeface="Consolas"/>
                <a:ea typeface="Consolas"/>
                <a:cs typeface="Consolas"/>
                <a:sym typeface="Consolas"/>
              </a:rPr>
              <a:t>RTL</a:t>
            </a: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 modules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Modify the </a:t>
            </a:r>
            <a:r>
              <a:rPr lang="en-US" sz="1700" b="1" dirty="0">
                <a:latin typeface="Consolas"/>
                <a:ea typeface="Consolas"/>
                <a:cs typeface="Consolas"/>
                <a:sym typeface="Consolas"/>
              </a:rPr>
              <a:t>mult4_imem </a:t>
            </a: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700" dirty="0">
              <a:latin typeface="Consolas"/>
              <a:ea typeface="Consolas"/>
              <a:cs typeface="Consolas"/>
              <a:sym typeface="Consolas"/>
            </a:endParaRPr>
          </a:p>
          <a:p>
            <a:pPr lvl="1" indent="-317500">
              <a:lnSpc>
                <a:spcPts val="2400"/>
              </a:lnSpc>
              <a:buSzPts val="1400"/>
              <a:buFont typeface="Consolas"/>
              <a:buAutoNum type="romanLcPeriod"/>
            </a:pPr>
            <a:r>
              <a:rPr lang="en-US" sz="1700" dirty="0">
                <a:latin typeface="Consolas"/>
                <a:ea typeface="Consolas"/>
                <a:cs typeface="Consolas"/>
                <a:sym typeface="Consolas"/>
              </a:rPr>
              <a:t>or both …</a:t>
            </a:r>
            <a:endParaRPr lang="en-US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Pass the simulation</a:t>
            </a:r>
            <a:endParaRPr dirty="0"/>
          </a:p>
          <a:p>
            <a:pPr marL="514350" lvl="1" indent="-171450" algn="l" rtl="0">
              <a:lnSpc>
                <a:spcPts val="24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Synthesize</a:t>
            </a:r>
            <a:endParaRPr dirty="0"/>
          </a:p>
        </p:txBody>
      </p:sp>
      <p:graphicFrame>
        <p:nvGraphicFramePr>
          <p:cNvPr id="228" name="Google Shape;228;p76"/>
          <p:cNvGraphicFramePr/>
          <p:nvPr>
            <p:extLst>
              <p:ext uri="{D42A27DB-BD31-4B8C-83A1-F6EECF244321}">
                <p14:modId xmlns:p14="http://schemas.microsoft.com/office/powerpoint/2010/main" val="1172583338"/>
              </p:ext>
            </p:extLst>
          </p:nvPr>
        </p:nvGraphicFramePr>
        <p:xfrm>
          <a:off x="5738181" y="2357490"/>
          <a:ext cx="986425" cy="2194560"/>
        </p:xfrm>
        <a:graphic>
          <a:graphicData uri="http://schemas.openxmlformats.org/drawingml/2006/table">
            <a:tbl>
              <a:tblPr>
                <a:noFill/>
                <a:tableStyleId>{CE7E8FC3-4963-435C-82D0-51C3FBD32D88}</a:tableStyleId>
              </a:tblPr>
              <a:tblGrid>
                <a:gridCol w="98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0x2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0x3</a:t>
                      </a:r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0x15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0x16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0x17</a:t>
                      </a:r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C4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0x163</a:t>
                      </a:r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</a:t>
                      </a:r>
                      <a:r>
                        <a:rPr lang="en-US" sz="1200"/>
                        <a:t>1AE</a:t>
                      </a:r>
                      <a:endParaRPr lang="en-US" sz="1200" u="none" strike="noStrike" cap="none"/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0x1F9</a:t>
                      </a:r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…</a:t>
                      </a:r>
                      <a:endParaRPr sz="1200" u="none" strike="noStrike" cap="none"/>
                    </a:p>
                  </a:txBody>
                  <a:tcPr marL="0" marR="0" marT="0" marB="0">
                    <a:solidFill>
                      <a:srgbClr val="9CC2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29" name="Google Shape;229;p76"/>
          <p:cNvSpPr txBox="1"/>
          <p:nvPr/>
        </p:nvSpPr>
        <p:spPr>
          <a:xfrm>
            <a:off x="4737314" y="2055798"/>
            <a:ext cx="1927800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memory</a:t>
            </a:r>
            <a:r>
              <a:rPr lang="en-US" sz="15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layout:</a:t>
            </a:r>
            <a:endParaRPr sz="15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6"/>
          <p:cNvSpPr txBox="1"/>
          <p:nvPr/>
        </p:nvSpPr>
        <p:spPr>
          <a:xfrm>
            <a:off x="4987843" y="3219520"/>
            <a:ext cx="686726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W[K][C]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6"/>
          <p:cNvSpPr txBox="1"/>
          <p:nvPr/>
        </p:nvSpPr>
        <p:spPr>
          <a:xfrm>
            <a:off x="5046760" y="2523717"/>
            <a:ext cx="620988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I[B][C]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6"/>
          <p:cNvSpPr txBox="1"/>
          <p:nvPr/>
        </p:nvSpPr>
        <p:spPr>
          <a:xfrm>
            <a:off x="4858301" y="3946643"/>
            <a:ext cx="887840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O[B][K]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(expected)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p76"/>
          <p:cNvGrpSpPr/>
          <p:nvPr/>
        </p:nvGrpSpPr>
        <p:grpSpPr>
          <a:xfrm>
            <a:off x="4150648" y="337014"/>
            <a:ext cx="3995038" cy="1374362"/>
            <a:chOff x="4309398" y="253480"/>
            <a:chExt cx="3995038" cy="1374362"/>
          </a:xfrm>
        </p:grpSpPr>
        <p:sp>
          <p:nvSpPr>
            <p:cNvPr id="235" name="Google Shape;235;p76"/>
            <p:cNvSpPr txBox="1"/>
            <p:nvPr/>
          </p:nvSpPr>
          <p:spPr>
            <a:xfrm>
              <a:off x="5228647" y="257738"/>
              <a:ext cx="2924026" cy="300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sng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 example:  </a:t>
              </a:r>
              <a:endParaRPr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76"/>
            <p:cNvSpPr txBox="1"/>
            <p:nvPr/>
          </p:nvSpPr>
          <p:spPr>
            <a:xfrm>
              <a:off x="4309398" y="1344490"/>
              <a:ext cx="579727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55A11"/>
                  </a:solidFill>
                  <a:latin typeface="Calibri"/>
                  <a:ea typeface="Calibri"/>
                  <a:cs typeface="Calibri"/>
                  <a:sym typeface="Calibri"/>
                </a:rPr>
                <a:t>I[B][C]</a:t>
              </a:r>
              <a:endParaRPr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76"/>
            <p:cNvSpPr txBox="1"/>
            <p:nvPr/>
          </p:nvSpPr>
          <p:spPr>
            <a:xfrm>
              <a:off x="5737211" y="1350873"/>
              <a:ext cx="686726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W[C][K]</a:t>
              </a:r>
              <a:endParaRPr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6"/>
            <p:cNvSpPr txBox="1"/>
            <p:nvPr/>
          </p:nvSpPr>
          <p:spPr>
            <a:xfrm>
              <a:off x="7656182" y="1350180"/>
              <a:ext cx="648254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O[B][K]</a:t>
              </a:r>
              <a:endParaRPr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76"/>
            <p:cNvSpPr txBox="1"/>
            <p:nvPr/>
          </p:nvSpPr>
          <p:spPr>
            <a:xfrm>
              <a:off x="6647957" y="253480"/>
              <a:ext cx="1584468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 = 4 , C = 5, K = 6)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76"/>
          <p:cNvSpPr txBox="1"/>
          <p:nvPr/>
        </p:nvSpPr>
        <p:spPr>
          <a:xfrm>
            <a:off x="6788251" y="2059847"/>
            <a:ext cx="849666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200" b="1" i="1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</a:t>
            </a:r>
            <a:r>
              <a:rPr lang="en-US" sz="12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/8</a:t>
            </a:r>
            <a:r>
              <a:rPr lang="en-US" sz="1200" b="1" i="1">
                <a:latin typeface="Calibri"/>
                <a:ea typeface="Calibri"/>
                <a:cs typeface="Calibri"/>
                <a:sym typeface="Calibri"/>
              </a:rPr>
              <a:t>]</a:t>
            </a:r>
            <a:endParaRPr sz="1200" b="1" i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0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19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20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49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50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73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6"/>
          <p:cNvSpPr txBox="1"/>
          <p:nvPr/>
        </p:nvSpPr>
        <p:spPr>
          <a:xfrm>
            <a:off x="6936264" y="2523710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Row-major</a:t>
            </a:r>
            <a:endParaRPr sz="1000" b="1" i="1">
              <a:solidFill>
                <a:schemeClr val="accent4"/>
              </a:solidFill>
            </a:endParaRPr>
          </a:p>
        </p:txBody>
      </p:sp>
      <p:sp>
        <p:nvSpPr>
          <p:cNvPr id="242" name="Google Shape;242;p76"/>
          <p:cNvSpPr txBox="1"/>
          <p:nvPr/>
        </p:nvSpPr>
        <p:spPr>
          <a:xfrm>
            <a:off x="6936264" y="3258779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Column-major</a:t>
            </a:r>
            <a:endParaRPr sz="1000" b="1" i="1">
              <a:solidFill>
                <a:schemeClr val="accent4"/>
              </a:solidFill>
            </a:endParaRPr>
          </a:p>
        </p:txBody>
      </p:sp>
      <p:sp>
        <p:nvSpPr>
          <p:cNvPr id="243" name="Google Shape;243;p76"/>
          <p:cNvSpPr txBox="1"/>
          <p:nvPr/>
        </p:nvSpPr>
        <p:spPr>
          <a:xfrm>
            <a:off x="6936264" y="3993860"/>
            <a:ext cx="12963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Row-major</a:t>
            </a:r>
            <a:endParaRPr sz="1000" b="1" i="1" dirty="0">
              <a:solidFill>
                <a:schemeClr val="accent4"/>
              </a:solidFill>
            </a:endParaRPr>
          </a:p>
        </p:txBody>
      </p:sp>
      <p:cxnSp>
        <p:nvCxnSpPr>
          <p:cNvPr id="244" name="Google Shape;244;p76"/>
          <p:cNvCxnSpPr>
            <a:cxnSpLocks/>
            <a:endCxn id="231" idx="1"/>
          </p:cNvCxnSpPr>
          <p:nvPr/>
        </p:nvCxnSpPr>
        <p:spPr>
          <a:xfrm>
            <a:off x="3533092" y="2379838"/>
            <a:ext cx="1513668" cy="3862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76"/>
          <p:cNvSpPr/>
          <p:nvPr/>
        </p:nvSpPr>
        <p:spPr>
          <a:xfrm>
            <a:off x="4869675" y="3820533"/>
            <a:ext cx="3204000" cy="7314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6"/>
          <p:cNvSpPr txBox="1"/>
          <p:nvPr/>
        </p:nvSpPr>
        <p:spPr>
          <a:xfrm>
            <a:off x="5211808" y="4622461"/>
            <a:ext cx="3152886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check on this part!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E91519-371E-404B-93E1-C695BB89E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4" name="Google Shape;244;p76">
            <a:extLst>
              <a:ext uri="{FF2B5EF4-FFF2-40B4-BE49-F238E27FC236}">
                <a16:creationId xmlns:a16="http://schemas.microsoft.com/office/drawing/2014/main" id="{3C3F73E7-4E55-FC22-99ED-3007351A3185}"/>
              </a:ext>
            </a:extLst>
          </p:cNvPr>
          <p:cNvCxnSpPr>
            <a:cxnSpLocks/>
            <a:endCxn id="230" idx="1"/>
          </p:cNvCxnSpPr>
          <p:nvPr/>
        </p:nvCxnSpPr>
        <p:spPr>
          <a:xfrm>
            <a:off x="3533092" y="2379955"/>
            <a:ext cx="1454751" cy="10819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43;p76">
            <a:extLst>
              <a:ext uri="{FF2B5EF4-FFF2-40B4-BE49-F238E27FC236}">
                <a16:creationId xmlns:a16="http://schemas.microsoft.com/office/drawing/2014/main" id="{32A2EFA9-0EDF-7D1A-1692-8228C38A351B}"/>
              </a:ext>
            </a:extLst>
          </p:cNvPr>
          <p:cNvSpPr txBox="1"/>
          <p:nvPr/>
        </p:nvSpPr>
        <p:spPr>
          <a:xfrm>
            <a:off x="3615504" y="3942780"/>
            <a:ext cx="12963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 b="1" i="1" dirty="0">
                <a:solidFill>
                  <a:schemeClr val="accent4"/>
                </a:solidFill>
                <a:latin typeface="Calibri"/>
                <a:cs typeface="Calibri"/>
                <a:sym typeface="Calibri"/>
              </a:rPr>
              <a:t>Results are written back to this part of the data memory </a:t>
            </a:r>
            <a:endParaRPr sz="1000" b="1" i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0BA9F0-EA32-C380-C69F-B8D4F43D4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35" y="993716"/>
            <a:ext cx="3304923" cy="1666654"/>
          </a:xfrm>
          <a:prstGeom prst="rect">
            <a:avLst/>
          </a:prstGeom>
        </p:spPr>
      </p:pic>
      <p:sp>
        <p:nvSpPr>
          <p:cNvPr id="252" name="Google Shape;252;p77"/>
          <p:cNvSpPr/>
          <p:nvPr/>
        </p:nvSpPr>
        <p:spPr>
          <a:xfrm>
            <a:off x="349511" y="161832"/>
            <a:ext cx="8519400" cy="57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MULT4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baseline solution</a:t>
            </a:r>
            <a:endParaRPr sz="2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7"/>
          <p:cNvSpPr txBox="1"/>
          <p:nvPr/>
        </p:nvSpPr>
        <p:spPr>
          <a:xfrm>
            <a:off x="5233950" y="377035"/>
            <a:ext cx="2448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RISC-V assembly code</a:t>
            </a:r>
            <a:endParaRPr sz="15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7"/>
          <p:cNvSpPr txBox="1"/>
          <p:nvPr/>
        </p:nvSpPr>
        <p:spPr>
          <a:xfrm>
            <a:off x="349511" y="57690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code: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7"/>
          <p:cNvSpPr txBox="1"/>
          <p:nvPr/>
        </p:nvSpPr>
        <p:spPr>
          <a:xfrm>
            <a:off x="2143748" y="989858"/>
            <a:ext cx="579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I[B][C]</a:t>
            </a:r>
            <a:endParaRPr sz="1350" b="0" i="0" u="none" strike="noStrike" cap="non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7"/>
          <p:cNvSpPr txBox="1"/>
          <p:nvPr/>
        </p:nvSpPr>
        <p:spPr>
          <a:xfrm>
            <a:off x="2090198" y="1174855"/>
            <a:ext cx="686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W[C][</a:t>
            </a:r>
            <a:r>
              <a:rPr lang="en-US" sz="135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350" b="0" i="0" u="none" strike="noStrike" cap="non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7"/>
          <p:cNvSpPr txBox="1"/>
          <p:nvPr/>
        </p:nvSpPr>
        <p:spPr>
          <a:xfrm>
            <a:off x="2109398" y="1327931"/>
            <a:ext cx="648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O[B][K]</a:t>
            </a:r>
            <a:endParaRPr sz="1350" b="0" i="0" u="none" strike="noStrike" cap="non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7"/>
          <p:cNvSpPr txBox="1"/>
          <p:nvPr/>
        </p:nvSpPr>
        <p:spPr>
          <a:xfrm>
            <a:off x="240548" y="4357475"/>
            <a:ext cx="438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</a:t>
            </a:r>
            <a:r>
              <a:rPr lang="en-US" b="1" dirty="0">
                <a:solidFill>
                  <a:srgbClr val="C00000"/>
                </a:solidFill>
              </a:rPr>
              <a:t>d</a:t>
            </a:r>
            <a:r>
              <a:rPr lang="en-US" sz="14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modifications to the processor</a:t>
            </a:r>
            <a:endParaRPr sz="1400" b="1" i="0" u="none" strike="noStrike" cap="none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Char char="●"/>
            </a:pPr>
            <a:r>
              <a:rPr lang="en-US" b="1" dirty="0">
                <a:solidFill>
                  <a:srgbClr val="C00000"/>
                </a:solidFill>
              </a:rPr>
              <a:t>Full data forwarding logic</a:t>
            </a:r>
            <a:endParaRPr b="1" dirty="0">
              <a:solidFill>
                <a:srgbClr val="C00000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Char char="●"/>
            </a:pPr>
            <a:r>
              <a:rPr lang="en-US" b="1" dirty="0">
                <a:solidFill>
                  <a:srgbClr val="C00000"/>
                </a:solidFill>
              </a:rPr>
              <a:t>Hazard detection unit (control/data hazard)</a:t>
            </a:r>
            <a:endParaRPr b="1" dirty="0">
              <a:solidFill>
                <a:srgbClr val="C00000"/>
              </a:solidFill>
            </a:endParaRPr>
          </a:p>
        </p:txBody>
      </p:sp>
      <p:grpSp>
        <p:nvGrpSpPr>
          <p:cNvPr id="259" name="Google Shape;259;p77"/>
          <p:cNvGrpSpPr/>
          <p:nvPr/>
        </p:nvGrpSpPr>
        <p:grpSpPr>
          <a:xfrm>
            <a:off x="325346" y="2727519"/>
            <a:ext cx="4106514" cy="1559525"/>
            <a:chOff x="5443121" y="242419"/>
            <a:chExt cx="4106514" cy="1559525"/>
          </a:xfrm>
        </p:grpSpPr>
        <p:sp>
          <p:nvSpPr>
            <p:cNvPr id="261" name="Google Shape;261;p77"/>
            <p:cNvSpPr txBox="1"/>
            <p:nvPr/>
          </p:nvSpPr>
          <p:spPr>
            <a:xfrm>
              <a:off x="5467288" y="242419"/>
              <a:ext cx="1527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sng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Testing example:  </a:t>
              </a:r>
              <a:endParaRPr sz="15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77"/>
            <p:cNvSpPr txBox="1"/>
            <p:nvPr/>
          </p:nvSpPr>
          <p:spPr>
            <a:xfrm>
              <a:off x="5443121" y="1512451"/>
              <a:ext cx="5796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C55A11"/>
                  </a:solidFill>
                  <a:latin typeface="Calibri"/>
                  <a:ea typeface="Calibri"/>
                  <a:cs typeface="Calibri"/>
                  <a:sym typeface="Calibri"/>
                </a:rPr>
                <a:t>I[B][C]</a:t>
              </a:r>
              <a:endParaRPr sz="1350" b="0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77"/>
            <p:cNvSpPr txBox="1"/>
            <p:nvPr/>
          </p:nvSpPr>
          <p:spPr>
            <a:xfrm>
              <a:off x="6886057" y="1512451"/>
              <a:ext cx="686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W[C][</a:t>
              </a:r>
              <a:r>
                <a:rPr lang="en-US" sz="1350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350" b="0" i="0" u="none" strike="noStrike" cap="none">
                  <a:solidFill>
                    <a:srgbClr val="548135"/>
                  </a:solidFill>
                  <a:latin typeface="Calibri"/>
                  <a:ea typeface="Calibri"/>
                  <a:cs typeface="Calibri"/>
                  <a:sym typeface="Calibri"/>
                </a:rPr>
                <a:t>]</a:t>
              </a:r>
              <a:endParaRPr sz="135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77"/>
            <p:cNvSpPr txBox="1"/>
            <p:nvPr/>
          </p:nvSpPr>
          <p:spPr>
            <a:xfrm>
              <a:off x="8901335" y="1525044"/>
              <a:ext cx="648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O[B][K]</a:t>
              </a:r>
              <a:endParaRPr sz="135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77"/>
            <p:cNvSpPr txBox="1"/>
            <p:nvPr/>
          </p:nvSpPr>
          <p:spPr>
            <a:xfrm>
              <a:off x="6856683" y="260095"/>
              <a:ext cx="1527900" cy="2769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75" rIns="68550" bIns="342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 = 4 , C = 5, K = 6)</a:t>
              </a:r>
              <a:endPara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83B1C-B54D-F11C-183D-7040DA876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95B74-14CF-DD0F-A74F-EE5FB8557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91815"/>
            <a:ext cx="5148029" cy="654033"/>
          </a:xfrm>
          <a:prstGeom prst="rect">
            <a:avLst/>
          </a:prstGeom>
        </p:spPr>
      </p:pic>
      <p:sp>
        <p:nvSpPr>
          <p:cNvPr id="12" name="Google Shape;273;p80">
            <a:extLst>
              <a:ext uri="{FF2B5EF4-FFF2-40B4-BE49-F238E27FC236}">
                <a16:creationId xmlns:a16="http://schemas.microsoft.com/office/drawing/2014/main" id="{E9FB4786-B352-574D-694A-EF159D1D344B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</a:t>
            </a:r>
            <a:r>
              <a:rPr lang="en-US" sz="700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3;p80">
            <a:extLst>
              <a:ext uri="{FF2B5EF4-FFF2-40B4-BE49-F238E27FC236}">
                <a16:creationId xmlns:a16="http://schemas.microsoft.com/office/drawing/2014/main" id="{9840E44E-F2D7-539F-C3C0-997B08EB7003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/>
          </a:p>
        </p:txBody>
      </p:sp>
      <p:sp>
        <p:nvSpPr>
          <p:cNvPr id="271" name="Google Shape;271;p80"/>
          <p:cNvSpPr txBox="1">
            <a:spLocks noGrp="1"/>
          </p:cNvSpPr>
          <p:nvPr>
            <p:ph type="title"/>
          </p:nvPr>
        </p:nvSpPr>
        <p:spPr>
          <a:xfrm>
            <a:off x="628650" y="4047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72" name="Google Shape;272;p8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74" name="Google Shape;274;p80"/>
          <p:cNvSpPr/>
          <p:nvPr/>
        </p:nvSpPr>
        <p:spPr>
          <a:xfrm>
            <a:off x="5332132" y="2547843"/>
            <a:ext cx="872400" cy="4044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4848225" cy="2524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0"/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80"/>
          <p:cNvCxnSpPr/>
          <p:nvPr/>
        </p:nvCxnSpPr>
        <p:spPr>
          <a:xfrm>
            <a:off x="489477" y="2704152"/>
            <a:ext cx="329100" cy="38520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5A33A5C4-E681-28BC-F3F2-002BD3FDB476}"/>
              </a:ext>
            </a:extLst>
          </p:cNvPr>
          <p:cNvCxnSpPr>
            <a:cxnSpLocks/>
          </p:cNvCxnSpPr>
          <p:nvPr/>
        </p:nvCxnSpPr>
        <p:spPr>
          <a:xfrm>
            <a:off x="464100" y="2162643"/>
            <a:ext cx="228511" cy="926709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" name="Google Shape;277;p80">
            <a:extLst>
              <a:ext uri="{FF2B5EF4-FFF2-40B4-BE49-F238E27FC236}">
                <a16:creationId xmlns:a16="http://schemas.microsoft.com/office/drawing/2014/main" id="{68A303EC-1796-5B98-357C-2ECD09ED9CBF}"/>
              </a:ext>
            </a:extLst>
          </p:cNvPr>
          <p:cNvCxnSpPr>
            <a:cxnSpLocks/>
          </p:cNvCxnSpPr>
          <p:nvPr/>
        </p:nvCxnSpPr>
        <p:spPr>
          <a:xfrm>
            <a:off x="2879054" y="2084488"/>
            <a:ext cx="88559" cy="980259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6EBB2AFB-B57A-F67F-A2E8-B9C5CB13CB11}"/>
              </a:ext>
            </a:extLst>
          </p:cNvPr>
          <p:cNvCxnSpPr>
            <a:cxnSpLocks/>
          </p:cNvCxnSpPr>
          <p:nvPr/>
        </p:nvCxnSpPr>
        <p:spPr>
          <a:xfrm>
            <a:off x="3337928" y="3136215"/>
            <a:ext cx="118705" cy="605121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" name="Google Shape;277;p80">
            <a:extLst>
              <a:ext uri="{FF2B5EF4-FFF2-40B4-BE49-F238E27FC236}">
                <a16:creationId xmlns:a16="http://schemas.microsoft.com/office/drawing/2014/main" id="{4353B6FE-E527-E80C-2286-34C8758311AF}"/>
              </a:ext>
            </a:extLst>
          </p:cNvPr>
          <p:cNvCxnSpPr>
            <a:cxnSpLocks/>
          </p:cNvCxnSpPr>
          <p:nvPr/>
        </p:nvCxnSpPr>
        <p:spPr>
          <a:xfrm>
            <a:off x="543073" y="3195527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83" name="Google Shape;28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5" name="Google Shape;275;p80">
            <a:extLst>
              <a:ext uri="{FF2B5EF4-FFF2-40B4-BE49-F238E27FC236}">
                <a16:creationId xmlns:a16="http://schemas.microsoft.com/office/drawing/2014/main" id="{B778A46B-781E-1F27-38FF-EE8C5BFB0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5888137" cy="30655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6;p80">
            <a:extLst>
              <a:ext uri="{FF2B5EF4-FFF2-40B4-BE49-F238E27FC236}">
                <a16:creationId xmlns:a16="http://schemas.microsoft.com/office/drawing/2014/main" id="{A3619AB5-E3B7-125A-8FE2-E1A559B4B3C8}"/>
              </a:ext>
            </a:extLst>
          </p:cNvPr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2CB5C156-3448-4D4A-4E10-5A511D6FC99C}"/>
              </a:ext>
            </a:extLst>
          </p:cNvPr>
          <p:cNvCxnSpPr>
            <a:cxnSpLocks/>
          </p:cNvCxnSpPr>
          <p:nvPr/>
        </p:nvCxnSpPr>
        <p:spPr>
          <a:xfrm>
            <a:off x="516275" y="2949840"/>
            <a:ext cx="435648" cy="53358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" name="Google Shape;277;p80">
            <a:extLst>
              <a:ext uri="{FF2B5EF4-FFF2-40B4-BE49-F238E27FC236}">
                <a16:creationId xmlns:a16="http://schemas.microsoft.com/office/drawing/2014/main" id="{A088B9C2-7E22-71F0-62C0-39A325FD767C}"/>
              </a:ext>
            </a:extLst>
          </p:cNvPr>
          <p:cNvCxnSpPr>
            <a:cxnSpLocks/>
          </p:cNvCxnSpPr>
          <p:nvPr/>
        </p:nvCxnSpPr>
        <p:spPr>
          <a:xfrm>
            <a:off x="546098" y="2345152"/>
            <a:ext cx="228511" cy="1093623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277;p80">
            <a:extLst>
              <a:ext uri="{FF2B5EF4-FFF2-40B4-BE49-F238E27FC236}">
                <a16:creationId xmlns:a16="http://schemas.microsoft.com/office/drawing/2014/main" id="{A435CDAC-8FB8-4DEF-7EA0-E16EDCD80C51}"/>
              </a:ext>
            </a:extLst>
          </p:cNvPr>
          <p:cNvCxnSpPr>
            <a:cxnSpLocks/>
          </p:cNvCxnSpPr>
          <p:nvPr/>
        </p:nvCxnSpPr>
        <p:spPr>
          <a:xfrm>
            <a:off x="3456633" y="2239725"/>
            <a:ext cx="117231" cy="119905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" name="Google Shape;277;p80">
            <a:extLst>
              <a:ext uri="{FF2B5EF4-FFF2-40B4-BE49-F238E27FC236}">
                <a16:creationId xmlns:a16="http://schemas.microsoft.com/office/drawing/2014/main" id="{D3B35227-20D1-5575-7AA9-2BDAD9C6B86C}"/>
              </a:ext>
            </a:extLst>
          </p:cNvPr>
          <p:cNvCxnSpPr>
            <a:cxnSpLocks/>
          </p:cNvCxnSpPr>
          <p:nvPr/>
        </p:nvCxnSpPr>
        <p:spPr>
          <a:xfrm>
            <a:off x="4014517" y="3520862"/>
            <a:ext cx="118705" cy="732940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" name="Google Shape;277;p80">
            <a:extLst>
              <a:ext uri="{FF2B5EF4-FFF2-40B4-BE49-F238E27FC236}">
                <a16:creationId xmlns:a16="http://schemas.microsoft.com/office/drawing/2014/main" id="{B2667BE6-3608-6EC2-9133-EE0D89C25BF2}"/>
              </a:ext>
            </a:extLst>
          </p:cNvPr>
          <p:cNvCxnSpPr>
            <a:cxnSpLocks/>
          </p:cNvCxnSpPr>
          <p:nvPr/>
        </p:nvCxnSpPr>
        <p:spPr>
          <a:xfrm>
            <a:off x="636857" y="3624762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" name="Google Shape;289;p17">
            <a:extLst>
              <a:ext uri="{FF2B5EF4-FFF2-40B4-BE49-F238E27FC236}">
                <a16:creationId xmlns:a16="http://schemas.microsoft.com/office/drawing/2014/main" id="{BE741222-D91A-8133-2516-999A2D571F67}"/>
              </a:ext>
            </a:extLst>
          </p:cNvPr>
          <p:cNvCxnSpPr>
            <a:cxnSpLocks/>
          </p:cNvCxnSpPr>
          <p:nvPr/>
        </p:nvCxnSpPr>
        <p:spPr>
          <a:xfrm flipV="1">
            <a:off x="4164206" y="3387907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19" name="Google Shape;287;p17">
            <a:extLst>
              <a:ext uri="{FF2B5EF4-FFF2-40B4-BE49-F238E27FC236}">
                <a16:creationId xmlns:a16="http://schemas.microsoft.com/office/drawing/2014/main" id="{636F5252-88D8-0F1A-A748-AACEB3E335E0}"/>
              </a:ext>
            </a:extLst>
          </p:cNvPr>
          <p:cNvSpPr txBox="1"/>
          <p:nvPr/>
        </p:nvSpPr>
        <p:spPr>
          <a:xfrm>
            <a:off x="5486328" y="3216634"/>
            <a:ext cx="3111307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Similar to the case in MULT3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87;p17">
            <a:extLst>
              <a:ext uri="{FF2B5EF4-FFF2-40B4-BE49-F238E27FC236}">
                <a16:creationId xmlns:a16="http://schemas.microsoft.com/office/drawing/2014/main" id="{1733E94C-08E3-98A1-06F5-1599CE83F0FD}"/>
              </a:ext>
            </a:extLst>
          </p:cNvPr>
          <p:cNvSpPr txBox="1"/>
          <p:nvPr/>
        </p:nvSpPr>
        <p:spPr>
          <a:xfrm>
            <a:off x="4849933" y="1926866"/>
            <a:ext cx="3747702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Another data forwarding scenario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89;p17">
            <a:extLst>
              <a:ext uri="{FF2B5EF4-FFF2-40B4-BE49-F238E27FC236}">
                <a16:creationId xmlns:a16="http://schemas.microsoft.com/office/drawing/2014/main" id="{C1F37E8E-4BBD-E1AB-185C-78D4B7B15D93}"/>
              </a:ext>
            </a:extLst>
          </p:cNvPr>
          <p:cNvCxnSpPr>
            <a:cxnSpLocks/>
          </p:cNvCxnSpPr>
          <p:nvPr/>
        </p:nvCxnSpPr>
        <p:spPr>
          <a:xfrm flipV="1">
            <a:off x="3870272" y="2739631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23" name="Google Shape;302;p78">
            <a:extLst>
              <a:ext uri="{FF2B5EF4-FFF2-40B4-BE49-F238E27FC236}">
                <a16:creationId xmlns:a16="http://schemas.microsoft.com/office/drawing/2014/main" id="{E0DDF66B-E4B9-95C1-4C04-4C301B761780}"/>
              </a:ext>
            </a:extLst>
          </p:cNvPr>
          <p:cNvSpPr txBox="1"/>
          <p:nvPr/>
        </p:nvSpPr>
        <p:spPr>
          <a:xfrm>
            <a:off x="5030495" y="2467938"/>
            <a:ext cx="35640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Beyond data forwarding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Char char="●"/>
            </a:pPr>
            <a:r>
              <a:rPr lang="en-US" sz="1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Can’t get data from the future.</a:t>
            </a:r>
            <a:endParaRPr sz="12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We need to stall the “</a:t>
            </a:r>
            <a:r>
              <a:rPr lang="en-US" sz="1200" b="1" dirty="0" err="1">
                <a:solidFill>
                  <a:srgbClr val="FF0000"/>
                </a:solidFill>
              </a:rPr>
              <a:t>mul</a:t>
            </a:r>
            <a:r>
              <a:rPr lang="en-US" sz="1200" b="1" dirty="0">
                <a:solidFill>
                  <a:srgbClr val="FF0000"/>
                </a:solidFill>
              </a:rPr>
              <a:t>” instruction.</a:t>
            </a:r>
            <a:endParaRPr sz="1200" b="1" dirty="0">
              <a:solidFill>
                <a:srgbClr val="FF0000"/>
              </a:solidFill>
            </a:endParaRPr>
          </a:p>
        </p:txBody>
      </p:sp>
      <p:cxnSp>
        <p:nvCxnSpPr>
          <p:cNvPr id="20" name="Google Shape;289;p17">
            <a:extLst>
              <a:ext uri="{FF2B5EF4-FFF2-40B4-BE49-F238E27FC236}">
                <a16:creationId xmlns:a16="http://schemas.microsoft.com/office/drawing/2014/main" id="{8F6DC716-43AD-159B-6F6C-67D2EEE79EA9}"/>
              </a:ext>
            </a:extLst>
          </p:cNvPr>
          <p:cNvCxnSpPr>
            <a:cxnSpLocks/>
          </p:cNvCxnSpPr>
          <p:nvPr/>
        </p:nvCxnSpPr>
        <p:spPr>
          <a:xfrm flipV="1">
            <a:off x="3553319" y="2108297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98" name="Google Shape;298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325" y="1181108"/>
            <a:ext cx="54673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8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4.56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78"/>
          <p:cNvCxnSpPr/>
          <p:nvPr/>
        </p:nvCxnSpPr>
        <p:spPr>
          <a:xfrm flipH="1">
            <a:off x="4410075" y="1943100"/>
            <a:ext cx="461963" cy="44767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cxnSp>
        <p:nvCxnSpPr>
          <p:cNvPr id="303" name="Google Shape;303;p78"/>
          <p:cNvCxnSpPr/>
          <p:nvPr/>
        </p:nvCxnSpPr>
        <p:spPr>
          <a:xfrm>
            <a:off x="2174551" y="1960940"/>
            <a:ext cx="240900" cy="4254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35A48A0E-E985-A5DC-1628-D2A30FC6DB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II. Data hazard resolution with stalling</a:t>
            </a:r>
            <a:endParaRPr dirty="0"/>
          </a:p>
        </p:txBody>
      </p:sp>
      <p:sp>
        <p:nvSpPr>
          <p:cNvPr id="5" name="Google Shape;314;p79">
            <a:extLst>
              <a:ext uri="{FF2B5EF4-FFF2-40B4-BE49-F238E27FC236}">
                <a16:creationId xmlns:a16="http://schemas.microsoft.com/office/drawing/2014/main" id="{2AA9153D-E66C-EFBF-93DB-0BAFBC201CB3}"/>
              </a:ext>
            </a:extLst>
          </p:cNvPr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9678" y="1081089"/>
            <a:ext cx="5988518" cy="3371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9"/>
          <p:cNvSpPr txBox="1"/>
          <p:nvPr/>
        </p:nvSpPr>
        <p:spPr>
          <a:xfrm>
            <a:off x="5579900" y="1696900"/>
            <a:ext cx="306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>
                <a:solidFill>
                  <a:srgbClr val="FF0000"/>
                </a:solidFill>
              </a:rPr>
              <a:t>After 1-cycle stall, the hazard between [ld] and [and] becomes a normal WB-&gt;EX forwarding.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12" name="Google Shape;312;p79"/>
          <p:cNvCxnSpPr/>
          <p:nvPr/>
        </p:nvCxnSpPr>
        <p:spPr>
          <a:xfrm>
            <a:off x="4865475" y="1870375"/>
            <a:ext cx="75900" cy="1061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313" name="Google Shape;313;p79"/>
          <p:cNvSpPr/>
          <p:nvPr/>
        </p:nvSpPr>
        <p:spPr>
          <a:xfrm>
            <a:off x="1839679" y="2316303"/>
            <a:ext cx="1067100" cy="273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9"/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9"/>
          <p:cNvCxnSpPr/>
          <p:nvPr/>
        </p:nvCxnSpPr>
        <p:spPr>
          <a:xfrm>
            <a:off x="2118375" y="1957900"/>
            <a:ext cx="264600" cy="97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20DB67F4-6AE8-4B0B-E4C7-11BB4C88A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II. Data hazard resolution with stalling</a:t>
            </a:r>
            <a:endParaRPr lang="en-US" dirty="0"/>
          </a:p>
        </p:txBody>
      </p: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2D47B986-F0F7-71E3-934E-CF5E78461633}"/>
              </a:ext>
            </a:extLst>
          </p:cNvPr>
          <p:cNvCxnSpPr>
            <a:cxnSpLocks/>
          </p:cNvCxnSpPr>
          <p:nvPr/>
        </p:nvCxnSpPr>
        <p:spPr>
          <a:xfrm>
            <a:off x="2118375" y="1957900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22" name="Google Shape;322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3087" y="1433513"/>
            <a:ext cx="54578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81"/>
          <p:cNvSpPr txBox="1"/>
          <p:nvPr/>
        </p:nvSpPr>
        <p:spPr>
          <a:xfrm>
            <a:off x="495301" y="1347787"/>
            <a:ext cx="148113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Prevent PC and IF/ID register update</a:t>
            </a:r>
            <a:r>
              <a:rPr lang="en-US" altLang="zh-CN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000" b="0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 if hazard is detected</a:t>
            </a:r>
            <a:endParaRPr sz="1000" b="0" i="0" u="none" strike="noStrike" cap="none" dirty="0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1"/>
          <p:cNvSpPr txBox="1"/>
          <p:nvPr/>
        </p:nvSpPr>
        <p:spPr>
          <a:xfrm>
            <a:off x="3595689" y="959614"/>
            <a:ext cx="14811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Add bubble to control signal if stall</a:t>
            </a:r>
            <a:endParaRPr sz="1000" b="0" i="0" u="none" strike="noStrike" cap="none">
              <a:solidFill>
                <a:srgbClr val="FF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1"/>
          <p:cNvSpPr/>
          <p:nvPr/>
        </p:nvSpPr>
        <p:spPr>
          <a:xfrm>
            <a:off x="2938463" y="1341805"/>
            <a:ext cx="800100" cy="51080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81"/>
          <p:cNvCxnSpPr/>
          <p:nvPr/>
        </p:nvCxnSpPr>
        <p:spPr>
          <a:xfrm rot="-5400000" flipH="1">
            <a:off x="3835525" y="1573350"/>
            <a:ext cx="581400" cy="164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7" name="Google Shape;327;p81"/>
          <p:cNvCxnSpPr/>
          <p:nvPr/>
        </p:nvCxnSpPr>
        <p:spPr>
          <a:xfrm rot="-5400000" flipH="1">
            <a:off x="1535175" y="1876975"/>
            <a:ext cx="505800" cy="189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28" name="Google Shape;328;p81"/>
          <p:cNvCxnSpPr/>
          <p:nvPr/>
        </p:nvCxnSpPr>
        <p:spPr>
          <a:xfrm>
            <a:off x="1668150" y="1693425"/>
            <a:ext cx="922500" cy="2274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29" name="Google Shape;329;p81"/>
          <p:cNvSpPr txBox="1"/>
          <p:nvPr/>
        </p:nvSpPr>
        <p:spPr>
          <a:xfrm>
            <a:off x="5541975" y="959625"/>
            <a:ext cx="3064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To be implemented: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 b="1" dirty="0">
                <a:solidFill>
                  <a:srgbClr val="FF0000"/>
                </a:solidFill>
              </a:rPr>
              <a:t>Stall 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AutoNum type="arabicPeriod"/>
            </a:pPr>
            <a:r>
              <a:rPr lang="en-US" sz="1200" b="1" dirty="0">
                <a:solidFill>
                  <a:srgbClr val="FF0000"/>
                </a:solidFill>
              </a:rPr>
              <a:t>WB-&gt;EX forwarding (</a:t>
            </a:r>
            <a:r>
              <a:rPr lang="en-US" sz="1200" b="1" dirty="0" err="1">
                <a:solidFill>
                  <a:srgbClr val="FF0000"/>
                </a:solidFill>
              </a:rPr>
              <a:t>register_file</a:t>
            </a:r>
            <a:r>
              <a:rPr lang="en-US" sz="1200" b="1" dirty="0">
                <a:solidFill>
                  <a:srgbClr val="FF0000"/>
                </a:solidFill>
              </a:rPr>
              <a:t>)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330" name="Google Shape;330;p81"/>
          <p:cNvSpPr/>
          <p:nvPr/>
        </p:nvSpPr>
        <p:spPr>
          <a:xfrm>
            <a:off x="5263788" y="4137380"/>
            <a:ext cx="800100" cy="5109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1"/>
          <p:cNvSpPr txBox="1"/>
          <p:nvPr/>
        </p:nvSpPr>
        <p:spPr>
          <a:xfrm>
            <a:off x="2838775" y="1047675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1.</a:t>
            </a:r>
            <a:endParaRPr dirty="0"/>
          </a:p>
        </p:txBody>
      </p:sp>
      <p:sp>
        <p:nvSpPr>
          <p:cNvPr id="332" name="Google Shape;332;p81"/>
          <p:cNvSpPr txBox="1"/>
          <p:nvPr/>
        </p:nvSpPr>
        <p:spPr>
          <a:xfrm>
            <a:off x="5199075" y="3828700"/>
            <a:ext cx="342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2.</a:t>
            </a:r>
            <a:endParaRPr dirty="0"/>
          </a:p>
        </p:txBody>
      </p:sp>
      <p:sp>
        <p:nvSpPr>
          <p:cNvPr id="333" name="Google Shape;333;p81"/>
          <p:cNvSpPr txBox="1"/>
          <p:nvPr/>
        </p:nvSpPr>
        <p:spPr>
          <a:xfrm>
            <a:off x="1593772" y="481390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8DCB7A17-BFD3-8BE1-E31D-F843FBC9BCC9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II. Data hazard resolution with stalling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10" name="Google Shape;31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9678" y="1081089"/>
            <a:ext cx="5988518" cy="3371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79"/>
          <p:cNvSpPr txBox="1"/>
          <p:nvPr/>
        </p:nvSpPr>
        <p:spPr>
          <a:xfrm>
            <a:off x="5579900" y="1696900"/>
            <a:ext cx="306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>
                <a:solidFill>
                  <a:srgbClr val="FF0000"/>
                </a:solidFill>
              </a:rPr>
              <a:t>After 1-cycle stall, the hazard between [ld] and [and] becomes a normal WB-&gt;EX forwarding.</a:t>
            </a:r>
            <a:endParaRPr sz="1200" b="1">
              <a:solidFill>
                <a:srgbClr val="FF0000"/>
              </a:solidFill>
            </a:endParaRPr>
          </a:p>
        </p:txBody>
      </p:sp>
      <p:cxnSp>
        <p:nvCxnSpPr>
          <p:cNvPr id="312" name="Google Shape;312;p79"/>
          <p:cNvCxnSpPr/>
          <p:nvPr/>
        </p:nvCxnSpPr>
        <p:spPr>
          <a:xfrm>
            <a:off x="4865475" y="1870375"/>
            <a:ext cx="75900" cy="10617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stealth" w="sm" len="sm"/>
          </a:ln>
        </p:spPr>
      </p:cxnSp>
      <p:sp>
        <p:nvSpPr>
          <p:cNvPr id="313" name="Google Shape;313;p79"/>
          <p:cNvSpPr/>
          <p:nvPr/>
        </p:nvSpPr>
        <p:spPr>
          <a:xfrm>
            <a:off x="1839679" y="2316303"/>
            <a:ext cx="1067100" cy="273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9"/>
          <p:cNvSpPr txBox="1"/>
          <p:nvPr/>
        </p:nvSpPr>
        <p:spPr>
          <a:xfrm>
            <a:off x="381298" y="2043825"/>
            <a:ext cx="1395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Load and use</a:t>
            </a:r>
            <a:endParaRPr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79"/>
          <p:cNvCxnSpPr/>
          <p:nvPr/>
        </p:nvCxnSpPr>
        <p:spPr>
          <a:xfrm>
            <a:off x="2118375" y="1957900"/>
            <a:ext cx="264600" cy="978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20DB67F4-6AE8-4B0B-E4C7-11BB4C88A0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II. Data hazard resolution with stalling</a:t>
            </a:r>
            <a:endParaRPr lang="en-US" dirty="0"/>
          </a:p>
        </p:txBody>
      </p:sp>
      <p:sp>
        <p:nvSpPr>
          <p:cNvPr id="6" name="Google Shape;287;p17">
            <a:extLst>
              <a:ext uri="{FF2B5EF4-FFF2-40B4-BE49-F238E27FC236}">
                <a16:creationId xmlns:a16="http://schemas.microsoft.com/office/drawing/2014/main" id="{EE6B5D8F-ED78-183B-7A2B-B3F0E17B94A4}"/>
              </a:ext>
            </a:extLst>
          </p:cNvPr>
          <p:cNvSpPr txBox="1"/>
          <p:nvPr/>
        </p:nvSpPr>
        <p:spPr>
          <a:xfrm>
            <a:off x="6548730" y="2719865"/>
            <a:ext cx="25207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Now we need the register file forwarding here after stalling.</a:t>
            </a:r>
            <a:endParaRPr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89;p17">
            <a:extLst>
              <a:ext uri="{FF2B5EF4-FFF2-40B4-BE49-F238E27FC236}">
                <a16:creationId xmlns:a16="http://schemas.microsoft.com/office/drawing/2014/main" id="{FC7826EE-4BA9-2706-1900-2B5AA383E0AA}"/>
              </a:ext>
            </a:extLst>
          </p:cNvPr>
          <p:cNvCxnSpPr>
            <a:cxnSpLocks/>
          </p:cNvCxnSpPr>
          <p:nvPr/>
        </p:nvCxnSpPr>
        <p:spPr>
          <a:xfrm flipV="1">
            <a:off x="5206850" y="2910919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2" name="Google Shape;277;p80">
            <a:extLst>
              <a:ext uri="{FF2B5EF4-FFF2-40B4-BE49-F238E27FC236}">
                <a16:creationId xmlns:a16="http://schemas.microsoft.com/office/drawing/2014/main" id="{2D47B986-F0F7-71E3-934E-CF5E78461633}"/>
              </a:ext>
            </a:extLst>
          </p:cNvPr>
          <p:cNvCxnSpPr>
            <a:cxnSpLocks/>
          </p:cNvCxnSpPr>
          <p:nvPr/>
        </p:nvCxnSpPr>
        <p:spPr>
          <a:xfrm>
            <a:off x="2118375" y="1957900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  <p:cxnSp>
        <p:nvCxnSpPr>
          <p:cNvPr id="5" name="Google Shape;277;p80">
            <a:extLst>
              <a:ext uri="{FF2B5EF4-FFF2-40B4-BE49-F238E27FC236}">
                <a16:creationId xmlns:a16="http://schemas.microsoft.com/office/drawing/2014/main" id="{A3D56A23-8AB0-4030-E0E4-AA5147E0FBA9}"/>
              </a:ext>
            </a:extLst>
          </p:cNvPr>
          <p:cNvCxnSpPr>
            <a:cxnSpLocks/>
          </p:cNvCxnSpPr>
          <p:nvPr/>
        </p:nvCxnSpPr>
        <p:spPr>
          <a:xfrm>
            <a:off x="5012179" y="1951172"/>
            <a:ext cx="194670" cy="1537385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ysDash"/>
            <a:round/>
            <a:headEnd type="none" w="med" len="med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157430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>
            <a:spLocks noGrp="1"/>
          </p:cNvSpPr>
          <p:nvPr>
            <p:ph type="title"/>
          </p:nvPr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dirty="0"/>
              <a:t>I. Full data forwarding logic (Book §4.7)</a:t>
            </a:r>
            <a:endParaRPr dirty="0"/>
          </a:p>
        </p:txBody>
      </p:sp>
      <p:sp>
        <p:nvSpPr>
          <p:cNvPr id="283" name="Google Shape;28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5" name="Google Shape;275;p80">
            <a:extLst>
              <a:ext uri="{FF2B5EF4-FFF2-40B4-BE49-F238E27FC236}">
                <a16:creationId xmlns:a16="http://schemas.microsoft.com/office/drawing/2014/main" id="{B778A46B-781E-1F27-38FF-EE8C5BFB06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788" y="1385887"/>
            <a:ext cx="5888137" cy="30655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76;p80">
            <a:extLst>
              <a:ext uri="{FF2B5EF4-FFF2-40B4-BE49-F238E27FC236}">
                <a16:creationId xmlns:a16="http://schemas.microsoft.com/office/drawing/2014/main" id="{A3619AB5-E3B7-125A-8FE2-E1A559B4B3C8}"/>
              </a:ext>
            </a:extLst>
          </p:cNvPr>
          <p:cNvSpPr txBox="1"/>
          <p:nvPr/>
        </p:nvSpPr>
        <p:spPr>
          <a:xfrm>
            <a:off x="204811" y="905854"/>
            <a:ext cx="97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277;p80">
            <a:extLst>
              <a:ext uri="{FF2B5EF4-FFF2-40B4-BE49-F238E27FC236}">
                <a16:creationId xmlns:a16="http://schemas.microsoft.com/office/drawing/2014/main" id="{2CB5C156-3448-4D4A-4E10-5A511D6FC99C}"/>
              </a:ext>
            </a:extLst>
          </p:cNvPr>
          <p:cNvCxnSpPr>
            <a:cxnSpLocks/>
          </p:cNvCxnSpPr>
          <p:nvPr/>
        </p:nvCxnSpPr>
        <p:spPr>
          <a:xfrm>
            <a:off x="516275" y="2949840"/>
            <a:ext cx="435648" cy="533589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" name="Google Shape;277;p80">
            <a:extLst>
              <a:ext uri="{FF2B5EF4-FFF2-40B4-BE49-F238E27FC236}">
                <a16:creationId xmlns:a16="http://schemas.microsoft.com/office/drawing/2014/main" id="{A088B9C2-7E22-71F0-62C0-39A325FD767C}"/>
              </a:ext>
            </a:extLst>
          </p:cNvPr>
          <p:cNvCxnSpPr>
            <a:cxnSpLocks/>
          </p:cNvCxnSpPr>
          <p:nvPr/>
        </p:nvCxnSpPr>
        <p:spPr>
          <a:xfrm>
            <a:off x="546098" y="2345152"/>
            <a:ext cx="228511" cy="1093623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277;p80">
            <a:extLst>
              <a:ext uri="{FF2B5EF4-FFF2-40B4-BE49-F238E27FC236}">
                <a16:creationId xmlns:a16="http://schemas.microsoft.com/office/drawing/2014/main" id="{A435CDAC-8FB8-4DEF-7EA0-E16EDCD80C51}"/>
              </a:ext>
            </a:extLst>
          </p:cNvPr>
          <p:cNvCxnSpPr>
            <a:cxnSpLocks/>
          </p:cNvCxnSpPr>
          <p:nvPr/>
        </p:nvCxnSpPr>
        <p:spPr>
          <a:xfrm>
            <a:off x="3456633" y="2239725"/>
            <a:ext cx="117231" cy="119905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" name="Google Shape;277;p80">
            <a:extLst>
              <a:ext uri="{FF2B5EF4-FFF2-40B4-BE49-F238E27FC236}">
                <a16:creationId xmlns:a16="http://schemas.microsoft.com/office/drawing/2014/main" id="{D3B35227-20D1-5575-7AA9-2BDAD9C6B86C}"/>
              </a:ext>
            </a:extLst>
          </p:cNvPr>
          <p:cNvCxnSpPr>
            <a:cxnSpLocks/>
          </p:cNvCxnSpPr>
          <p:nvPr/>
        </p:nvCxnSpPr>
        <p:spPr>
          <a:xfrm>
            <a:off x="4014517" y="3520862"/>
            <a:ext cx="118705" cy="732940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" name="Google Shape;277;p80">
            <a:extLst>
              <a:ext uri="{FF2B5EF4-FFF2-40B4-BE49-F238E27FC236}">
                <a16:creationId xmlns:a16="http://schemas.microsoft.com/office/drawing/2014/main" id="{B2667BE6-3608-6EC2-9133-EE0D89C25BF2}"/>
              </a:ext>
            </a:extLst>
          </p:cNvPr>
          <p:cNvCxnSpPr>
            <a:cxnSpLocks/>
          </p:cNvCxnSpPr>
          <p:nvPr/>
        </p:nvCxnSpPr>
        <p:spPr>
          <a:xfrm>
            <a:off x="636857" y="3624762"/>
            <a:ext cx="275504" cy="430817"/>
          </a:xfrm>
          <a:prstGeom prst="straightConnector1">
            <a:avLst/>
          </a:prstGeom>
          <a:noFill/>
          <a:ln w="15875" cap="flat" cmpd="sng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" name="Google Shape;287;p17">
            <a:extLst>
              <a:ext uri="{FF2B5EF4-FFF2-40B4-BE49-F238E27FC236}">
                <a16:creationId xmlns:a16="http://schemas.microsoft.com/office/drawing/2014/main" id="{1733E94C-08E3-98A1-06F5-1599CE83F0FD}"/>
              </a:ext>
            </a:extLst>
          </p:cNvPr>
          <p:cNvSpPr txBox="1"/>
          <p:nvPr/>
        </p:nvSpPr>
        <p:spPr>
          <a:xfrm>
            <a:off x="5086446" y="2061235"/>
            <a:ext cx="3747702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Register </a:t>
            </a:r>
            <a:r>
              <a:rPr lang="en-US" sz="172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file data forwarding</a:t>
            </a:r>
            <a:endParaRPr sz="1720" b="1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89;p17">
            <a:extLst>
              <a:ext uri="{FF2B5EF4-FFF2-40B4-BE49-F238E27FC236}">
                <a16:creationId xmlns:a16="http://schemas.microsoft.com/office/drawing/2014/main" id="{C1F37E8E-4BBD-E1AB-185C-78D4B7B15D93}"/>
              </a:ext>
            </a:extLst>
          </p:cNvPr>
          <p:cNvCxnSpPr>
            <a:cxnSpLocks/>
          </p:cNvCxnSpPr>
          <p:nvPr/>
        </p:nvCxnSpPr>
        <p:spPr>
          <a:xfrm flipV="1">
            <a:off x="3730302" y="2274392"/>
            <a:ext cx="1272899" cy="47371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24" name="Google Shape;277;p80">
            <a:extLst>
              <a:ext uri="{FF2B5EF4-FFF2-40B4-BE49-F238E27FC236}">
                <a16:creationId xmlns:a16="http://schemas.microsoft.com/office/drawing/2014/main" id="{590E33D1-D2A7-B33B-EBD7-8FE0CD2F6526}"/>
              </a:ext>
            </a:extLst>
          </p:cNvPr>
          <p:cNvCxnSpPr>
            <a:cxnSpLocks/>
          </p:cNvCxnSpPr>
          <p:nvPr/>
        </p:nvCxnSpPr>
        <p:spPr>
          <a:xfrm>
            <a:off x="3685500" y="2345152"/>
            <a:ext cx="124740" cy="1710427"/>
          </a:xfrm>
          <a:prstGeom prst="straightConnector1">
            <a:avLst/>
          </a:prstGeom>
          <a:noFill/>
          <a:ln w="15875" cap="flat" cmpd="sng">
            <a:solidFill>
              <a:schemeClr val="accent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Google Shape;291;p17">
            <a:extLst>
              <a:ext uri="{FF2B5EF4-FFF2-40B4-BE49-F238E27FC236}">
                <a16:creationId xmlns:a16="http://schemas.microsoft.com/office/drawing/2014/main" id="{D74EC85F-B02A-4A28-F9CE-53D4EC1B696E}"/>
              </a:ext>
            </a:extLst>
          </p:cNvPr>
          <p:cNvSpPr txBox="1"/>
          <p:nvPr/>
        </p:nvSpPr>
        <p:spPr>
          <a:xfrm>
            <a:off x="5478007" y="2393260"/>
            <a:ext cx="2627100" cy="35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72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Modify the </a:t>
            </a:r>
            <a:r>
              <a:rPr lang="en-US" sz="1720" b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register_file.v</a:t>
            </a:r>
            <a:endParaRPr sz="172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9FF6B-78AE-FC8D-DF02-ED8673F11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066" y="2725286"/>
            <a:ext cx="2954284" cy="631763"/>
          </a:xfrm>
          <a:prstGeom prst="rect">
            <a:avLst/>
          </a:prstGeom>
        </p:spPr>
      </p:pic>
      <p:sp>
        <p:nvSpPr>
          <p:cNvPr id="13" name="Google Shape;291;p17">
            <a:extLst>
              <a:ext uri="{FF2B5EF4-FFF2-40B4-BE49-F238E27FC236}">
                <a16:creationId xmlns:a16="http://schemas.microsoft.com/office/drawing/2014/main" id="{9263EE38-6938-E494-CBDA-9589407DDCA0}"/>
              </a:ext>
            </a:extLst>
          </p:cNvPr>
          <p:cNvSpPr txBox="1"/>
          <p:nvPr/>
        </p:nvSpPr>
        <p:spPr>
          <a:xfrm>
            <a:off x="5491010" y="3368764"/>
            <a:ext cx="35927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Think: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In which case should you forward the </a:t>
            </a:r>
            <a:r>
              <a:rPr lang="en-US" sz="11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wdata</a:t>
            </a: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 to </a:t>
            </a:r>
            <a:r>
              <a:rPr lang="en-US" sz="11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rdata</a:t>
            </a:r>
            <a:r>
              <a:rPr lang="en-US" sz="11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?</a:t>
            </a:r>
            <a:endParaRPr sz="11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2269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73;p80">
            <a:extLst>
              <a:ext uri="{FF2B5EF4-FFF2-40B4-BE49-F238E27FC236}">
                <a16:creationId xmlns:a16="http://schemas.microsoft.com/office/drawing/2014/main" id="{2E7BE1D5-2C11-B1B7-FC74-5799620DED83}"/>
              </a:ext>
            </a:extLst>
          </p:cNvPr>
          <p:cNvSpPr txBox="1">
            <a:spLocks/>
          </p:cNvSpPr>
          <p:nvPr/>
        </p:nvSpPr>
        <p:spPr>
          <a:xfrm>
            <a:off x="5186362" y="803674"/>
            <a:ext cx="3886200" cy="410051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dmem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-30</a:t>
            </a:r>
            <a:br>
              <a:rPr lang="en-US" sz="7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lang="en-US"/>
          </a:p>
        </p:txBody>
      </p:sp>
      <p:sp>
        <p:nvSpPr>
          <p:cNvPr id="339" name="Google Shape;339;g11f00c1cdfb_0_58"/>
          <p:cNvSpPr txBox="1">
            <a:spLocks noGrp="1"/>
          </p:cNvSpPr>
          <p:nvPr>
            <p:ph type="sldNum" idx="12"/>
          </p:nvPr>
        </p:nvSpPr>
        <p:spPr>
          <a:xfrm>
            <a:off x="6457950" y="48434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41" name="Google Shape;341;g11f00c1cdfb_0_58"/>
          <p:cNvSpPr txBox="1"/>
          <p:nvPr/>
        </p:nvSpPr>
        <p:spPr>
          <a:xfrm>
            <a:off x="204793" y="905850"/>
            <a:ext cx="1608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Hazard: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11f00c1cdfb_0_58"/>
          <p:cNvSpPr/>
          <p:nvPr/>
        </p:nvSpPr>
        <p:spPr>
          <a:xfrm>
            <a:off x="5363625" y="2177605"/>
            <a:ext cx="1426800" cy="3117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11f00c1cdfb_0_58"/>
          <p:cNvSpPr/>
          <p:nvPr/>
        </p:nvSpPr>
        <p:spPr>
          <a:xfrm>
            <a:off x="5363625" y="3248855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11f00c1cdfb_0_58"/>
          <p:cNvSpPr/>
          <p:nvPr/>
        </p:nvSpPr>
        <p:spPr>
          <a:xfrm>
            <a:off x="5363625" y="4002705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11f00c1cdfb_0_58"/>
          <p:cNvSpPr/>
          <p:nvPr/>
        </p:nvSpPr>
        <p:spPr>
          <a:xfrm>
            <a:off x="5363625" y="4677292"/>
            <a:ext cx="1426800" cy="1101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g11f00c1cdfb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75" y="1271304"/>
            <a:ext cx="4881561" cy="337689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11f00c1cdfb_0_58"/>
          <p:cNvSpPr txBox="1"/>
          <p:nvPr/>
        </p:nvSpPr>
        <p:spPr>
          <a:xfrm>
            <a:off x="5136943" y="695975"/>
            <a:ext cx="1608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MULT4:</a:t>
            </a:r>
            <a:endParaRPr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11f00c1cdfb_0_58"/>
          <p:cNvSpPr/>
          <p:nvPr/>
        </p:nvSpPr>
        <p:spPr>
          <a:xfrm>
            <a:off x="4988802" y="2686532"/>
            <a:ext cx="147650" cy="795225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Google Shape;349;g11f00c1cdfb_0_58"/>
          <p:cNvSpPr/>
          <p:nvPr/>
        </p:nvSpPr>
        <p:spPr>
          <a:xfrm>
            <a:off x="4910667" y="2561000"/>
            <a:ext cx="246945" cy="1738123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Google Shape;350;g11f00c1cdfb_0_58"/>
          <p:cNvSpPr/>
          <p:nvPr/>
        </p:nvSpPr>
        <p:spPr>
          <a:xfrm>
            <a:off x="4810483" y="2217586"/>
            <a:ext cx="345722" cy="2550843"/>
          </a:xfrm>
          <a:custGeom>
            <a:avLst/>
            <a:gdLst/>
            <a:ahLst/>
            <a:cxnLst/>
            <a:rect l="l" t="t" r="r" b="b"/>
            <a:pathLst>
              <a:path w="5906" h="31809" extrusionOk="0">
                <a:moveTo>
                  <a:pt x="5906" y="31668"/>
                </a:moveTo>
                <a:cubicBezTo>
                  <a:pt x="5012" y="31151"/>
                  <a:pt x="1391" y="33268"/>
                  <a:pt x="544" y="28564"/>
                </a:cubicBezTo>
                <a:cubicBezTo>
                  <a:pt x="-303" y="23860"/>
                  <a:pt x="-68" y="8197"/>
                  <a:pt x="826" y="3446"/>
                </a:cubicBezTo>
                <a:cubicBezTo>
                  <a:pt x="1720" y="-1305"/>
                  <a:pt x="5059" y="624"/>
                  <a:pt x="5906" y="59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Google Shape;351;g11f00c1cdfb_0_58"/>
          <p:cNvSpPr/>
          <p:nvPr/>
        </p:nvSpPr>
        <p:spPr>
          <a:xfrm>
            <a:off x="6836825" y="2393966"/>
            <a:ext cx="143700" cy="1071353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Google Shape;352;g11f00c1cdfb_0_58"/>
          <p:cNvSpPr/>
          <p:nvPr/>
        </p:nvSpPr>
        <p:spPr>
          <a:xfrm>
            <a:off x="6836825" y="2285652"/>
            <a:ext cx="246920" cy="1948329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Google Shape;353;g11f00c1cdfb_0_58"/>
          <p:cNvSpPr/>
          <p:nvPr/>
        </p:nvSpPr>
        <p:spPr>
          <a:xfrm>
            <a:off x="6836825" y="2150666"/>
            <a:ext cx="345728" cy="2632172"/>
          </a:xfrm>
          <a:custGeom>
            <a:avLst/>
            <a:gdLst/>
            <a:ahLst/>
            <a:cxnLst/>
            <a:rect l="l" t="t" r="r" b="b"/>
            <a:pathLst>
              <a:path w="5748" h="41445" extrusionOk="0">
                <a:moveTo>
                  <a:pt x="565" y="522"/>
                </a:moveTo>
                <a:cubicBezTo>
                  <a:pt x="1365" y="1040"/>
                  <a:pt x="4658" y="-2394"/>
                  <a:pt x="5363" y="3627"/>
                </a:cubicBezTo>
                <a:cubicBezTo>
                  <a:pt x="6069" y="9648"/>
                  <a:pt x="5692" y="30344"/>
                  <a:pt x="4798" y="36647"/>
                </a:cubicBezTo>
                <a:cubicBezTo>
                  <a:pt x="3904" y="42950"/>
                  <a:pt x="800" y="40645"/>
                  <a:pt x="0" y="41445"/>
                </a:cubicBezTo>
              </a:path>
            </a:pathLst>
          </a:custGeom>
          <a:noFill/>
          <a:ln w="9525" cap="flat" cmpd="sng">
            <a:solidFill>
              <a:srgbClr val="FFFF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282;p17">
            <a:extLst>
              <a:ext uri="{FF2B5EF4-FFF2-40B4-BE49-F238E27FC236}">
                <a16:creationId xmlns:a16="http://schemas.microsoft.com/office/drawing/2014/main" id="{96D1E8C1-99FB-277F-FFFE-BA2E1E51BCD2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B06D943E-8FEC-3D2B-7C07-ED9B151E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17">
            <a:extLst>
              <a:ext uri="{FF2B5EF4-FFF2-40B4-BE49-F238E27FC236}">
                <a16:creationId xmlns:a16="http://schemas.microsoft.com/office/drawing/2014/main" id="{0D4C3A05-DC6D-1A7D-0D4F-2D349CDDA750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  <p:sp>
        <p:nvSpPr>
          <p:cNvPr id="339" name="Google Shape;339;g11f00c1cdfb_0_58">
            <a:extLst>
              <a:ext uri="{FF2B5EF4-FFF2-40B4-BE49-F238E27FC236}">
                <a16:creationId xmlns:a16="http://schemas.microsoft.com/office/drawing/2014/main" id="{6A72CF71-0091-86A5-1611-69B3655DED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8434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Google Shape;697;p19">
            <a:extLst>
              <a:ext uri="{FF2B5EF4-FFF2-40B4-BE49-F238E27FC236}">
                <a16:creationId xmlns:a16="http://schemas.microsoft.com/office/drawing/2014/main" id="{CD91A5CB-B02A-42C3-15F7-B31635994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472" y="1402090"/>
            <a:ext cx="4612171" cy="3987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dirty="0"/>
              <a:t>We missed our Branch Unit! </a:t>
            </a: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Not used in MULT2 &amp; MULT3</a:t>
            </a:r>
          </a:p>
          <a:p>
            <a:pPr marL="514350" lvl="1" indent="-57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dirty="0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lvl="1" indent="-171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000A"/>
              </a:buClr>
              <a:buSzPts val="1800"/>
              <a:buChar char="•"/>
            </a:pP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But will be useful here for</a:t>
            </a:r>
            <a:endParaRPr lang="en-US" dirty="0"/>
          </a:p>
          <a:p>
            <a:pPr marL="971550" lvl="2" indent="-171450">
              <a:buClr>
                <a:srgbClr val="00000A"/>
              </a:buClr>
            </a:pPr>
            <a:r>
              <a:rPr lang="en-US" b="1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BR</a:t>
            </a: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instruction</a:t>
            </a:r>
            <a:endParaRPr lang="en-US" dirty="0">
              <a:solidFill>
                <a:srgbClr val="00000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 b="1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JAL</a:t>
            </a: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inst</a:t>
            </a:r>
            <a:r>
              <a:rPr lang="en-US" altLang="zh-CN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uction</a:t>
            </a:r>
          </a:p>
          <a:p>
            <a:pPr marL="971550" lvl="2" indent="-171450">
              <a:buClr>
                <a:srgbClr val="00000A"/>
              </a:buClr>
            </a:pPr>
            <a:endParaRPr lang="en-US" dirty="0">
              <a:solidFill>
                <a:srgbClr val="00000A"/>
              </a:solidFill>
            </a:endParaRPr>
          </a:p>
          <a:p>
            <a:pPr marL="514350" lvl="1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pipeline should we 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 it </a:t>
            </a:r>
            <a:r>
              <a:rPr lang="en-US" altLang="zh-CN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dirty="0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its input?</a:t>
            </a: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is the data computed?</a:t>
            </a:r>
          </a:p>
          <a:p>
            <a:pPr marL="971550" lvl="2" indent="-171450">
              <a:buClr>
                <a:srgbClr val="00000A"/>
              </a:buClr>
            </a:pPr>
            <a:r>
              <a:rPr lang="en-US" dirty="0">
                <a:solidFill>
                  <a:srgbClr val="00000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is using its output?</a:t>
            </a:r>
          </a:p>
          <a:p>
            <a:pPr marL="971550" lvl="2" indent="-171450">
              <a:buClr>
                <a:srgbClr val="00000A"/>
              </a:buClr>
            </a:pPr>
            <a:endParaRPr lang="en-US" dirty="0">
              <a:solidFill>
                <a:srgbClr val="00000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oogle Shape;322;p81">
            <a:extLst>
              <a:ext uri="{FF2B5EF4-FFF2-40B4-BE49-F238E27FC236}">
                <a16:creationId xmlns:a16="http://schemas.microsoft.com/office/drawing/2014/main" id="{6B4EAC62-3933-3521-2AD5-5D4D2CEB2C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4415" y="1284279"/>
            <a:ext cx="54578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690;p18">
            <a:extLst>
              <a:ext uri="{FF2B5EF4-FFF2-40B4-BE49-F238E27FC236}">
                <a16:creationId xmlns:a16="http://schemas.microsoft.com/office/drawing/2014/main" id="{63FB1D8A-0456-70ED-DC6E-FBCE2C516505}"/>
              </a:ext>
            </a:extLst>
          </p:cNvPr>
          <p:cNvSpPr/>
          <p:nvPr/>
        </p:nvSpPr>
        <p:spPr>
          <a:xfrm>
            <a:off x="5500779" y="890092"/>
            <a:ext cx="2352166" cy="337506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1" i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Branch Unit ?</a:t>
            </a:r>
            <a:endParaRPr sz="1620" b="1" i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6607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316819" y="768666"/>
            <a:ext cx="5951966" cy="413054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0" name="Google Shape;360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17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2495550" y="857150"/>
            <a:ext cx="4781550" cy="1881187"/>
          </a:xfrm>
          <a:custGeom>
            <a:avLst/>
            <a:gdLst/>
            <a:ahLst/>
            <a:cxnLst/>
            <a:rect l="l" t="t" r="r" b="b"/>
            <a:pathLst>
              <a:path w="4781550" h="1881187" extrusionOk="0">
                <a:moveTo>
                  <a:pt x="4676775" y="1809750"/>
                </a:moveTo>
                <a:lnTo>
                  <a:pt x="4781550" y="1809750"/>
                </a:lnTo>
                <a:cubicBezTo>
                  <a:pt x="4779963" y="1206500"/>
                  <a:pt x="4778375" y="603250"/>
                  <a:pt x="4776788" y="0"/>
                </a:cubicBezTo>
                <a:lnTo>
                  <a:pt x="4763" y="4762"/>
                </a:lnTo>
                <a:cubicBezTo>
                  <a:pt x="3175" y="630237"/>
                  <a:pt x="1588" y="1255712"/>
                  <a:pt x="0" y="1881187"/>
                </a:cubicBezTo>
              </a:path>
            </a:pathLst>
          </a:cu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134750" y="3621829"/>
            <a:ext cx="2933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0000"/>
                </a:solidFill>
              </a:rPr>
              <a:t>Recall §4.6:</a:t>
            </a:r>
            <a:endParaRPr sz="1300" b="1">
              <a:solidFill>
                <a:srgbClr val="FF0000"/>
              </a:solidFill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-US" sz="1300" b="1" i="0" u="none" strike="noStrike" cap="none">
                <a:solidFill>
                  <a:srgbClr val="FF0000"/>
                </a:solidFill>
              </a:rPr>
              <a:t>We know if the branch was taken at the </a:t>
            </a:r>
            <a:r>
              <a:rPr lang="en-US" sz="1300" b="1">
                <a:solidFill>
                  <a:srgbClr val="FF0000"/>
                </a:solidFill>
              </a:rPr>
              <a:t>MEM </a:t>
            </a:r>
            <a:r>
              <a:rPr lang="en-US" sz="1300" b="1" i="0" u="none" strike="noStrike" cap="none">
                <a:solidFill>
                  <a:srgbClr val="FF0000"/>
                </a:solidFill>
              </a:rPr>
              <a:t>stage.</a:t>
            </a:r>
            <a:endParaRPr sz="1300" b="1" i="0" u="none" strike="noStrike" cap="none">
              <a:solidFill>
                <a:srgbClr val="FF0000"/>
              </a:solidFill>
            </a:endParaRPr>
          </a:p>
        </p:txBody>
      </p:sp>
      <p:sp>
        <p:nvSpPr>
          <p:cNvPr id="363" name="Google Shape;363;p6"/>
          <p:cNvSpPr txBox="1"/>
          <p:nvPr/>
        </p:nvSpPr>
        <p:spPr>
          <a:xfrm>
            <a:off x="2316822" y="4844650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6688988" y="2399147"/>
            <a:ext cx="800100" cy="5109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82;p17">
            <a:extLst>
              <a:ext uri="{FF2B5EF4-FFF2-40B4-BE49-F238E27FC236}">
                <a16:creationId xmlns:a16="http://schemas.microsoft.com/office/drawing/2014/main" id="{C9ED8CBE-AA48-8C07-7B38-B07D7079D8DA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9100AF6-5468-653F-1386-893536D2BF58}"/>
              </a:ext>
            </a:extLst>
          </p:cNvPr>
          <p:cNvCxnSpPr>
            <a:cxnSpLocks/>
            <a:endCxn id="364" idx="1"/>
          </p:cNvCxnSpPr>
          <p:nvPr/>
        </p:nvCxnSpPr>
        <p:spPr>
          <a:xfrm rot="5400000" flipH="1" flipV="1">
            <a:off x="6374864" y="2810077"/>
            <a:ext cx="469603" cy="158645"/>
          </a:xfrm>
          <a:prstGeom prst="bentConnector2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71" name="Google Shape;371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3562" y="1319212"/>
            <a:ext cx="54768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82"/>
          <p:cNvSpPr/>
          <p:nvPr/>
        </p:nvSpPr>
        <p:spPr>
          <a:xfrm>
            <a:off x="1833562" y="4224337"/>
            <a:ext cx="309563" cy="24765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2"/>
          <p:cNvSpPr txBox="1"/>
          <p:nvPr/>
        </p:nvSpPr>
        <p:spPr>
          <a:xfrm>
            <a:off x="563663" y="4174867"/>
            <a:ext cx="12698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Branch was taken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2"/>
          <p:cNvSpPr/>
          <p:nvPr/>
        </p:nvSpPr>
        <p:spPr>
          <a:xfrm>
            <a:off x="1730476" y="2466975"/>
            <a:ext cx="1269899" cy="1485543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2"/>
          <p:cNvSpPr txBox="1"/>
          <p:nvPr/>
        </p:nvSpPr>
        <p:spPr>
          <a:xfrm>
            <a:off x="3039896" y="3218210"/>
            <a:ext cx="101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These should be discarded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2"/>
          <p:cNvSpPr txBox="1"/>
          <p:nvPr/>
        </p:nvSpPr>
        <p:spPr>
          <a:xfrm>
            <a:off x="6019800" y="1648590"/>
            <a:ext cx="29337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Such solution comes at a cost…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Recall §4.6:</a:t>
            </a:r>
            <a:endParaRPr sz="1200" b="1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i="0" u="none" strike="noStrike" cap="none" dirty="0">
                <a:solidFill>
                  <a:srgbClr val="FF0000"/>
                </a:solidFill>
              </a:rPr>
              <a:t>By that time, 3 instructions are already in the pipeline.</a:t>
            </a:r>
            <a:endParaRPr sz="1200" b="1" i="0" u="none" strike="noStrike" cap="none" dirty="0">
              <a:solidFill>
                <a:srgbClr val="FF0000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They should be discarded, hence 3 cycles are wasted (§4.8.1).</a:t>
            </a:r>
            <a:endParaRPr sz="1200" b="1" dirty="0">
              <a:solidFill>
                <a:srgbClr val="FF0000"/>
              </a:solidFill>
            </a:endParaRPr>
          </a:p>
        </p:txBody>
      </p:sp>
      <p:sp>
        <p:nvSpPr>
          <p:cNvPr id="377" name="Google Shape;377;p82"/>
          <p:cNvSpPr/>
          <p:nvPr/>
        </p:nvSpPr>
        <p:spPr>
          <a:xfrm rot="10800000">
            <a:off x="3203300" y="2356600"/>
            <a:ext cx="1636800" cy="1841100"/>
          </a:xfrm>
          <a:prstGeom prst="rtTriangle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82;p17">
            <a:extLst>
              <a:ext uri="{FF2B5EF4-FFF2-40B4-BE49-F238E27FC236}">
                <a16:creationId xmlns:a16="http://schemas.microsoft.com/office/drawing/2014/main" id="{1C03E654-866C-D48F-A4B7-D5C0609A4056}"/>
              </a:ext>
            </a:extLst>
          </p:cNvPr>
          <p:cNvSpPr txBox="1">
            <a:spLocks/>
          </p:cNvSpPr>
          <p:nvPr/>
        </p:nvSpPr>
        <p:spPr>
          <a:xfrm>
            <a:off x="231410" y="64673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3300"/>
            </a:pPr>
            <a:r>
              <a:rPr lang="en-US" dirty="0"/>
              <a:t>III. Control Hazard solution (Book §4.8)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Control Hazard - Our baseline</a:t>
            </a:r>
            <a:endParaRPr dirty="0"/>
          </a:p>
        </p:txBody>
      </p:sp>
      <p:sp>
        <p:nvSpPr>
          <p:cNvPr id="383" name="Google Shape;383;p8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84" name="Google Shape;384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261" y="1220387"/>
            <a:ext cx="5705079" cy="349924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83"/>
          <p:cNvSpPr/>
          <p:nvPr/>
        </p:nvSpPr>
        <p:spPr>
          <a:xfrm>
            <a:off x="1962150" y="2447921"/>
            <a:ext cx="214200" cy="3714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3"/>
          <p:cNvSpPr/>
          <p:nvPr/>
        </p:nvSpPr>
        <p:spPr>
          <a:xfrm>
            <a:off x="2238375" y="2095496"/>
            <a:ext cx="176100" cy="4905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3"/>
          <p:cNvSpPr/>
          <p:nvPr/>
        </p:nvSpPr>
        <p:spPr>
          <a:xfrm>
            <a:off x="2700338" y="2781296"/>
            <a:ext cx="162000" cy="371400"/>
          </a:xfrm>
          <a:prstGeom prst="ellipse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83"/>
          <p:cNvSpPr txBox="1"/>
          <p:nvPr/>
        </p:nvSpPr>
        <p:spPr>
          <a:xfrm>
            <a:off x="2338273" y="2339700"/>
            <a:ext cx="1617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branch_unit (pc value)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83"/>
          <p:cNvSpPr txBox="1"/>
          <p:nvPr/>
        </p:nvSpPr>
        <p:spPr>
          <a:xfrm>
            <a:off x="11809" y="4217614"/>
            <a:ext cx="127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Flush instruction if branch is taken (§4.8.2)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3"/>
          <p:cNvSpPr txBox="1"/>
          <p:nvPr/>
        </p:nvSpPr>
        <p:spPr>
          <a:xfrm>
            <a:off x="5609850" y="1066200"/>
            <a:ext cx="3422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To save this overhead:</a:t>
            </a:r>
            <a:endParaRPr sz="12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Make branch/jump decision </a:t>
            </a:r>
            <a:r>
              <a:rPr lang="en-US" sz="1200" b="1" i="1" dirty="0">
                <a:solidFill>
                  <a:srgbClr val="FF0000"/>
                </a:solidFill>
              </a:rPr>
              <a:t>ASAP </a:t>
            </a:r>
            <a:r>
              <a:rPr lang="en-US" sz="1200" b="1" dirty="0">
                <a:solidFill>
                  <a:srgbClr val="FF0000"/>
                </a:solidFill>
              </a:rPr>
              <a:t>(at</a:t>
            </a:r>
            <a:r>
              <a:rPr lang="en-US" sz="1200" b="1" i="1" dirty="0">
                <a:solidFill>
                  <a:srgbClr val="FF0000"/>
                </a:solidFill>
              </a:rPr>
              <a:t> </a:t>
            </a:r>
            <a:r>
              <a:rPr lang="en-US" sz="1200" b="1" dirty="0">
                <a:solidFill>
                  <a:srgbClr val="FF0000"/>
                </a:solidFill>
              </a:rPr>
              <a:t>the ID stage, §4.8.2).</a:t>
            </a:r>
            <a:endParaRPr sz="1200" b="1" dirty="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●"/>
            </a:pPr>
            <a:r>
              <a:rPr lang="en-US" sz="1200" b="1" dirty="0">
                <a:solidFill>
                  <a:srgbClr val="FF0000"/>
                </a:solidFill>
              </a:rPr>
              <a:t>This is our baseline architecture for MULT4 (in terms of saving the total cycle amount).</a:t>
            </a:r>
            <a:endParaRPr sz="12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FF0000"/>
              </a:solidFill>
            </a:endParaRPr>
          </a:p>
        </p:txBody>
      </p:sp>
      <p:sp>
        <p:nvSpPr>
          <p:cNvPr id="391" name="Google Shape;391;p83"/>
          <p:cNvSpPr txBox="1"/>
          <p:nvPr/>
        </p:nvSpPr>
        <p:spPr>
          <a:xfrm>
            <a:off x="617847" y="4764088"/>
            <a:ext cx="3360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lang="en-US" sz="122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Patterson Book. FIGURE 4.</a:t>
            </a:r>
            <a:r>
              <a:rPr lang="en-US" sz="122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 sz="122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3"/>
          <p:cNvSpPr txBox="1"/>
          <p:nvPr/>
        </p:nvSpPr>
        <p:spPr>
          <a:xfrm>
            <a:off x="2802074" y="2766900"/>
            <a:ext cx="84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branch</a:t>
            </a:r>
            <a:endParaRPr sz="1000" b="1">
              <a:solidFill>
                <a:srgbClr val="C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C00000"/>
                </a:solidFill>
              </a:rPr>
              <a:t>taken?</a:t>
            </a:r>
            <a:endParaRPr sz="1000" b="1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3"/>
          <p:cNvSpPr/>
          <p:nvPr/>
        </p:nvSpPr>
        <p:spPr>
          <a:xfrm>
            <a:off x="1910650" y="1715359"/>
            <a:ext cx="903100" cy="1071591"/>
          </a:xfrm>
          <a:custGeom>
            <a:avLst/>
            <a:gdLst/>
            <a:ahLst/>
            <a:cxnLst/>
            <a:rect l="l" t="t" r="r" b="b"/>
            <a:pathLst>
              <a:path w="36124" h="69991" extrusionOk="0">
                <a:moveTo>
                  <a:pt x="36124" y="69991"/>
                </a:moveTo>
                <a:lnTo>
                  <a:pt x="36124" y="0"/>
                </a:lnTo>
                <a:lnTo>
                  <a:pt x="0" y="0"/>
                </a:lnTo>
                <a:lnTo>
                  <a:pt x="0" y="13829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Google Shape;394;p83"/>
          <p:cNvSpPr txBox="1"/>
          <p:nvPr/>
        </p:nvSpPr>
        <p:spPr>
          <a:xfrm>
            <a:off x="5609850" y="2603025"/>
            <a:ext cx="35343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Char char="●"/>
            </a:pPr>
            <a:r>
              <a:rPr lang="en-US" sz="1200" b="1" dirty="0">
                <a:solidFill>
                  <a:srgbClr val="2E75B5"/>
                </a:solidFill>
              </a:rPr>
              <a:t>We still use the branch-not-taken prediction (in our baseline). 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ID judges the branch/jump.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IF basically fetches imem[PC+4].</a:t>
            </a:r>
            <a:endParaRPr sz="1200" b="1" dirty="0">
              <a:solidFill>
                <a:srgbClr val="2E75B5"/>
              </a:solidFill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AutoNum type="alphaLcPeriod"/>
            </a:pPr>
            <a:r>
              <a:rPr lang="en-US" sz="1200" b="1" dirty="0">
                <a:solidFill>
                  <a:srgbClr val="2E75B5"/>
                </a:solidFill>
              </a:rPr>
              <a:t>If branch-taken/jump, next PC is overwritten and the false IF instruction is flushed before next clock edge comes.</a:t>
            </a:r>
            <a:endParaRPr sz="1200" b="1" dirty="0">
              <a:solidFill>
                <a:srgbClr val="2E75B5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2E75B5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200"/>
              <a:buChar char="●"/>
            </a:pPr>
            <a:r>
              <a:rPr lang="en-US" sz="1200" b="1" dirty="0">
                <a:solidFill>
                  <a:srgbClr val="2E75B5"/>
                </a:solidFill>
              </a:rPr>
              <a:t>Feel free to use different prediction scheme if you find it valuable(§4.8.3).</a:t>
            </a:r>
            <a:endParaRPr sz="1200" b="1" dirty="0">
              <a:solidFill>
                <a:srgbClr val="2E75B5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2E75B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01" name="Google Shape;401;p84"/>
          <p:cNvSpPr txBox="1">
            <a:spLocks noGrp="1"/>
          </p:cNvSpPr>
          <p:nvPr>
            <p:ph type="body" idx="2"/>
          </p:nvPr>
        </p:nvSpPr>
        <p:spPr>
          <a:xfrm>
            <a:off x="4910150" y="1236250"/>
            <a:ext cx="3886200" cy="35094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input data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load 1 weight data</a:t>
            </a:r>
            <a:b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mul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x4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multiply the input with the weight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accumulate the result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C_CHECK</a:t>
            </a:r>
            <a:br>
              <a:rPr lang="en-US" sz="700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restarts with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    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store the output data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reset to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-5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64-bit word address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K_CHECK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restarts with 0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+1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+5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7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-</a:t>
            </a:r>
            <a:r>
              <a:rPr lang="en-US" sz="7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r>
              <a:rPr lang="en-US" sz="7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</a:t>
            </a:r>
            <a: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64-bit word address -</a:t>
            </a:r>
            <a:r>
              <a:rPr lang="en-US" sz="700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br>
              <a:rPr lang="en-US" sz="7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jal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B_CHECK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7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B_END</a:t>
            </a:r>
            <a:r>
              <a:rPr lang="en-US" sz="7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dirty="0"/>
          </a:p>
        </p:txBody>
      </p:sp>
      <p:sp>
        <p:nvSpPr>
          <p:cNvPr id="402" name="Google Shape;402;p84"/>
          <p:cNvSpPr txBox="1"/>
          <p:nvPr/>
        </p:nvSpPr>
        <p:spPr>
          <a:xfrm>
            <a:off x="338150" y="1230300"/>
            <a:ext cx="4572000" cy="350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x25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input's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x26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160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weight's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x27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600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output's address starting point in </a:t>
            </a:r>
            <a:r>
              <a:rPr lang="en-US" sz="800" b="0" i="0" u="none" strike="noStrike" cap="none" dirty="0" err="1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dmem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C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K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total B loop size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C loop index starts with 0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K loop index starts with 0</a:t>
            </a:r>
            <a:b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 loop index starts with 0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addi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x7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B5CEA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                 </a:t>
            </a:r>
            <a:r>
              <a:rPr lang="en-US" sz="800" b="0" i="0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accumulation result initialization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x13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B_END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K_CHECK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x12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K_END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C_CHECK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beq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x21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800" b="0" i="0" u="none" strike="noStrike" cap="none" dirty="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x11</a:t>
            </a:r>
            <a: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 C_END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 b="0" i="0" u="none" strike="noStrike" cap="none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nop</a:t>
            </a:r>
            <a:br>
              <a:rPr lang="en-US" sz="8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800" b="0" i="0" u="none" strike="noStrike" cap="none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D4D4D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84"/>
          <p:cNvSpPr txBox="1"/>
          <p:nvPr/>
        </p:nvSpPr>
        <p:spPr>
          <a:xfrm>
            <a:off x="4910150" y="753150"/>
            <a:ext cx="3886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Understand the program, locate the hazard, understand your design, upgrade the imem…</a:t>
            </a:r>
            <a:endParaRPr sz="1300" b="1" i="0" u="none" strike="noStrike" cap="none">
              <a:solidFill>
                <a:schemeClr val="accent1"/>
              </a:solidFill>
            </a:endParaRPr>
          </a:p>
        </p:txBody>
      </p:sp>
      <p:sp>
        <p:nvSpPr>
          <p:cNvPr id="404" name="Google Shape;404;p84"/>
          <p:cNvSpPr txBox="1"/>
          <p:nvPr/>
        </p:nvSpPr>
        <p:spPr>
          <a:xfrm>
            <a:off x="1887700" y="2797175"/>
            <a:ext cx="30573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Don’t just copy and paste this one! </a:t>
            </a:r>
            <a:endParaRPr sz="1100" b="1" dirty="0">
              <a:solidFill>
                <a:srgbClr val="FF9900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Understand your architecture and insert the necessary </a:t>
            </a:r>
            <a:r>
              <a:rPr lang="en-US" sz="1100" b="1" dirty="0" err="1">
                <a:solidFill>
                  <a:srgbClr val="FF9900"/>
                </a:solidFill>
              </a:rPr>
              <a:t>nops</a:t>
            </a:r>
            <a:r>
              <a:rPr lang="en-US" sz="1100" b="1" dirty="0">
                <a:solidFill>
                  <a:srgbClr val="FF9900"/>
                </a:solidFill>
              </a:rPr>
              <a:t>.</a:t>
            </a:r>
            <a:endParaRPr sz="1100" b="1" dirty="0">
              <a:solidFill>
                <a:srgbClr val="FF9900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●"/>
            </a:pPr>
            <a:r>
              <a:rPr lang="en-US" sz="1100" b="1" dirty="0">
                <a:solidFill>
                  <a:srgbClr val="FF9900"/>
                </a:solidFill>
              </a:rPr>
              <a:t>Hazard control and </a:t>
            </a:r>
            <a:r>
              <a:rPr lang="en-US" sz="1100" b="1" dirty="0" err="1">
                <a:solidFill>
                  <a:srgbClr val="FF9900"/>
                </a:solidFill>
              </a:rPr>
              <a:t>nop</a:t>
            </a:r>
            <a:r>
              <a:rPr lang="en-US" sz="1100" b="1" dirty="0">
                <a:solidFill>
                  <a:srgbClr val="FF9900"/>
                </a:solidFill>
              </a:rPr>
              <a:t> insertion are related</a:t>
            </a:r>
            <a:endParaRPr sz="1100" b="1" dirty="0">
              <a:solidFill>
                <a:srgbClr val="FF99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better hazard control logic you have,</a:t>
            </a:r>
            <a:endParaRPr sz="1100" b="1" dirty="0">
              <a:solidFill>
                <a:srgbClr val="C000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fewer </a:t>
            </a:r>
            <a:r>
              <a:rPr lang="en-US" sz="1100" b="1" dirty="0" err="1">
                <a:solidFill>
                  <a:srgbClr val="C00000"/>
                </a:solidFill>
              </a:rPr>
              <a:t>nops</a:t>
            </a:r>
            <a:r>
              <a:rPr lang="en-US" sz="1100" b="1" dirty="0">
                <a:solidFill>
                  <a:srgbClr val="C00000"/>
                </a:solidFill>
              </a:rPr>
              <a:t> you will need,</a:t>
            </a:r>
            <a:endParaRPr sz="1100" b="1" dirty="0">
              <a:solidFill>
                <a:srgbClr val="C00000"/>
              </a:solidFill>
            </a:endParaRPr>
          </a:p>
          <a:p>
            <a:pPr marL="5715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100"/>
              <a:buChar char="○"/>
            </a:pPr>
            <a:r>
              <a:rPr lang="en-US" sz="1100" b="1" dirty="0">
                <a:solidFill>
                  <a:srgbClr val="C00000"/>
                </a:solidFill>
              </a:rPr>
              <a:t>The better performance you will achieve.</a:t>
            </a:r>
            <a:endParaRPr sz="1100" b="1" dirty="0">
              <a:solidFill>
                <a:srgbClr val="C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FF9900"/>
              </a:solidFill>
            </a:endParaRPr>
          </a:p>
        </p:txBody>
      </p:sp>
      <p:sp>
        <p:nvSpPr>
          <p:cNvPr id="405" name="Google Shape;405;p84"/>
          <p:cNvSpPr txBox="1"/>
          <p:nvPr/>
        </p:nvSpPr>
        <p:spPr>
          <a:xfrm>
            <a:off x="447800" y="753150"/>
            <a:ext cx="435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[Fail-Safe] If the deadline is right ahead,</a:t>
            </a:r>
            <a:endParaRPr sz="1300" b="1">
              <a:solidFill>
                <a:schemeClr val="accen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accent1"/>
                </a:solidFill>
              </a:rPr>
              <a:t>at least make your processor </a:t>
            </a:r>
            <a:r>
              <a:rPr lang="en-US" sz="1300" b="1">
                <a:solidFill>
                  <a:schemeClr val="accent1"/>
                </a:solidFill>
                <a:highlight>
                  <a:srgbClr val="FFFF00"/>
                </a:highlight>
              </a:rPr>
              <a:t>functional</a:t>
            </a:r>
            <a:r>
              <a:rPr lang="en-US" sz="1300" b="1">
                <a:solidFill>
                  <a:schemeClr val="accent1"/>
                </a:solidFill>
              </a:rPr>
              <a:t> on MULT4!</a:t>
            </a:r>
            <a:endParaRPr sz="1300" b="1" i="0" u="none" strike="noStrike" cap="none">
              <a:solidFill>
                <a:schemeClr val="accent1"/>
              </a:solidFill>
            </a:endParaRPr>
          </a:p>
        </p:txBody>
      </p:sp>
      <p:sp>
        <p:nvSpPr>
          <p:cNvPr id="11" name="Google Shape;410;g11f40ab9e5b_0_14">
            <a:extLst>
              <a:ext uri="{FF2B5EF4-FFF2-40B4-BE49-F238E27FC236}">
                <a16:creationId xmlns:a16="http://schemas.microsoft.com/office/drawing/2014/main" id="{25CD3369-ADE2-4A59-ADF1-98F5EA11E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200" y="40475"/>
            <a:ext cx="8906250" cy="72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606"/>
              <a:buNone/>
            </a:pPr>
            <a:r>
              <a:rPr lang="en-US" dirty="0"/>
              <a:t>IV. </a:t>
            </a:r>
            <a:r>
              <a:rPr lang="en-US" b="1" dirty="0">
                <a:solidFill>
                  <a:schemeClr val="accent6"/>
                </a:solidFill>
              </a:rPr>
              <a:t>PLAN B </a:t>
            </a:r>
            <a:r>
              <a:rPr lang="en-US" dirty="0"/>
              <a:t>– hazards can be solved with </a:t>
            </a:r>
            <a:r>
              <a:rPr lang="en-US" dirty="0" err="1"/>
              <a:t>nop</a:t>
            </a:r>
            <a:r>
              <a:rPr lang="en-US" dirty="0"/>
              <a:t> insertion </a:t>
            </a:r>
            <a:endParaRPr dirty="0"/>
          </a:p>
        </p:txBody>
      </p:sp>
      <p:sp>
        <p:nvSpPr>
          <p:cNvPr id="2" name="Google Shape;291;p17">
            <a:extLst>
              <a:ext uri="{FF2B5EF4-FFF2-40B4-BE49-F238E27FC236}">
                <a16:creationId xmlns:a16="http://schemas.microsoft.com/office/drawing/2014/main" id="{FDA5EDD1-5A3E-32CE-CB9C-3F171EE01E7D}"/>
              </a:ext>
            </a:extLst>
          </p:cNvPr>
          <p:cNvSpPr txBox="1"/>
          <p:nvPr/>
        </p:nvSpPr>
        <p:spPr>
          <a:xfrm>
            <a:off x="5908429" y="484103"/>
            <a:ext cx="331727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Arial"/>
              <a:buNone/>
            </a:pP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Recall 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MULT2</a:t>
            </a:r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, the software solution.</a:t>
            </a:r>
            <a:endParaRPr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1f40ab9e5b_0_14"/>
          <p:cNvSpPr txBox="1">
            <a:spLocks noGrp="1"/>
          </p:cNvSpPr>
          <p:nvPr>
            <p:ph type="title"/>
          </p:nvPr>
        </p:nvSpPr>
        <p:spPr>
          <a:xfrm>
            <a:off x="160200" y="40475"/>
            <a:ext cx="8906250" cy="72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606"/>
              <a:buNone/>
            </a:pPr>
            <a:r>
              <a:rPr lang="en-US" dirty="0"/>
              <a:t>I</a:t>
            </a:r>
            <a:r>
              <a:rPr lang="en-US" altLang="zh-CN" dirty="0"/>
              <a:t>V</a:t>
            </a:r>
            <a:r>
              <a:rPr lang="en-US" dirty="0"/>
              <a:t>. </a:t>
            </a:r>
            <a:r>
              <a:rPr lang="en-US" b="1" dirty="0">
                <a:solidFill>
                  <a:schemeClr val="accent6"/>
                </a:solidFill>
              </a:rPr>
              <a:t>PLAN B</a:t>
            </a:r>
            <a:r>
              <a:rPr lang="en-US" dirty="0"/>
              <a:t> – hazards can be solved with </a:t>
            </a:r>
            <a:r>
              <a:rPr lang="en-US" dirty="0" err="1"/>
              <a:t>nop</a:t>
            </a:r>
            <a:r>
              <a:rPr lang="en-US" dirty="0"/>
              <a:t> insertion </a:t>
            </a:r>
            <a:endParaRPr dirty="0"/>
          </a:p>
        </p:txBody>
      </p:sp>
      <p:sp>
        <p:nvSpPr>
          <p:cNvPr id="411" name="Google Shape;411;g11f40ab9e5b_0_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12" name="Google Shape;412;g11f40ab9e5b_0_14"/>
          <p:cNvSpPr txBox="1"/>
          <p:nvPr/>
        </p:nvSpPr>
        <p:spPr>
          <a:xfrm>
            <a:off x="96000" y="737700"/>
            <a:ext cx="8887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-US" sz="1300" b="1" dirty="0">
                <a:solidFill>
                  <a:schemeClr val="accent1"/>
                </a:solidFill>
              </a:rPr>
              <a:t>Whenever you change the program, DO NOT FORGET to regenerate the machine code (</a:t>
            </a:r>
            <a:r>
              <a:rPr lang="en-US" sz="1300" b="1" dirty="0" err="1">
                <a:solidFill>
                  <a:schemeClr val="accent1"/>
                </a:solidFill>
                <a:highlight>
                  <a:srgbClr val="FFFF00"/>
                </a:highlight>
              </a:rPr>
              <a:t>imem_content</a:t>
            </a:r>
            <a:r>
              <a:rPr lang="en-US" sz="1300" b="1" dirty="0">
                <a:solidFill>
                  <a:schemeClr val="accent1"/>
                </a:solidFill>
              </a:rPr>
              <a:t>)!</a:t>
            </a:r>
            <a:endParaRPr sz="1300" b="1" dirty="0">
              <a:solidFill>
                <a:schemeClr val="accent1"/>
              </a:solidFill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●"/>
            </a:pPr>
            <a:r>
              <a:rPr lang="en-US" sz="1300" b="1" dirty="0">
                <a:solidFill>
                  <a:schemeClr val="accent1"/>
                </a:solidFill>
              </a:rPr>
              <a:t>Make use of the online tool we mentioned in session-1 (</a:t>
            </a:r>
            <a:r>
              <a:rPr lang="en-US" sz="1300" b="1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link-online-converter</a:t>
            </a:r>
            <a:r>
              <a:rPr lang="en-US" sz="1300" b="1" dirty="0">
                <a:solidFill>
                  <a:schemeClr val="accent1"/>
                </a:solidFill>
              </a:rPr>
              <a:t>, </a:t>
            </a:r>
            <a:r>
              <a:rPr lang="en-US" sz="1300" b="1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link-</a:t>
            </a:r>
            <a:r>
              <a:rPr lang="en-US" sz="1300" b="1" u="sng" dirty="0" err="1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300" b="1" dirty="0">
                <a:solidFill>
                  <a:schemeClr val="accent1"/>
                </a:solidFill>
              </a:rPr>
              <a:t>).</a:t>
            </a:r>
            <a:endParaRPr sz="1300" b="1" dirty="0">
              <a:solidFill>
                <a:schemeClr val="accent1"/>
              </a:solidFill>
            </a:endParaRPr>
          </a:p>
        </p:txBody>
      </p:sp>
      <p:pic>
        <p:nvPicPr>
          <p:cNvPr id="413" name="Google Shape;413;g11f40ab9e5b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527" y="1442063"/>
            <a:ext cx="2645075" cy="19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11f40ab9e5b_0_14"/>
          <p:cNvSpPr txBox="1"/>
          <p:nvPr/>
        </p:nvSpPr>
        <p:spPr>
          <a:xfrm>
            <a:off x="493775" y="1120713"/>
            <a:ext cx="328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</a:rPr>
              <a:t>1. Paste your assembly code in Editor.</a:t>
            </a:r>
            <a:endParaRPr/>
          </a:p>
        </p:txBody>
      </p:sp>
      <p:sp>
        <p:nvSpPr>
          <p:cNvPr id="415" name="Google Shape;415;g11f40ab9e5b_0_14"/>
          <p:cNvSpPr/>
          <p:nvPr/>
        </p:nvSpPr>
        <p:spPr>
          <a:xfrm>
            <a:off x="1754630" y="1442075"/>
            <a:ext cx="769200" cy="4926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g11f40ab9e5b_0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5675" y="1413825"/>
            <a:ext cx="4181507" cy="3232163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11f40ab9e5b_0_14"/>
          <p:cNvSpPr txBox="1"/>
          <p:nvPr/>
        </p:nvSpPr>
        <p:spPr>
          <a:xfrm>
            <a:off x="4572000" y="1120725"/>
            <a:ext cx="37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0000"/>
                </a:solidFill>
              </a:rPr>
              <a:t>2. Go to Simulator and click the Green button.</a:t>
            </a:r>
            <a:endParaRPr/>
          </a:p>
        </p:txBody>
      </p:sp>
      <p:sp>
        <p:nvSpPr>
          <p:cNvPr id="418" name="Google Shape;418;g11f40ab9e5b_0_14"/>
          <p:cNvSpPr/>
          <p:nvPr/>
        </p:nvSpPr>
        <p:spPr>
          <a:xfrm>
            <a:off x="6647450" y="1425150"/>
            <a:ext cx="841500" cy="3693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11f40ab9e5b_0_14"/>
          <p:cNvSpPr/>
          <p:nvPr/>
        </p:nvSpPr>
        <p:spPr>
          <a:xfrm>
            <a:off x="5289650" y="1905200"/>
            <a:ext cx="2322600" cy="4266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11f40ab9e5b_0_14"/>
          <p:cNvSpPr/>
          <p:nvPr/>
        </p:nvSpPr>
        <p:spPr>
          <a:xfrm>
            <a:off x="5042750" y="2483700"/>
            <a:ext cx="964800" cy="21645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11f40ab9e5b_0_14"/>
          <p:cNvSpPr txBox="1"/>
          <p:nvPr/>
        </p:nvSpPr>
        <p:spPr>
          <a:xfrm>
            <a:off x="384000" y="3352100"/>
            <a:ext cx="37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3. Upgrade the </a:t>
            </a:r>
            <a:r>
              <a:rPr lang="en-US" sz="1200" b="1" dirty="0" err="1">
                <a:solidFill>
                  <a:srgbClr val="FF0000"/>
                </a:solidFill>
              </a:rPr>
              <a:t>imem_content</a:t>
            </a:r>
            <a:r>
              <a:rPr lang="en-US" sz="1200" b="1" dirty="0">
                <a:solidFill>
                  <a:srgbClr val="FF0000"/>
                </a:solidFill>
              </a:rPr>
              <a:t> (remove “0x”!).</a:t>
            </a:r>
            <a:endParaRPr sz="1200"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0000"/>
                </a:solidFill>
              </a:rPr>
              <a:t>4. Never forget to add the finishing lines. </a:t>
            </a:r>
            <a:r>
              <a:rPr lang="zh-CN" altLang="en-US" sz="1200" b="1" dirty="0">
                <a:solidFill>
                  <a:srgbClr val="FF0000"/>
                </a:solidFill>
              </a:rPr>
              <a:t>👇</a:t>
            </a:r>
            <a:endParaRPr sz="1200" b="1" dirty="0">
              <a:solidFill>
                <a:srgbClr val="FF0000"/>
              </a:solidFill>
            </a:endParaRPr>
          </a:p>
        </p:txBody>
      </p:sp>
      <p:pic>
        <p:nvPicPr>
          <p:cNvPr id="422" name="Google Shape;422;g11f40ab9e5b_0_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550" y="3863345"/>
            <a:ext cx="3289800" cy="117782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11f40ab9e5b_0_14"/>
          <p:cNvSpPr/>
          <p:nvPr/>
        </p:nvSpPr>
        <p:spPr>
          <a:xfrm>
            <a:off x="1041385" y="4048125"/>
            <a:ext cx="2877900" cy="994200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20;p4">
            <a:extLst>
              <a:ext uri="{FF2B5EF4-FFF2-40B4-BE49-F238E27FC236}">
                <a16:creationId xmlns:a16="http://schemas.microsoft.com/office/drawing/2014/main" id="{85A3CFCF-E8C0-C042-308D-E4D0D6936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" y="5286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>
              <a:buSzPts val="4400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Today’s session: task summary</a:t>
            </a:r>
            <a:endParaRPr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76498-4EE9-2874-1A0B-23066A0B50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236A1B-56AE-9F57-25A2-6B5702D1B605}"/>
              </a:ext>
            </a:extLst>
          </p:cNvPr>
          <p:cNvSpPr txBox="1"/>
          <p:nvPr/>
        </p:nvSpPr>
        <p:spPr>
          <a:xfrm>
            <a:off x="186041" y="1187658"/>
            <a:ext cx="8329309" cy="394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-GB" sz="1800" b="1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session_guide.pdf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Study the </a:t>
            </a:r>
            <a:r>
              <a:rPr lang="en-US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</a:rPr>
              <a:t>RUN CYCLE-ACCURATE SIMULATION</a:t>
            </a:r>
            <a:r>
              <a:rPr lang="en-GB" sz="1800" dirty="0">
                <a:solidFill>
                  <a:srgbClr val="00000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GB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sym typeface="Calibri"/>
              </a:rPr>
              <a:t>RUN BACKEND FLOW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Follow the </a:t>
            </a:r>
            <a:r>
              <a:rPr lang="en-US" altLang="zh-CN" sz="1500" dirty="0">
                <a:solidFill>
                  <a:srgbClr val="1F4D78"/>
                </a:solidFill>
                <a:highlight>
                  <a:srgbClr val="B3C6E7"/>
                </a:highlight>
                <a:latin typeface="Calibri" panose="020F0502020204030204" pitchFamily="34" charset="0"/>
                <a:ea typeface="Calibri"/>
                <a:cs typeface="Calibri"/>
                <a:sym typeface="Calibri"/>
              </a:rPr>
              <a:t>TASKS TO BE DONE</a:t>
            </a:r>
            <a:r>
              <a:rPr lang="en-GB" altLang="zh-CN" sz="1500" dirty="0">
                <a:solidFill>
                  <a:srgbClr val="00000A"/>
                </a:solidFill>
                <a:highlight>
                  <a:srgbClr val="B3C6E7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and fill in the 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report.docx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GB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</a:pP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Copy-paste your finished 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/RTL/*.v </a:t>
            </a:r>
            <a:r>
              <a:rPr lang="en-GB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into the SOLUTION folders.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Obj-1 		</a:t>
            </a:r>
            <a:r>
              <a:rPr lang="en-GB" altLang="zh-CN" sz="1800" b="1" dirty="0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 </a:t>
            </a: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Wingdings" panose="05000000000000000000" pitchFamily="2" charset="2"/>
              </a:rPr>
              <a:t>RTL_SOLUTION5_pipeline_hazard_advanced_MULT4</a:t>
            </a: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endParaRPr lang="en-US" altLang="zh-CN" sz="1800" b="1" dirty="0">
              <a:solidFill>
                <a:srgbClr val="00000A"/>
              </a:solidFill>
              <a:latin typeface="Calibri"/>
              <a:cs typeface="Calibri"/>
              <a:sym typeface="Calibri"/>
            </a:endParaRPr>
          </a:p>
          <a:p>
            <a:pPr marL="514350" indent="-17145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Char char="•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Note: 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We use universal test patterns for fair grading.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</a:t>
            </a:r>
            <a:r>
              <a:rPr lang="en-US" altLang="zh-CN" sz="1800" b="1" dirty="0" err="1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cpu_tb.v</a:t>
            </a: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 &amp; sky130_sram_2rw.v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00000A"/>
                </a:solidFill>
                <a:latin typeface="Calibri"/>
                <a:cs typeface="Calibri"/>
                <a:sym typeface="Calibri"/>
              </a:rPr>
              <a:t>Do not modify mult4_dmem_content.txt</a:t>
            </a:r>
          </a:p>
          <a:p>
            <a:pPr marL="685800" indent="-342900">
              <a:lnSpc>
                <a:spcPct val="90000"/>
              </a:lnSpc>
              <a:spcBef>
                <a:spcPts val="375"/>
              </a:spcBef>
              <a:buClr>
                <a:srgbClr val="00000A"/>
              </a:buClr>
              <a:buSzPct val="100000"/>
              <a:buFont typeface="+mj-lt"/>
              <a:buAutoNum type="arabicPeriod"/>
            </a:pPr>
            <a:r>
              <a:rPr lang="en-US" altLang="zh-CN" sz="1800" b="1" dirty="0">
                <a:solidFill>
                  <a:srgbClr val="C00000"/>
                </a:solidFill>
                <a:latin typeface="Calibri"/>
                <a:cs typeface="Calibri"/>
                <a:sym typeface="Calibri"/>
              </a:rPr>
              <a:t>This time you can modify mult4_imem_content.txt</a:t>
            </a:r>
          </a:p>
        </p:txBody>
      </p:sp>
    </p:spTree>
    <p:extLst>
      <p:ext uri="{BB962C8B-B14F-4D97-AF65-F5344CB8AC3E}">
        <p14:creationId xmlns:p14="http://schemas.microsoft.com/office/powerpoint/2010/main" val="3175589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6"/>
          <p:cNvSpPr txBox="1">
            <a:spLocks noGrp="1"/>
          </p:cNvSpPr>
          <p:nvPr>
            <p:ph type="body" idx="1"/>
          </p:nvPr>
        </p:nvSpPr>
        <p:spPr>
          <a:xfrm>
            <a:off x="-101377" y="1365870"/>
            <a:ext cx="4787412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Useful resources to make it go faster!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Patterson Book. End of section 4.8 on branch prediction tricks.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Patterson Book. From Section 4.10 on advanced acceleration tricks.</a:t>
            </a:r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RISC-V specification. Chapter 17 on the “V” Standard Extension for Vector Operations</a:t>
            </a:r>
            <a:endParaRPr dirty="0"/>
          </a:p>
        </p:txBody>
      </p:sp>
      <p:sp>
        <p:nvSpPr>
          <p:cNvPr id="439" name="Google Shape;439;p8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440" name="Google Shape;440;p86"/>
          <p:cNvSpPr txBox="1"/>
          <p:nvPr/>
        </p:nvSpPr>
        <p:spPr>
          <a:xfrm>
            <a:off x="112681" y="779757"/>
            <a:ext cx="238017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 b="1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1" i="0" u="none" strike="noStrike" cap="none" dirty="0">
                <a:solidFill>
                  <a:srgbClr val="00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400" b="1" i="0" u="none" strike="noStrike" cap="none" dirty="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400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00" b="1" i="0" u="none" strike="noStrike" cap="none" dirty="0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400" b="1" i="0" u="none" strike="noStrike" cap="none" dirty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1" i="0" u="none" strike="noStrike" cap="none" dirty="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400" b="1" i="0" u="none" strike="noStrike" cap="none" dirty="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493D8-5834-7FC4-E675-1F0A5051BA05}"/>
              </a:ext>
            </a:extLst>
          </p:cNvPr>
          <p:cNvSpPr txBox="1"/>
          <p:nvPr/>
        </p:nvSpPr>
        <p:spPr>
          <a:xfrm>
            <a:off x="5087969" y="4252924"/>
            <a:ext cx="3943350" cy="58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92664"/>
              <a:buNone/>
            </a:pPr>
            <a:r>
              <a:rPr lang="en-GB" u="sng" dirty="0"/>
              <a:t>Project handover</a:t>
            </a:r>
          </a:p>
          <a:p>
            <a:pPr marL="11430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92664"/>
              <a:buNone/>
            </a:pPr>
            <a:r>
              <a:rPr lang="en-GB" dirty="0"/>
              <a:t>Deadline: </a:t>
            </a:r>
            <a:r>
              <a:rPr lang="en-GB" b="1" dirty="0">
                <a:solidFill>
                  <a:srgbClr val="FF0000"/>
                </a:solidFill>
              </a:rPr>
              <a:t>1</a:t>
            </a:r>
            <a:r>
              <a:rPr lang="en-GB" b="1" baseline="30000" dirty="0">
                <a:solidFill>
                  <a:srgbClr val="FF0000"/>
                </a:solidFill>
              </a:rPr>
              <a:t>st</a:t>
            </a:r>
            <a:r>
              <a:rPr lang="en-GB" b="1" dirty="0">
                <a:solidFill>
                  <a:srgbClr val="FF0000"/>
                </a:solidFill>
              </a:rPr>
              <a:t> May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22BEE6-49E5-D00E-EEAC-2950ABBBA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07050"/>
              </p:ext>
            </p:extLst>
          </p:nvPr>
        </p:nvGraphicFramePr>
        <p:xfrm>
          <a:off x="5499449" y="1099797"/>
          <a:ext cx="3354992" cy="3053080"/>
        </p:xfrm>
        <a:graphic>
          <a:graphicData uri="http://schemas.openxmlformats.org/drawingml/2006/table">
            <a:tbl>
              <a:tblPr firstRow="1" bandRow="1"/>
              <a:tblGrid>
                <a:gridCol w="2669191">
                  <a:extLst>
                    <a:ext uri="{9D8B030D-6E8A-4147-A177-3AD203B41FA5}">
                      <a16:colId xmlns:a16="http://schemas.microsoft.com/office/drawing/2014/main" val="3526213194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60602808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u="sng" dirty="0">
                          <a:solidFill>
                            <a:srgbClr val="FF0000"/>
                          </a:solidFill>
                        </a:rPr>
                        <a:t>Grading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009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019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Functional pipelined MULT2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7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Functional pipelined MULT3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246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Functional MULT4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22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Advanced MULT4</a:t>
                      </a:r>
                    </a:p>
                    <a:p>
                      <a:r>
                        <a:rPr lang="en-US" sz="1200" dirty="0"/>
                        <a:t>#cycles &lt;= baseline imp. (1636 cc)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988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Report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33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5353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3260</Words>
  <Application>Microsoft Office PowerPoint</Application>
  <PresentationFormat>On-screen Show (16:9)</PresentationFormat>
  <Paragraphs>311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Noto Sans Symbols</vt:lpstr>
      <vt:lpstr>Arial</vt:lpstr>
      <vt:lpstr>Calibri</vt:lpstr>
      <vt:lpstr>Cambria</vt:lpstr>
      <vt:lpstr>Consolas</vt:lpstr>
      <vt:lpstr>Office Theme</vt:lpstr>
      <vt:lpstr>Computer Architectures Session 3</vt:lpstr>
      <vt:lpstr>Timeline</vt:lpstr>
      <vt:lpstr>Last session recap</vt:lpstr>
      <vt:lpstr>Last session recap</vt:lpstr>
      <vt:lpstr>Today’s session: Advanced acceleration</vt:lpstr>
      <vt:lpstr>Obj-1: mult4</vt:lpstr>
      <vt:lpstr>PowerPoint Presentation</vt:lpstr>
      <vt:lpstr>I. Full data forwarding logic (Book §4.7)</vt:lpstr>
      <vt:lpstr>I. Full data forwarding logic (Book §4.7)</vt:lpstr>
      <vt:lpstr>II. Data hazard resolution with stalling</vt:lpstr>
      <vt:lpstr>II. Data hazard resolution with stalling</vt:lpstr>
      <vt:lpstr>PowerPoint Presentation</vt:lpstr>
      <vt:lpstr>II. Data hazard resolution with stalling</vt:lpstr>
      <vt:lpstr>I. Full data forwarding logic (Book §4.7)</vt:lpstr>
      <vt:lpstr>PowerPoint Presentation</vt:lpstr>
      <vt:lpstr>PowerPoint Presentation</vt:lpstr>
      <vt:lpstr>PowerPoint Presentation</vt:lpstr>
      <vt:lpstr>PowerPoint Presentation</vt:lpstr>
      <vt:lpstr>Control Hazard - Our baseline</vt:lpstr>
      <vt:lpstr>IV. PLAN B – hazards can be solved with nop insertion </vt:lpstr>
      <vt:lpstr>IV. PLAN B – hazards can be solved with nop insertion </vt:lpstr>
      <vt:lpstr>Today’s session: task 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Architectures Session 3</dc:title>
  <dc:creator>Jasper Marien (----)</dc:creator>
  <cp:lastModifiedBy>Xiaoling Yi</cp:lastModifiedBy>
  <cp:revision>75</cp:revision>
  <dcterms:created xsi:type="dcterms:W3CDTF">2020-04-01T15:40:31Z</dcterms:created>
  <dcterms:modified xsi:type="dcterms:W3CDTF">2026-03-03T20:51:57Z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0eba32c-0974-4663-a3a1-3cd8c30938e9_Enabled">
    <vt:lpwstr>true</vt:lpwstr>
  </property>
  <property fmtid="{D5CDD505-2E9C-101B-9397-08002B2CF9AE}" pid="3" name="MSIP_Label_f0eba32c-0974-4663-a3a1-3cd8c30938e9_SetDate">
    <vt:lpwstr>2021-03-26T14:30:44Z</vt:lpwstr>
  </property>
  <property fmtid="{D5CDD505-2E9C-101B-9397-08002B2CF9AE}" pid="4" name="MSIP_Label_f0eba32c-0974-4663-a3a1-3cd8c30938e9_Method">
    <vt:lpwstr>Privileged</vt:lpwstr>
  </property>
  <property fmtid="{D5CDD505-2E9C-101B-9397-08002B2CF9AE}" pid="5" name="MSIP_Label_f0eba32c-0974-4663-a3a1-3cd8c30938e9_Name">
    <vt:lpwstr>Public - General - Unmarked</vt:lpwstr>
  </property>
  <property fmtid="{D5CDD505-2E9C-101B-9397-08002B2CF9AE}" pid="6" name="MSIP_Label_f0eba32c-0974-4663-a3a1-3cd8c30938e9_SiteId">
    <vt:lpwstr>a72d5a72-25ee-40f0-9bd1-067cb5b770d4</vt:lpwstr>
  </property>
  <property fmtid="{D5CDD505-2E9C-101B-9397-08002B2CF9AE}" pid="7" name="MSIP_Label_f0eba32c-0974-4663-a3a1-3cd8c30938e9_ActionId">
    <vt:lpwstr>ff792f6c-ffa1-44e7-b580-d7a3f3f5e9a6</vt:lpwstr>
  </property>
  <property fmtid="{D5CDD505-2E9C-101B-9397-08002B2CF9AE}" pid="8" name="MSIP_Label_f0eba32c-0974-4663-a3a1-3cd8c30938e9_ContentBits">
    <vt:lpwstr>0</vt:lpwstr>
  </property>
</Properties>
</file>